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8288000" cy="10287000"/>
  <p:notesSz cx="6858000" cy="9144000"/>
  <p:embeddedFontLst>
    <p:embeddedFont>
      <p:font typeface="Aptos" panose="020B0004020202020204" pitchFamily="34" charset="0"/>
      <p:regular r:id="rId39"/>
    </p:embeddedFont>
    <p:embeddedFont>
      <p:font typeface="Aptos Bold" panose="020B0004020202020204"/>
      <p:regular r:id="rId40"/>
    </p:embeddedFont>
    <p:embeddedFont>
      <p:font typeface="Aptos Italics" panose="020B0004020202090204" pitchFamily="34" charset="0"/>
      <p:regular r:id="rId41"/>
    </p:embeddedFont>
    <p:embeddedFont>
      <p:font typeface="Calibri (MS)" panose="020F0502020204030204" pitchFamily="34" charset="0"/>
      <p:regular r:id="rId42"/>
    </p:embeddedFont>
    <p:embeddedFont>
      <p:font typeface="Calibri (MS) Bold" panose="020F0702030404030204" pitchFamily="3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font" Target="fonts/font1.fntdata"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font" Target="fonts/font4.fntdata" /><Relationship Id="rId47"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font" Target="fonts/font3.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font" Target="fonts/font2.fntdata" /><Relationship Id="rId45"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font" Target="fonts/font5.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447"/>
        </a:solidFill>
        <a:effectLst/>
      </p:bgPr>
    </p:bg>
    <p:spTree>
      <p:nvGrpSpPr>
        <p:cNvPr id="1" name=""/>
        <p:cNvGrpSpPr/>
        <p:nvPr/>
      </p:nvGrpSpPr>
      <p:grpSpPr>
        <a:xfrm>
          <a:off x="0" y="0"/>
          <a:ext cx="0" cy="0"/>
          <a:chOff x="0" y="0"/>
          <a:chExt cx="0" cy="0"/>
        </a:xfrm>
      </p:grpSpPr>
      <p:sp>
        <p:nvSpPr>
          <p:cNvPr id="2" name="Freeform 2"/>
          <p:cNvSpPr/>
          <p:nvPr/>
        </p:nvSpPr>
        <p:spPr>
          <a:xfrm>
            <a:off x="-117344" y="-1739108"/>
            <a:ext cx="19320553" cy="12848168"/>
          </a:xfrm>
          <a:custGeom>
            <a:avLst/>
            <a:gdLst/>
            <a:ahLst/>
            <a:cxnLst/>
            <a:rect l="l" t="t" r="r" b="b"/>
            <a:pathLst>
              <a:path w="19320553" h="12848168">
                <a:moveTo>
                  <a:pt x="0" y="0"/>
                </a:moveTo>
                <a:lnTo>
                  <a:pt x="19320553" y="0"/>
                </a:lnTo>
                <a:lnTo>
                  <a:pt x="19320553" y="12848168"/>
                </a:lnTo>
                <a:lnTo>
                  <a:pt x="0" y="12848168"/>
                </a:lnTo>
                <a:lnTo>
                  <a:pt x="0" y="0"/>
                </a:lnTo>
                <a:close/>
              </a:path>
            </a:pathLst>
          </a:custGeom>
          <a:blipFill>
            <a:blip r:embed="rId2">
              <a:alphaModFix amt="14000"/>
            </a:blip>
            <a:stretch>
              <a:fillRect/>
            </a:stretch>
          </a:blipFill>
        </p:spPr>
      </p:sp>
      <p:grpSp>
        <p:nvGrpSpPr>
          <p:cNvPr id="3" name="Group 3"/>
          <p:cNvGrpSpPr/>
          <p:nvPr/>
        </p:nvGrpSpPr>
        <p:grpSpPr>
          <a:xfrm>
            <a:off x="1028700" y="1440180"/>
            <a:ext cx="15636240" cy="1851660"/>
            <a:chOff x="0" y="0"/>
            <a:chExt cx="20848320" cy="2468880"/>
          </a:xfrm>
        </p:grpSpPr>
        <p:sp>
          <p:nvSpPr>
            <p:cNvPr id="4" name="Freeform 4"/>
            <p:cNvSpPr/>
            <p:nvPr/>
          </p:nvSpPr>
          <p:spPr>
            <a:xfrm>
              <a:off x="0" y="0"/>
              <a:ext cx="20848320" cy="2468880"/>
            </a:xfrm>
            <a:custGeom>
              <a:avLst/>
              <a:gdLst/>
              <a:ahLst/>
              <a:cxnLst/>
              <a:rect l="l" t="t" r="r" b="b"/>
              <a:pathLst>
                <a:path w="20848320" h="2468880">
                  <a:moveTo>
                    <a:pt x="0" y="0"/>
                  </a:moveTo>
                  <a:lnTo>
                    <a:pt x="20848320" y="0"/>
                  </a:lnTo>
                  <a:lnTo>
                    <a:pt x="20848320" y="2468880"/>
                  </a:lnTo>
                  <a:lnTo>
                    <a:pt x="0" y="2468880"/>
                  </a:lnTo>
                  <a:close/>
                </a:path>
              </a:pathLst>
            </a:custGeom>
            <a:blipFill>
              <a:blip r:embed="rId3">
                <a:alphaModFix amt="0"/>
              </a:blip>
              <a:stretch>
                <a:fillRect t="-114540" b="-114540"/>
              </a:stretch>
            </a:blipFill>
          </p:spPr>
        </p:sp>
        <p:sp>
          <p:nvSpPr>
            <p:cNvPr id="5" name="TextBox 5"/>
            <p:cNvSpPr txBox="1"/>
            <p:nvPr/>
          </p:nvSpPr>
          <p:spPr>
            <a:xfrm>
              <a:off x="0" y="-9525"/>
              <a:ext cx="20848320" cy="2478405"/>
            </a:xfrm>
            <a:prstGeom prst="rect">
              <a:avLst/>
            </a:prstGeom>
          </p:spPr>
          <p:txBody>
            <a:bodyPr lIns="0" tIns="0" rIns="0" bIns="0" rtlCol="0" anchor="ctr"/>
            <a:lstStyle/>
            <a:p>
              <a:pPr algn="l">
                <a:lnSpc>
                  <a:spcPts val="6120"/>
                </a:lnSpc>
              </a:pPr>
              <a:r>
                <a:rPr lang="en-US" sz="5100" b="1">
                  <a:solidFill>
                    <a:srgbClr val="FFFFFF"/>
                  </a:solidFill>
                  <a:latin typeface="Aptos Bold"/>
                  <a:ea typeface="Aptos Bold"/>
                  <a:cs typeface="Aptos Bold"/>
                  <a:sym typeface="Aptos Bold"/>
                </a:rPr>
                <a:t>Power BI Business Analytics</a:t>
              </a:r>
            </a:p>
            <a:p>
              <a:pPr algn="l">
                <a:lnSpc>
                  <a:spcPts val="6120"/>
                </a:lnSpc>
              </a:pPr>
              <a:r>
                <a:rPr lang="en-US" sz="5100" b="1">
                  <a:solidFill>
                    <a:srgbClr val="FFFFFF"/>
                  </a:solidFill>
                  <a:latin typeface="Aptos Bold"/>
                  <a:ea typeface="Aptos Bold"/>
                  <a:cs typeface="Aptos Bold"/>
                  <a:sym typeface="Aptos Bold"/>
                </a:rPr>
                <a:t>Dashboard Development Report</a:t>
              </a:r>
            </a:p>
          </p:txBody>
        </p:sp>
      </p:grpSp>
      <p:grpSp>
        <p:nvGrpSpPr>
          <p:cNvPr id="6" name="Group 6"/>
          <p:cNvGrpSpPr/>
          <p:nvPr/>
        </p:nvGrpSpPr>
        <p:grpSpPr>
          <a:xfrm>
            <a:off x="1069848" y="3593592"/>
            <a:ext cx="13304520" cy="480060"/>
            <a:chOff x="0" y="0"/>
            <a:chExt cx="17739360" cy="640080"/>
          </a:xfrm>
        </p:grpSpPr>
        <p:sp>
          <p:nvSpPr>
            <p:cNvPr id="7" name="Freeform 7"/>
            <p:cNvSpPr/>
            <p:nvPr/>
          </p:nvSpPr>
          <p:spPr>
            <a:xfrm>
              <a:off x="0" y="0"/>
              <a:ext cx="17739361" cy="640080"/>
            </a:xfrm>
            <a:custGeom>
              <a:avLst/>
              <a:gdLst/>
              <a:ahLst/>
              <a:cxnLst/>
              <a:rect l="l" t="t" r="r" b="b"/>
              <a:pathLst>
                <a:path w="17739361" h="640080">
                  <a:moveTo>
                    <a:pt x="0" y="0"/>
                  </a:moveTo>
                  <a:lnTo>
                    <a:pt x="17739361" y="0"/>
                  </a:lnTo>
                  <a:lnTo>
                    <a:pt x="17739361" y="640080"/>
                  </a:lnTo>
                  <a:lnTo>
                    <a:pt x="0" y="640080"/>
                  </a:lnTo>
                  <a:close/>
                </a:path>
              </a:pathLst>
            </a:custGeom>
            <a:blipFill>
              <a:blip r:embed="rId3">
                <a:alphaModFix amt="0"/>
              </a:blip>
              <a:stretch>
                <a:fillRect t="-490013" b="-490013"/>
              </a:stretch>
            </a:blipFill>
          </p:spPr>
        </p:sp>
        <p:sp>
          <p:nvSpPr>
            <p:cNvPr id="8" name="TextBox 8"/>
            <p:cNvSpPr txBox="1"/>
            <p:nvPr/>
          </p:nvSpPr>
          <p:spPr>
            <a:xfrm>
              <a:off x="0" y="0"/>
              <a:ext cx="17739360" cy="640080"/>
            </a:xfrm>
            <a:prstGeom prst="rect">
              <a:avLst/>
            </a:prstGeom>
          </p:spPr>
          <p:txBody>
            <a:bodyPr lIns="0" tIns="0" rIns="0" bIns="0" rtlCol="0" anchor="ctr"/>
            <a:lstStyle/>
            <a:p>
              <a:pPr algn="l">
                <a:lnSpc>
                  <a:spcPts val="2879"/>
                </a:lnSpc>
              </a:pPr>
              <a:r>
                <a:rPr lang="en-US" sz="2400">
                  <a:solidFill>
                    <a:srgbClr val="C7D2FE"/>
                  </a:solidFill>
                  <a:latin typeface="Aptos"/>
                  <a:ea typeface="Aptos"/>
                  <a:cs typeface="Aptos"/>
                  <a:sym typeface="Aptos"/>
                </a:rPr>
                <a:t>Customer Purchasing Behaviour Analysis Using Microsoft Power BI</a:t>
              </a:r>
            </a:p>
          </p:txBody>
        </p:sp>
      </p:grpSp>
      <p:sp>
        <p:nvSpPr>
          <p:cNvPr id="9" name="AutoShape 9"/>
          <p:cNvSpPr/>
          <p:nvPr/>
        </p:nvSpPr>
        <p:spPr>
          <a:xfrm rot="29580">
            <a:off x="1041149" y="4347400"/>
            <a:ext cx="6641078" cy="0"/>
          </a:xfrm>
          <a:prstGeom prst="line">
            <a:avLst/>
          </a:prstGeom>
          <a:ln w="28575" cap="rnd">
            <a:solidFill>
              <a:srgbClr val="F2C94C"/>
            </a:solidFill>
            <a:prstDash val="solid"/>
            <a:headEnd type="none" w="sm" len="sm"/>
            <a:tailEnd type="none" w="sm" len="sm"/>
          </a:ln>
        </p:spPr>
      </p:sp>
      <p:grpSp>
        <p:nvGrpSpPr>
          <p:cNvPr id="10" name="Group 10"/>
          <p:cNvGrpSpPr/>
          <p:nvPr/>
        </p:nvGrpSpPr>
        <p:grpSpPr>
          <a:xfrm>
            <a:off x="1069848" y="7680960"/>
            <a:ext cx="7406640" cy="1454897"/>
            <a:chOff x="0" y="0"/>
            <a:chExt cx="9875520" cy="1939863"/>
          </a:xfrm>
        </p:grpSpPr>
        <p:sp>
          <p:nvSpPr>
            <p:cNvPr id="11" name="Freeform 11"/>
            <p:cNvSpPr/>
            <p:nvPr/>
          </p:nvSpPr>
          <p:spPr>
            <a:xfrm>
              <a:off x="0" y="0"/>
              <a:ext cx="9875520" cy="1939863"/>
            </a:xfrm>
            <a:custGeom>
              <a:avLst/>
              <a:gdLst/>
              <a:ahLst/>
              <a:cxnLst/>
              <a:rect l="l" t="t" r="r" b="b"/>
              <a:pathLst>
                <a:path w="9875520" h="1939863">
                  <a:moveTo>
                    <a:pt x="0" y="0"/>
                  </a:moveTo>
                  <a:lnTo>
                    <a:pt x="9875520" y="0"/>
                  </a:lnTo>
                  <a:lnTo>
                    <a:pt x="9875520" y="1939863"/>
                  </a:lnTo>
                  <a:lnTo>
                    <a:pt x="0" y="1939863"/>
                  </a:lnTo>
                  <a:close/>
                </a:path>
              </a:pathLst>
            </a:custGeom>
            <a:blipFill>
              <a:blip r:embed="rId3">
                <a:alphaModFix amt="0"/>
              </a:blip>
              <a:stretch>
                <a:fillRect t="-61485" b="-36904"/>
              </a:stretch>
            </a:blipFill>
          </p:spPr>
        </p:sp>
        <p:sp>
          <p:nvSpPr>
            <p:cNvPr id="12" name="TextBox 12"/>
            <p:cNvSpPr txBox="1"/>
            <p:nvPr/>
          </p:nvSpPr>
          <p:spPr>
            <a:xfrm>
              <a:off x="0" y="0"/>
              <a:ext cx="9875520" cy="1939863"/>
            </a:xfrm>
            <a:prstGeom prst="rect">
              <a:avLst/>
            </a:prstGeom>
          </p:spPr>
          <p:txBody>
            <a:bodyPr lIns="0" tIns="0" rIns="0" bIns="0" rtlCol="0" anchor="ctr"/>
            <a:lstStyle/>
            <a:p>
              <a:pPr algn="l">
                <a:lnSpc>
                  <a:spcPts val="2700"/>
                </a:lnSpc>
              </a:pPr>
              <a:r>
                <a:rPr lang="en-US" sz="2250">
                  <a:solidFill>
                    <a:srgbClr val="FFFFFF"/>
                  </a:solidFill>
                  <a:latin typeface="Aptos"/>
                  <a:ea typeface="Aptos"/>
                  <a:cs typeface="Aptos"/>
                  <a:sym typeface="Aptos"/>
                </a:rPr>
                <a:t>Prepared by: Mohamed Heriyanto Bin Jamal Mohamed</a:t>
              </a:r>
            </a:p>
            <a:p>
              <a:pPr algn="l">
                <a:lnSpc>
                  <a:spcPts val="2700"/>
                </a:lnSpc>
              </a:pPr>
              <a:r>
                <a:rPr lang="en-US" sz="2250">
                  <a:solidFill>
                    <a:srgbClr val="FFFFFF"/>
                  </a:solidFill>
                  <a:latin typeface="Aptos"/>
                  <a:ea typeface="Aptos"/>
                  <a:cs typeface="Aptos"/>
                  <a:sym typeface="Aptos"/>
                </a:rPr>
                <a:t>MARKET ANALYSIS</a:t>
              </a:r>
            </a:p>
            <a:p>
              <a:pPr algn="l">
                <a:lnSpc>
                  <a:spcPts val="2700"/>
                </a:lnSpc>
              </a:pPr>
              <a:r>
                <a:rPr lang="en-US" sz="2250">
                  <a:solidFill>
                    <a:srgbClr val="FFFFFF"/>
                  </a:solidFill>
                  <a:latin typeface="Aptos"/>
                  <a:ea typeface="Aptos"/>
                  <a:cs typeface="Aptos"/>
                  <a:sym typeface="Aptos"/>
                </a:rPr>
                <a:t>Business Analytics Capstone Project</a:t>
              </a:r>
            </a:p>
            <a:p>
              <a:pPr algn="l">
                <a:lnSpc>
                  <a:spcPts val="2700"/>
                </a:lnSpc>
              </a:pPr>
              <a:r>
                <a:rPr lang="en-US" sz="2250">
                  <a:solidFill>
                    <a:srgbClr val="FFFFFF"/>
                  </a:solidFill>
                  <a:latin typeface="Aptos"/>
                  <a:ea typeface="Aptos"/>
                  <a:cs typeface="Aptos"/>
                  <a:sym typeface="Aptos"/>
                </a:rPr>
                <a:t>14 August 2026</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Problem and Analytical Need</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Why a dashboard was required</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882011" y="1872693"/>
            <a:ext cx="8641080" cy="6446520"/>
            <a:chOff x="0" y="0"/>
            <a:chExt cx="11521440" cy="8595360"/>
          </a:xfrm>
        </p:grpSpPr>
        <p:sp>
          <p:nvSpPr>
            <p:cNvPr id="13" name="Freeform 13"/>
            <p:cNvSpPr/>
            <p:nvPr/>
          </p:nvSpPr>
          <p:spPr>
            <a:xfrm>
              <a:off x="0" y="0"/>
              <a:ext cx="11521440" cy="8595360"/>
            </a:xfrm>
            <a:custGeom>
              <a:avLst/>
              <a:gdLst/>
              <a:ahLst/>
              <a:cxnLst/>
              <a:rect l="l" t="t" r="r" b="b"/>
              <a:pathLst>
                <a:path w="11521440" h="8595360">
                  <a:moveTo>
                    <a:pt x="0" y="0"/>
                  </a:moveTo>
                  <a:lnTo>
                    <a:pt x="11521440" y="0"/>
                  </a:lnTo>
                  <a:lnTo>
                    <a:pt x="11521440" y="8595360"/>
                  </a:lnTo>
                  <a:lnTo>
                    <a:pt x="0" y="8595360"/>
                  </a:lnTo>
                  <a:close/>
                </a:path>
              </a:pathLst>
            </a:custGeom>
            <a:blipFill>
              <a:blip r:embed="rId2">
                <a:alphaModFix amt="0"/>
              </a:blip>
              <a:stretch>
                <a:fillRect l="-45718" r="-45718"/>
              </a:stretch>
            </a:blipFill>
          </p:spPr>
        </p:sp>
        <p:sp>
          <p:nvSpPr>
            <p:cNvPr id="14" name="TextBox 14"/>
            <p:cNvSpPr txBox="1"/>
            <p:nvPr/>
          </p:nvSpPr>
          <p:spPr>
            <a:xfrm>
              <a:off x="0" y="0"/>
              <a:ext cx="11521440" cy="8595360"/>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Business challenge: </a:t>
              </a:r>
              <a:r>
                <a:rPr lang="en-US" sz="2700">
                  <a:solidFill>
                    <a:srgbClr val="1F2937"/>
                  </a:solidFill>
                  <a:latin typeface="Aptos"/>
                  <a:ea typeface="Aptos"/>
                  <a:cs typeface="Aptos"/>
                  <a:sym typeface="Aptos"/>
                </a:rPr>
                <a:t>Customer and sales data are available, but insights are difficult to see in raw tables</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Decision need: </a:t>
              </a:r>
              <a:r>
                <a:rPr lang="en-US" sz="2700">
                  <a:solidFill>
                    <a:srgbClr val="1F2937"/>
                  </a:solidFill>
                  <a:latin typeface="Aptos"/>
                  <a:ea typeface="Aptos"/>
                  <a:cs typeface="Aptos"/>
                  <a:sym typeface="Aptos"/>
                </a:rPr>
                <a:t>Management needs to know which customers, countries, products and months drive performance</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Dashboard role: </a:t>
              </a:r>
              <a:r>
                <a:rPr lang="en-US" sz="2700">
                  <a:solidFill>
                    <a:srgbClr val="1F2937"/>
                  </a:solidFill>
                  <a:latin typeface="Aptos"/>
                  <a:ea typeface="Aptos"/>
                  <a:cs typeface="Aptos"/>
                  <a:sym typeface="Aptos"/>
                </a:rPr>
                <a:t>Power BI converts disconnected data into a structured, interactive business intelligence view</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Value: </a:t>
              </a:r>
              <a:r>
                <a:rPr lang="en-US" sz="2700">
                  <a:solidFill>
                    <a:srgbClr val="1F2937"/>
                  </a:solidFill>
                  <a:latin typeface="Aptos"/>
                  <a:ea typeface="Aptos"/>
                  <a:cs typeface="Aptos"/>
                  <a:sym typeface="Aptos"/>
                </a:rPr>
                <a:t>Faster decision making, improved customer targeting and clearer product strategy</a:t>
              </a: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10571282" y="2185191"/>
            <a:ext cx="6470430" cy="6470430"/>
          </a:xfrm>
          <a:custGeom>
            <a:avLst/>
            <a:gdLst/>
            <a:ahLst/>
            <a:cxnLst/>
            <a:rect l="l" t="t" r="r" b="b"/>
            <a:pathLst>
              <a:path w="6470430" h="6470430">
                <a:moveTo>
                  <a:pt x="0" y="0"/>
                </a:moveTo>
                <a:lnTo>
                  <a:pt x="6470430" y="0"/>
                </a:lnTo>
                <a:lnTo>
                  <a:pt x="6470430" y="6470431"/>
                </a:lnTo>
                <a:lnTo>
                  <a:pt x="0" y="6470431"/>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Executive Summary</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A professional Power BI dashboard to support customer, product and sales decisions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14400" y="2185191"/>
            <a:ext cx="8229600" cy="5760720"/>
            <a:chOff x="0" y="0"/>
            <a:chExt cx="10972800" cy="7680960"/>
          </a:xfrm>
        </p:grpSpPr>
        <p:sp>
          <p:nvSpPr>
            <p:cNvPr id="13" name="Freeform 13"/>
            <p:cNvSpPr/>
            <p:nvPr/>
          </p:nvSpPr>
          <p:spPr>
            <a:xfrm>
              <a:off x="0" y="0"/>
              <a:ext cx="10972800" cy="7680960"/>
            </a:xfrm>
            <a:custGeom>
              <a:avLst/>
              <a:gdLst/>
              <a:ahLst/>
              <a:cxnLst/>
              <a:rect l="l" t="t" r="r" b="b"/>
              <a:pathLst>
                <a:path w="10972800" h="7680960">
                  <a:moveTo>
                    <a:pt x="0" y="0"/>
                  </a:moveTo>
                  <a:lnTo>
                    <a:pt x="10972800" y="0"/>
                  </a:lnTo>
                  <a:lnTo>
                    <a:pt x="10972800" y="7680960"/>
                  </a:lnTo>
                  <a:lnTo>
                    <a:pt x="0" y="7680960"/>
                  </a:lnTo>
                  <a:close/>
                </a:path>
              </a:pathLst>
            </a:custGeom>
            <a:blipFill>
              <a:blip r:embed="rId2">
                <a:alphaModFix amt="0"/>
              </a:blip>
              <a:stretch>
                <a:fillRect l="-39812" r="-39812"/>
              </a:stretch>
            </a:blipFill>
          </p:spPr>
        </p:sp>
        <p:sp>
          <p:nvSpPr>
            <p:cNvPr id="14" name="TextBox 14"/>
            <p:cNvSpPr txBox="1"/>
            <p:nvPr/>
          </p:nvSpPr>
          <p:spPr>
            <a:xfrm>
              <a:off x="0" y="0"/>
              <a:ext cx="10972800" cy="7680960"/>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Purpose: </a:t>
              </a:r>
              <a:r>
                <a:rPr lang="en-US" sz="2700">
                  <a:solidFill>
                    <a:srgbClr val="1F2937"/>
                  </a:solidFill>
                  <a:latin typeface="Aptos"/>
                  <a:ea typeface="Aptos"/>
                  <a:cs typeface="Aptos"/>
                  <a:sym typeface="Aptos"/>
                </a:rPr>
                <a:t>Turn raw customer and purchase data into interactive business insights</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Method: </a:t>
              </a:r>
              <a:r>
                <a:rPr lang="en-US" sz="2700">
                  <a:solidFill>
                    <a:srgbClr val="1F2937"/>
                  </a:solidFill>
                  <a:latin typeface="Aptos"/>
                  <a:ea typeface="Aptos"/>
                  <a:cs typeface="Aptos"/>
                  <a:sym typeface="Aptos"/>
                </a:rPr>
                <a:t>Use Power BI data modelling, DAX measures, calculated columns and dashboard visuals</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Scope: </a:t>
              </a:r>
              <a:r>
                <a:rPr lang="en-US" sz="2700">
                  <a:solidFill>
                    <a:srgbClr val="1F2937"/>
                  </a:solidFill>
                  <a:latin typeface="Aptos"/>
                  <a:ea typeface="Aptos"/>
                  <a:cs typeface="Aptos"/>
                  <a:sym typeface="Aptos"/>
                </a:rPr>
                <a:t>Analyse customer demographics, product performance, sales trends and key segments</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Outcome: </a:t>
              </a:r>
              <a:r>
                <a:rPr lang="en-US" sz="2700">
                  <a:solidFill>
                    <a:srgbClr val="1F2937"/>
                  </a:solidFill>
                  <a:latin typeface="Aptos"/>
                  <a:ea typeface="Aptos"/>
                  <a:cs typeface="Aptos"/>
                  <a:sym typeface="Aptos"/>
                </a:rPr>
                <a:t>Provide recommendations for customer targeting, product focus and sales planning</a:t>
              </a:r>
            </a:p>
            <a:p>
              <a:pPr algn="l">
                <a:lnSpc>
                  <a:spcPts val="3240"/>
                </a:lnSpc>
              </a:pPr>
              <a:endParaRPr lang="en-US" sz="2700">
                <a:solidFill>
                  <a:srgbClr val="1F2937"/>
                </a:solidFill>
                <a:latin typeface="Aptos"/>
                <a:ea typeface="Aptos"/>
                <a:cs typeface="Aptos"/>
                <a:sym typeface="Aptos"/>
              </a:endParaRPr>
            </a:p>
          </p:txBody>
        </p:sp>
      </p:grpSp>
      <p:grpSp>
        <p:nvGrpSpPr>
          <p:cNvPr id="15" name="Group 15"/>
          <p:cNvGrpSpPr/>
          <p:nvPr/>
        </p:nvGrpSpPr>
        <p:grpSpPr>
          <a:xfrm>
            <a:off x="9806940" y="6858000"/>
            <a:ext cx="7612380" cy="1165860"/>
            <a:chOff x="0" y="0"/>
            <a:chExt cx="10149840" cy="1554480"/>
          </a:xfrm>
        </p:grpSpPr>
        <p:sp>
          <p:nvSpPr>
            <p:cNvPr id="16" name="Freeform 16"/>
            <p:cNvSpPr/>
            <p:nvPr/>
          </p:nvSpPr>
          <p:spPr>
            <a:xfrm>
              <a:off x="0" y="0"/>
              <a:ext cx="10149840" cy="1554480"/>
            </a:xfrm>
            <a:custGeom>
              <a:avLst/>
              <a:gdLst/>
              <a:ahLst/>
              <a:cxnLst/>
              <a:rect l="l" t="t" r="r" b="b"/>
              <a:pathLst>
                <a:path w="10149840" h="1554480">
                  <a:moveTo>
                    <a:pt x="0" y="0"/>
                  </a:moveTo>
                  <a:lnTo>
                    <a:pt x="10149840" y="0"/>
                  </a:lnTo>
                  <a:lnTo>
                    <a:pt x="10149840" y="1554480"/>
                  </a:lnTo>
                  <a:lnTo>
                    <a:pt x="0" y="1554480"/>
                  </a:lnTo>
                  <a:close/>
                </a:path>
              </a:pathLst>
            </a:custGeom>
            <a:blipFill>
              <a:blip r:embed="rId2">
                <a:alphaModFix amt="0"/>
              </a:blip>
              <a:stretch>
                <a:fillRect t="-77225" b="-77225"/>
              </a:stretch>
            </a:blipFill>
          </p:spPr>
        </p:sp>
        <p:sp>
          <p:nvSpPr>
            <p:cNvPr id="17" name="TextBox 17"/>
            <p:cNvSpPr txBox="1"/>
            <p:nvPr/>
          </p:nvSpPr>
          <p:spPr>
            <a:xfrm>
              <a:off x="0" y="0"/>
              <a:ext cx="10149840" cy="1554480"/>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The dashboard is designed for management users: quick KPIs at the top, detailed analysis pages underneath, and slicers for interactive filtering.</a:t>
              </a:r>
            </a:p>
          </p:txBody>
        </p:sp>
      </p:grpSp>
      <p:sp>
        <p:nvSpPr>
          <p:cNvPr id="18" name="Freeform 18"/>
          <p:cNvSpPr/>
          <p:nvPr/>
        </p:nvSpPr>
        <p:spPr>
          <a:xfrm>
            <a:off x="9981758" y="2222218"/>
            <a:ext cx="6939634" cy="3905829"/>
          </a:xfrm>
          <a:custGeom>
            <a:avLst/>
            <a:gdLst/>
            <a:ahLst/>
            <a:cxnLst/>
            <a:rect l="l" t="t" r="r" b="b"/>
            <a:pathLst>
              <a:path w="6939634" h="3905829">
                <a:moveTo>
                  <a:pt x="0" y="0"/>
                </a:moveTo>
                <a:lnTo>
                  <a:pt x="6939634" y="0"/>
                </a:lnTo>
                <a:lnTo>
                  <a:pt x="6939634" y="3905829"/>
                </a:lnTo>
                <a:lnTo>
                  <a:pt x="0" y="3905829"/>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Research Objectives</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The dashboard was designed around five business analytics objectives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028700" y="2290572"/>
            <a:ext cx="754380" cy="411480"/>
            <a:chOff x="0" y="0"/>
            <a:chExt cx="1005840" cy="548640"/>
          </a:xfrm>
        </p:grpSpPr>
        <p:sp>
          <p:nvSpPr>
            <p:cNvPr id="13" name="Freeform 13"/>
            <p:cNvSpPr/>
            <p:nvPr/>
          </p:nvSpPr>
          <p:spPr>
            <a:xfrm>
              <a:off x="0" y="0"/>
              <a:ext cx="1005840" cy="548640"/>
            </a:xfrm>
            <a:custGeom>
              <a:avLst/>
              <a:gdLst/>
              <a:ahLst/>
              <a:cxnLst/>
              <a:rect l="l" t="t" r="r" b="b"/>
              <a:pathLst>
                <a:path w="1005840" h="548640">
                  <a:moveTo>
                    <a:pt x="0" y="0"/>
                  </a:moveTo>
                  <a:lnTo>
                    <a:pt x="1005840" y="0"/>
                  </a:lnTo>
                  <a:lnTo>
                    <a:pt x="1005840" y="548640"/>
                  </a:lnTo>
                  <a:lnTo>
                    <a:pt x="0" y="548640"/>
                  </a:lnTo>
                  <a:close/>
                </a:path>
              </a:pathLst>
            </a:custGeom>
            <a:blipFill>
              <a:blip r:embed="rId2">
                <a:alphaModFix amt="0"/>
              </a:blip>
              <a:stretch>
                <a:fillRect l="-19983" r="-19983"/>
              </a:stretch>
            </a:blipFill>
          </p:spPr>
        </p:sp>
        <p:sp>
          <p:nvSpPr>
            <p:cNvPr id="14" name="TextBox 14"/>
            <p:cNvSpPr txBox="1"/>
            <p:nvPr/>
          </p:nvSpPr>
          <p:spPr>
            <a:xfrm>
              <a:off x="0" y="0"/>
              <a:ext cx="1005840" cy="548640"/>
            </a:xfrm>
            <a:prstGeom prst="rect">
              <a:avLst/>
            </a:prstGeom>
          </p:spPr>
          <p:txBody>
            <a:bodyPr lIns="0" tIns="0" rIns="0" bIns="0" rtlCol="0" anchor="ctr"/>
            <a:lstStyle/>
            <a:p>
              <a:pPr algn="l">
                <a:lnSpc>
                  <a:spcPts val="2700"/>
                </a:lnSpc>
              </a:pPr>
              <a:r>
                <a:rPr lang="en-US" sz="2250" b="1">
                  <a:solidFill>
                    <a:srgbClr val="1E90FF"/>
                  </a:solidFill>
                  <a:latin typeface="Aptos Bold"/>
                  <a:ea typeface="Aptos Bold"/>
                  <a:cs typeface="Aptos Bold"/>
                  <a:sym typeface="Aptos Bold"/>
                </a:rPr>
                <a:t>01</a:t>
              </a:r>
            </a:p>
          </p:txBody>
        </p:sp>
      </p:grpSp>
      <p:grpSp>
        <p:nvGrpSpPr>
          <p:cNvPr id="15" name="Group 15"/>
          <p:cNvGrpSpPr/>
          <p:nvPr/>
        </p:nvGrpSpPr>
        <p:grpSpPr>
          <a:xfrm>
            <a:off x="1988820" y="2208276"/>
            <a:ext cx="14813280" cy="658368"/>
            <a:chOff x="0" y="0"/>
            <a:chExt cx="19751040" cy="877824"/>
          </a:xfrm>
        </p:grpSpPr>
        <p:sp>
          <p:nvSpPr>
            <p:cNvPr id="16" name="Freeform 16"/>
            <p:cNvSpPr/>
            <p:nvPr/>
          </p:nvSpPr>
          <p:spPr>
            <a:xfrm>
              <a:off x="0" y="0"/>
              <a:ext cx="19751039" cy="877824"/>
            </a:xfrm>
            <a:custGeom>
              <a:avLst/>
              <a:gdLst/>
              <a:ahLst/>
              <a:cxnLst/>
              <a:rect l="l" t="t" r="r" b="b"/>
              <a:pathLst>
                <a:path w="19751039" h="877824">
                  <a:moveTo>
                    <a:pt x="0" y="0"/>
                  </a:moveTo>
                  <a:lnTo>
                    <a:pt x="19751039" y="0"/>
                  </a:lnTo>
                  <a:lnTo>
                    <a:pt x="19751039" y="877824"/>
                  </a:lnTo>
                  <a:lnTo>
                    <a:pt x="0" y="877824"/>
                  </a:lnTo>
                  <a:close/>
                </a:path>
              </a:pathLst>
            </a:custGeom>
            <a:blipFill>
              <a:blip r:embed="rId2">
                <a:alphaModFix amt="0"/>
              </a:blip>
              <a:stretch>
                <a:fillRect t="-388413" b="-388413"/>
              </a:stretch>
            </a:blipFill>
          </p:spPr>
        </p:sp>
        <p:sp>
          <p:nvSpPr>
            <p:cNvPr id="17" name="TextBox 17"/>
            <p:cNvSpPr txBox="1"/>
            <p:nvPr/>
          </p:nvSpPr>
          <p:spPr>
            <a:xfrm>
              <a:off x="0" y="0"/>
              <a:ext cx="19751040" cy="877824"/>
            </a:xfrm>
            <a:prstGeom prst="rect">
              <a:avLst/>
            </a:prstGeom>
          </p:spPr>
          <p:txBody>
            <a:bodyPr lIns="0" tIns="0" rIns="0" bIns="0" rtlCol="0" anchor="ctr"/>
            <a:lstStyle/>
            <a:p>
              <a:pPr algn="l">
                <a:lnSpc>
                  <a:spcPts val="3419"/>
                </a:lnSpc>
              </a:pPr>
              <a:r>
                <a:rPr lang="en-US" sz="2850">
                  <a:solidFill>
                    <a:srgbClr val="1F2937"/>
                  </a:solidFill>
                  <a:latin typeface="Aptos"/>
                  <a:ea typeface="Aptos"/>
                  <a:cs typeface="Aptos"/>
                  <a:sym typeface="Aptos"/>
                </a:rPr>
                <a:t>Analyse purchasing patterns by age, gender, country and income.</a:t>
              </a:r>
            </a:p>
          </p:txBody>
        </p:sp>
      </p:grpSp>
      <p:grpSp>
        <p:nvGrpSpPr>
          <p:cNvPr id="18" name="Group 18"/>
          <p:cNvGrpSpPr/>
          <p:nvPr/>
        </p:nvGrpSpPr>
        <p:grpSpPr>
          <a:xfrm>
            <a:off x="1028700" y="3593592"/>
            <a:ext cx="754380" cy="411480"/>
            <a:chOff x="0" y="0"/>
            <a:chExt cx="1005840" cy="548640"/>
          </a:xfrm>
        </p:grpSpPr>
        <p:sp>
          <p:nvSpPr>
            <p:cNvPr id="19" name="Freeform 19"/>
            <p:cNvSpPr/>
            <p:nvPr/>
          </p:nvSpPr>
          <p:spPr>
            <a:xfrm>
              <a:off x="0" y="0"/>
              <a:ext cx="1005840" cy="548640"/>
            </a:xfrm>
            <a:custGeom>
              <a:avLst/>
              <a:gdLst/>
              <a:ahLst/>
              <a:cxnLst/>
              <a:rect l="l" t="t" r="r" b="b"/>
              <a:pathLst>
                <a:path w="1005840" h="548640">
                  <a:moveTo>
                    <a:pt x="0" y="0"/>
                  </a:moveTo>
                  <a:lnTo>
                    <a:pt x="1005840" y="0"/>
                  </a:lnTo>
                  <a:lnTo>
                    <a:pt x="1005840" y="548640"/>
                  </a:lnTo>
                  <a:lnTo>
                    <a:pt x="0" y="548640"/>
                  </a:lnTo>
                  <a:close/>
                </a:path>
              </a:pathLst>
            </a:custGeom>
            <a:blipFill>
              <a:blip r:embed="rId2">
                <a:alphaModFix amt="0"/>
              </a:blip>
              <a:stretch>
                <a:fillRect l="-19983" r="-19983"/>
              </a:stretch>
            </a:blipFill>
          </p:spPr>
        </p:sp>
        <p:sp>
          <p:nvSpPr>
            <p:cNvPr id="20" name="TextBox 20"/>
            <p:cNvSpPr txBox="1"/>
            <p:nvPr/>
          </p:nvSpPr>
          <p:spPr>
            <a:xfrm>
              <a:off x="0" y="0"/>
              <a:ext cx="1005840" cy="548640"/>
            </a:xfrm>
            <a:prstGeom prst="rect">
              <a:avLst/>
            </a:prstGeom>
          </p:spPr>
          <p:txBody>
            <a:bodyPr lIns="0" tIns="0" rIns="0" bIns="0" rtlCol="0" anchor="ctr"/>
            <a:lstStyle/>
            <a:p>
              <a:pPr algn="l">
                <a:lnSpc>
                  <a:spcPts val="2700"/>
                </a:lnSpc>
              </a:pPr>
              <a:r>
                <a:rPr lang="en-US" sz="2250" b="1">
                  <a:solidFill>
                    <a:srgbClr val="1E90FF"/>
                  </a:solidFill>
                  <a:latin typeface="Aptos Bold"/>
                  <a:ea typeface="Aptos Bold"/>
                  <a:cs typeface="Aptos Bold"/>
                  <a:sym typeface="Aptos Bold"/>
                </a:rPr>
                <a:t>02</a:t>
              </a:r>
            </a:p>
          </p:txBody>
        </p:sp>
      </p:grpSp>
      <p:grpSp>
        <p:nvGrpSpPr>
          <p:cNvPr id="21" name="Group 21"/>
          <p:cNvGrpSpPr/>
          <p:nvPr/>
        </p:nvGrpSpPr>
        <p:grpSpPr>
          <a:xfrm>
            <a:off x="1988820" y="3511296"/>
            <a:ext cx="14813280" cy="658368"/>
            <a:chOff x="0" y="0"/>
            <a:chExt cx="19751040" cy="877824"/>
          </a:xfrm>
        </p:grpSpPr>
        <p:sp>
          <p:nvSpPr>
            <p:cNvPr id="22" name="Freeform 22"/>
            <p:cNvSpPr/>
            <p:nvPr/>
          </p:nvSpPr>
          <p:spPr>
            <a:xfrm>
              <a:off x="0" y="0"/>
              <a:ext cx="19751039" cy="877824"/>
            </a:xfrm>
            <a:custGeom>
              <a:avLst/>
              <a:gdLst/>
              <a:ahLst/>
              <a:cxnLst/>
              <a:rect l="l" t="t" r="r" b="b"/>
              <a:pathLst>
                <a:path w="19751039" h="877824">
                  <a:moveTo>
                    <a:pt x="0" y="0"/>
                  </a:moveTo>
                  <a:lnTo>
                    <a:pt x="19751039" y="0"/>
                  </a:lnTo>
                  <a:lnTo>
                    <a:pt x="19751039" y="877824"/>
                  </a:lnTo>
                  <a:lnTo>
                    <a:pt x="0" y="877824"/>
                  </a:lnTo>
                  <a:close/>
                </a:path>
              </a:pathLst>
            </a:custGeom>
            <a:blipFill>
              <a:blip r:embed="rId2">
                <a:alphaModFix amt="0"/>
              </a:blip>
              <a:stretch>
                <a:fillRect t="-388413" b="-388413"/>
              </a:stretch>
            </a:blipFill>
          </p:spPr>
        </p:sp>
        <p:sp>
          <p:nvSpPr>
            <p:cNvPr id="23" name="TextBox 23"/>
            <p:cNvSpPr txBox="1"/>
            <p:nvPr/>
          </p:nvSpPr>
          <p:spPr>
            <a:xfrm>
              <a:off x="0" y="0"/>
              <a:ext cx="19751040" cy="877824"/>
            </a:xfrm>
            <a:prstGeom prst="rect">
              <a:avLst/>
            </a:prstGeom>
          </p:spPr>
          <p:txBody>
            <a:bodyPr lIns="0" tIns="0" rIns="0" bIns="0" rtlCol="0" anchor="ctr"/>
            <a:lstStyle/>
            <a:p>
              <a:pPr algn="l">
                <a:lnSpc>
                  <a:spcPts val="3419"/>
                </a:lnSpc>
              </a:pPr>
              <a:r>
                <a:rPr lang="en-US" sz="2850">
                  <a:solidFill>
                    <a:srgbClr val="1F2937"/>
                  </a:solidFill>
                  <a:latin typeface="Aptos"/>
                  <a:ea typeface="Aptos"/>
                  <a:cs typeface="Aptos"/>
                  <a:sym typeface="Aptos"/>
                </a:rPr>
                <a:t>Identify products with the highest sales revenue and purchase volume.</a:t>
              </a:r>
            </a:p>
          </p:txBody>
        </p:sp>
      </p:grpSp>
      <p:grpSp>
        <p:nvGrpSpPr>
          <p:cNvPr id="24" name="Group 24"/>
          <p:cNvGrpSpPr/>
          <p:nvPr/>
        </p:nvGrpSpPr>
        <p:grpSpPr>
          <a:xfrm>
            <a:off x="1028700" y="4896612"/>
            <a:ext cx="754380" cy="411480"/>
            <a:chOff x="0" y="0"/>
            <a:chExt cx="1005840" cy="548640"/>
          </a:xfrm>
        </p:grpSpPr>
        <p:sp>
          <p:nvSpPr>
            <p:cNvPr id="25" name="Freeform 25"/>
            <p:cNvSpPr/>
            <p:nvPr/>
          </p:nvSpPr>
          <p:spPr>
            <a:xfrm>
              <a:off x="0" y="0"/>
              <a:ext cx="1005840" cy="548640"/>
            </a:xfrm>
            <a:custGeom>
              <a:avLst/>
              <a:gdLst/>
              <a:ahLst/>
              <a:cxnLst/>
              <a:rect l="l" t="t" r="r" b="b"/>
              <a:pathLst>
                <a:path w="1005840" h="548640">
                  <a:moveTo>
                    <a:pt x="0" y="0"/>
                  </a:moveTo>
                  <a:lnTo>
                    <a:pt x="1005840" y="0"/>
                  </a:lnTo>
                  <a:lnTo>
                    <a:pt x="1005840" y="548640"/>
                  </a:lnTo>
                  <a:lnTo>
                    <a:pt x="0" y="548640"/>
                  </a:lnTo>
                  <a:close/>
                </a:path>
              </a:pathLst>
            </a:custGeom>
            <a:blipFill>
              <a:blip r:embed="rId2">
                <a:alphaModFix amt="0"/>
              </a:blip>
              <a:stretch>
                <a:fillRect l="-19983" r="-19983"/>
              </a:stretch>
            </a:blipFill>
          </p:spPr>
        </p:sp>
        <p:sp>
          <p:nvSpPr>
            <p:cNvPr id="26" name="TextBox 26"/>
            <p:cNvSpPr txBox="1"/>
            <p:nvPr/>
          </p:nvSpPr>
          <p:spPr>
            <a:xfrm>
              <a:off x="0" y="0"/>
              <a:ext cx="1005840" cy="548640"/>
            </a:xfrm>
            <a:prstGeom prst="rect">
              <a:avLst/>
            </a:prstGeom>
          </p:spPr>
          <p:txBody>
            <a:bodyPr lIns="0" tIns="0" rIns="0" bIns="0" rtlCol="0" anchor="ctr"/>
            <a:lstStyle/>
            <a:p>
              <a:pPr algn="l">
                <a:lnSpc>
                  <a:spcPts val="2700"/>
                </a:lnSpc>
              </a:pPr>
              <a:r>
                <a:rPr lang="en-US" sz="2250" b="1">
                  <a:solidFill>
                    <a:srgbClr val="1E90FF"/>
                  </a:solidFill>
                  <a:latin typeface="Aptos Bold"/>
                  <a:ea typeface="Aptos Bold"/>
                  <a:cs typeface="Aptos Bold"/>
                  <a:sym typeface="Aptos Bold"/>
                </a:rPr>
                <a:t>03</a:t>
              </a:r>
            </a:p>
          </p:txBody>
        </p:sp>
      </p:grpSp>
      <p:grpSp>
        <p:nvGrpSpPr>
          <p:cNvPr id="27" name="Group 27"/>
          <p:cNvGrpSpPr/>
          <p:nvPr/>
        </p:nvGrpSpPr>
        <p:grpSpPr>
          <a:xfrm>
            <a:off x="1988820" y="4814316"/>
            <a:ext cx="14813280" cy="658368"/>
            <a:chOff x="0" y="0"/>
            <a:chExt cx="19751040" cy="877824"/>
          </a:xfrm>
        </p:grpSpPr>
        <p:sp>
          <p:nvSpPr>
            <p:cNvPr id="28" name="Freeform 28"/>
            <p:cNvSpPr/>
            <p:nvPr/>
          </p:nvSpPr>
          <p:spPr>
            <a:xfrm>
              <a:off x="0" y="0"/>
              <a:ext cx="19751039" cy="877824"/>
            </a:xfrm>
            <a:custGeom>
              <a:avLst/>
              <a:gdLst/>
              <a:ahLst/>
              <a:cxnLst/>
              <a:rect l="l" t="t" r="r" b="b"/>
              <a:pathLst>
                <a:path w="19751039" h="877824">
                  <a:moveTo>
                    <a:pt x="0" y="0"/>
                  </a:moveTo>
                  <a:lnTo>
                    <a:pt x="19751039" y="0"/>
                  </a:lnTo>
                  <a:lnTo>
                    <a:pt x="19751039" y="877824"/>
                  </a:lnTo>
                  <a:lnTo>
                    <a:pt x="0" y="877824"/>
                  </a:lnTo>
                  <a:close/>
                </a:path>
              </a:pathLst>
            </a:custGeom>
            <a:blipFill>
              <a:blip r:embed="rId2">
                <a:alphaModFix amt="0"/>
              </a:blip>
              <a:stretch>
                <a:fillRect t="-388413" b="-388413"/>
              </a:stretch>
            </a:blipFill>
          </p:spPr>
        </p:sp>
        <p:sp>
          <p:nvSpPr>
            <p:cNvPr id="29" name="TextBox 29"/>
            <p:cNvSpPr txBox="1"/>
            <p:nvPr/>
          </p:nvSpPr>
          <p:spPr>
            <a:xfrm>
              <a:off x="0" y="0"/>
              <a:ext cx="19751040" cy="877824"/>
            </a:xfrm>
            <a:prstGeom prst="rect">
              <a:avLst/>
            </a:prstGeom>
          </p:spPr>
          <p:txBody>
            <a:bodyPr lIns="0" tIns="0" rIns="0" bIns="0" rtlCol="0" anchor="ctr"/>
            <a:lstStyle/>
            <a:p>
              <a:pPr algn="l">
                <a:lnSpc>
                  <a:spcPts val="3419"/>
                </a:lnSpc>
              </a:pPr>
              <a:r>
                <a:rPr lang="en-US" sz="2850">
                  <a:solidFill>
                    <a:srgbClr val="1F2937"/>
                  </a:solidFill>
                  <a:latin typeface="Aptos"/>
                  <a:ea typeface="Aptos"/>
                  <a:cs typeface="Aptos"/>
                  <a:sym typeface="Aptos"/>
                </a:rPr>
                <a:t>Examine sales trends over time and identify peak purchasing periods.</a:t>
              </a:r>
            </a:p>
          </p:txBody>
        </p:sp>
      </p:grpSp>
      <p:grpSp>
        <p:nvGrpSpPr>
          <p:cNvPr id="30" name="Group 30"/>
          <p:cNvGrpSpPr/>
          <p:nvPr/>
        </p:nvGrpSpPr>
        <p:grpSpPr>
          <a:xfrm>
            <a:off x="1028700" y="6199632"/>
            <a:ext cx="754380" cy="411480"/>
            <a:chOff x="0" y="0"/>
            <a:chExt cx="1005840" cy="548640"/>
          </a:xfrm>
        </p:grpSpPr>
        <p:sp>
          <p:nvSpPr>
            <p:cNvPr id="31" name="Freeform 31"/>
            <p:cNvSpPr/>
            <p:nvPr/>
          </p:nvSpPr>
          <p:spPr>
            <a:xfrm>
              <a:off x="0" y="0"/>
              <a:ext cx="1005840" cy="548640"/>
            </a:xfrm>
            <a:custGeom>
              <a:avLst/>
              <a:gdLst/>
              <a:ahLst/>
              <a:cxnLst/>
              <a:rect l="l" t="t" r="r" b="b"/>
              <a:pathLst>
                <a:path w="1005840" h="548640">
                  <a:moveTo>
                    <a:pt x="0" y="0"/>
                  </a:moveTo>
                  <a:lnTo>
                    <a:pt x="1005840" y="0"/>
                  </a:lnTo>
                  <a:lnTo>
                    <a:pt x="1005840" y="548640"/>
                  </a:lnTo>
                  <a:lnTo>
                    <a:pt x="0" y="548640"/>
                  </a:lnTo>
                  <a:close/>
                </a:path>
              </a:pathLst>
            </a:custGeom>
            <a:blipFill>
              <a:blip r:embed="rId2">
                <a:alphaModFix amt="0"/>
              </a:blip>
              <a:stretch>
                <a:fillRect l="-19983" r="-19983"/>
              </a:stretch>
            </a:blipFill>
          </p:spPr>
        </p:sp>
        <p:sp>
          <p:nvSpPr>
            <p:cNvPr id="32" name="TextBox 32"/>
            <p:cNvSpPr txBox="1"/>
            <p:nvPr/>
          </p:nvSpPr>
          <p:spPr>
            <a:xfrm>
              <a:off x="0" y="0"/>
              <a:ext cx="1005840" cy="548640"/>
            </a:xfrm>
            <a:prstGeom prst="rect">
              <a:avLst/>
            </a:prstGeom>
          </p:spPr>
          <p:txBody>
            <a:bodyPr lIns="0" tIns="0" rIns="0" bIns="0" rtlCol="0" anchor="ctr"/>
            <a:lstStyle/>
            <a:p>
              <a:pPr algn="l">
                <a:lnSpc>
                  <a:spcPts val="2700"/>
                </a:lnSpc>
              </a:pPr>
              <a:r>
                <a:rPr lang="en-US" sz="2250" b="1">
                  <a:solidFill>
                    <a:srgbClr val="1E90FF"/>
                  </a:solidFill>
                  <a:latin typeface="Aptos Bold"/>
                  <a:ea typeface="Aptos Bold"/>
                  <a:cs typeface="Aptos Bold"/>
                  <a:sym typeface="Aptos Bold"/>
                </a:rPr>
                <a:t>04</a:t>
              </a:r>
            </a:p>
          </p:txBody>
        </p:sp>
      </p:grpSp>
      <p:grpSp>
        <p:nvGrpSpPr>
          <p:cNvPr id="33" name="Group 33"/>
          <p:cNvGrpSpPr/>
          <p:nvPr/>
        </p:nvGrpSpPr>
        <p:grpSpPr>
          <a:xfrm>
            <a:off x="1988820" y="6117336"/>
            <a:ext cx="14813280" cy="658368"/>
            <a:chOff x="0" y="0"/>
            <a:chExt cx="19751040" cy="877824"/>
          </a:xfrm>
        </p:grpSpPr>
        <p:sp>
          <p:nvSpPr>
            <p:cNvPr id="34" name="Freeform 34"/>
            <p:cNvSpPr/>
            <p:nvPr/>
          </p:nvSpPr>
          <p:spPr>
            <a:xfrm>
              <a:off x="0" y="0"/>
              <a:ext cx="19751039" cy="877824"/>
            </a:xfrm>
            <a:custGeom>
              <a:avLst/>
              <a:gdLst/>
              <a:ahLst/>
              <a:cxnLst/>
              <a:rect l="l" t="t" r="r" b="b"/>
              <a:pathLst>
                <a:path w="19751039" h="877824">
                  <a:moveTo>
                    <a:pt x="0" y="0"/>
                  </a:moveTo>
                  <a:lnTo>
                    <a:pt x="19751039" y="0"/>
                  </a:lnTo>
                  <a:lnTo>
                    <a:pt x="19751039" y="877824"/>
                  </a:lnTo>
                  <a:lnTo>
                    <a:pt x="0" y="877824"/>
                  </a:lnTo>
                  <a:close/>
                </a:path>
              </a:pathLst>
            </a:custGeom>
            <a:blipFill>
              <a:blip r:embed="rId2">
                <a:alphaModFix amt="0"/>
              </a:blip>
              <a:stretch>
                <a:fillRect t="-388413" b="-388413"/>
              </a:stretch>
            </a:blipFill>
          </p:spPr>
        </p:sp>
        <p:sp>
          <p:nvSpPr>
            <p:cNvPr id="35" name="TextBox 35"/>
            <p:cNvSpPr txBox="1"/>
            <p:nvPr/>
          </p:nvSpPr>
          <p:spPr>
            <a:xfrm>
              <a:off x="0" y="0"/>
              <a:ext cx="19751040" cy="877824"/>
            </a:xfrm>
            <a:prstGeom prst="rect">
              <a:avLst/>
            </a:prstGeom>
          </p:spPr>
          <p:txBody>
            <a:bodyPr lIns="0" tIns="0" rIns="0" bIns="0" rtlCol="0" anchor="ctr"/>
            <a:lstStyle/>
            <a:p>
              <a:pPr algn="l">
                <a:lnSpc>
                  <a:spcPts val="3419"/>
                </a:lnSpc>
              </a:pPr>
              <a:r>
                <a:rPr lang="en-US" sz="2850">
                  <a:solidFill>
                    <a:srgbClr val="1F2937"/>
                  </a:solidFill>
                  <a:latin typeface="Aptos"/>
                  <a:ea typeface="Aptos"/>
                  <a:cs typeface="Aptos"/>
                  <a:sym typeface="Aptos"/>
                </a:rPr>
                <a:t>Evaluate customer segments that contribute the highest revenue and customer value.</a:t>
              </a:r>
            </a:p>
          </p:txBody>
        </p:sp>
      </p:grpSp>
      <p:grpSp>
        <p:nvGrpSpPr>
          <p:cNvPr id="36" name="Group 36"/>
          <p:cNvGrpSpPr/>
          <p:nvPr/>
        </p:nvGrpSpPr>
        <p:grpSpPr>
          <a:xfrm>
            <a:off x="1028700" y="7502652"/>
            <a:ext cx="754380" cy="411480"/>
            <a:chOff x="0" y="0"/>
            <a:chExt cx="1005840" cy="548640"/>
          </a:xfrm>
        </p:grpSpPr>
        <p:sp>
          <p:nvSpPr>
            <p:cNvPr id="37" name="Freeform 37"/>
            <p:cNvSpPr/>
            <p:nvPr/>
          </p:nvSpPr>
          <p:spPr>
            <a:xfrm>
              <a:off x="0" y="0"/>
              <a:ext cx="1005840" cy="548640"/>
            </a:xfrm>
            <a:custGeom>
              <a:avLst/>
              <a:gdLst/>
              <a:ahLst/>
              <a:cxnLst/>
              <a:rect l="l" t="t" r="r" b="b"/>
              <a:pathLst>
                <a:path w="1005840" h="548640">
                  <a:moveTo>
                    <a:pt x="0" y="0"/>
                  </a:moveTo>
                  <a:lnTo>
                    <a:pt x="1005840" y="0"/>
                  </a:lnTo>
                  <a:lnTo>
                    <a:pt x="1005840" y="548640"/>
                  </a:lnTo>
                  <a:lnTo>
                    <a:pt x="0" y="548640"/>
                  </a:lnTo>
                  <a:close/>
                </a:path>
              </a:pathLst>
            </a:custGeom>
            <a:blipFill>
              <a:blip r:embed="rId2">
                <a:alphaModFix amt="0"/>
              </a:blip>
              <a:stretch>
                <a:fillRect l="-19983" r="-19983"/>
              </a:stretch>
            </a:blipFill>
          </p:spPr>
        </p:sp>
        <p:sp>
          <p:nvSpPr>
            <p:cNvPr id="38" name="TextBox 38"/>
            <p:cNvSpPr txBox="1"/>
            <p:nvPr/>
          </p:nvSpPr>
          <p:spPr>
            <a:xfrm>
              <a:off x="0" y="0"/>
              <a:ext cx="1005840" cy="548640"/>
            </a:xfrm>
            <a:prstGeom prst="rect">
              <a:avLst/>
            </a:prstGeom>
          </p:spPr>
          <p:txBody>
            <a:bodyPr lIns="0" tIns="0" rIns="0" bIns="0" rtlCol="0" anchor="ctr"/>
            <a:lstStyle/>
            <a:p>
              <a:pPr algn="l">
                <a:lnSpc>
                  <a:spcPts val="2700"/>
                </a:lnSpc>
              </a:pPr>
              <a:r>
                <a:rPr lang="en-US" sz="2250" b="1">
                  <a:solidFill>
                    <a:srgbClr val="1E90FF"/>
                  </a:solidFill>
                  <a:latin typeface="Aptos Bold"/>
                  <a:ea typeface="Aptos Bold"/>
                  <a:cs typeface="Aptos Bold"/>
                  <a:sym typeface="Aptos Bold"/>
                </a:rPr>
                <a:t>05</a:t>
              </a:r>
            </a:p>
          </p:txBody>
        </p:sp>
      </p:grpSp>
      <p:grpSp>
        <p:nvGrpSpPr>
          <p:cNvPr id="39" name="Group 39"/>
          <p:cNvGrpSpPr/>
          <p:nvPr/>
        </p:nvGrpSpPr>
        <p:grpSpPr>
          <a:xfrm>
            <a:off x="1988820" y="7420356"/>
            <a:ext cx="14813280" cy="658368"/>
            <a:chOff x="0" y="0"/>
            <a:chExt cx="19751040" cy="877824"/>
          </a:xfrm>
        </p:grpSpPr>
        <p:sp>
          <p:nvSpPr>
            <p:cNvPr id="40" name="Freeform 40"/>
            <p:cNvSpPr/>
            <p:nvPr/>
          </p:nvSpPr>
          <p:spPr>
            <a:xfrm>
              <a:off x="0" y="0"/>
              <a:ext cx="19751039" cy="877824"/>
            </a:xfrm>
            <a:custGeom>
              <a:avLst/>
              <a:gdLst/>
              <a:ahLst/>
              <a:cxnLst/>
              <a:rect l="l" t="t" r="r" b="b"/>
              <a:pathLst>
                <a:path w="19751039" h="877824">
                  <a:moveTo>
                    <a:pt x="0" y="0"/>
                  </a:moveTo>
                  <a:lnTo>
                    <a:pt x="19751039" y="0"/>
                  </a:lnTo>
                  <a:lnTo>
                    <a:pt x="19751039" y="877824"/>
                  </a:lnTo>
                  <a:lnTo>
                    <a:pt x="0" y="877824"/>
                  </a:lnTo>
                  <a:close/>
                </a:path>
              </a:pathLst>
            </a:custGeom>
            <a:blipFill>
              <a:blip r:embed="rId2">
                <a:alphaModFix amt="0"/>
              </a:blip>
              <a:stretch>
                <a:fillRect t="-388413" b="-388413"/>
              </a:stretch>
            </a:blipFill>
          </p:spPr>
        </p:sp>
        <p:sp>
          <p:nvSpPr>
            <p:cNvPr id="41" name="TextBox 41"/>
            <p:cNvSpPr txBox="1"/>
            <p:nvPr/>
          </p:nvSpPr>
          <p:spPr>
            <a:xfrm>
              <a:off x="0" y="0"/>
              <a:ext cx="19751040" cy="877824"/>
            </a:xfrm>
            <a:prstGeom prst="rect">
              <a:avLst/>
            </a:prstGeom>
          </p:spPr>
          <p:txBody>
            <a:bodyPr lIns="0" tIns="0" rIns="0" bIns="0" rtlCol="0" anchor="ctr"/>
            <a:lstStyle/>
            <a:p>
              <a:pPr algn="l">
                <a:lnSpc>
                  <a:spcPts val="3419"/>
                </a:lnSpc>
              </a:pPr>
              <a:r>
                <a:rPr lang="en-US" sz="2850">
                  <a:solidFill>
                    <a:srgbClr val="1F2937"/>
                  </a:solidFill>
                  <a:latin typeface="Aptos"/>
                  <a:ea typeface="Aptos"/>
                  <a:cs typeface="Aptos"/>
                  <a:sym typeface="Aptos"/>
                </a:rPr>
                <a:t>Provide business recommendations to improve sales, targeting and marketing strategy.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Development Process</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How the Power BI project was rebuilt and structured</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2468880"/>
            <a:ext cx="480060" cy="411480"/>
            <a:chOff x="0" y="0"/>
            <a:chExt cx="640080" cy="548640"/>
          </a:xfrm>
        </p:grpSpPr>
        <p:sp>
          <p:nvSpPr>
            <p:cNvPr id="13" name="Freeform 13"/>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14" name="TextBox 14"/>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1</a:t>
              </a:r>
            </a:p>
          </p:txBody>
        </p:sp>
      </p:grpSp>
      <p:grpSp>
        <p:nvGrpSpPr>
          <p:cNvPr id="15" name="Group 15"/>
          <p:cNvGrpSpPr/>
          <p:nvPr/>
        </p:nvGrpSpPr>
        <p:grpSpPr>
          <a:xfrm>
            <a:off x="1591056" y="2427732"/>
            <a:ext cx="3154680" cy="411480"/>
            <a:chOff x="0" y="0"/>
            <a:chExt cx="4206240" cy="548640"/>
          </a:xfrm>
        </p:grpSpPr>
        <p:sp>
          <p:nvSpPr>
            <p:cNvPr id="16" name="Freeform 16"/>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17" name="TextBox 17"/>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Import data</a:t>
              </a:r>
            </a:p>
          </p:txBody>
        </p:sp>
      </p:grpSp>
      <p:grpSp>
        <p:nvGrpSpPr>
          <p:cNvPr id="18" name="Group 18"/>
          <p:cNvGrpSpPr/>
          <p:nvPr/>
        </p:nvGrpSpPr>
        <p:grpSpPr>
          <a:xfrm>
            <a:off x="5020056" y="2427732"/>
            <a:ext cx="11109960" cy="450800"/>
            <a:chOff x="0" y="0"/>
            <a:chExt cx="14813280" cy="601067"/>
          </a:xfrm>
        </p:grpSpPr>
        <p:sp>
          <p:nvSpPr>
            <p:cNvPr id="19" name="Freeform 19"/>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20" name="TextBox 20"/>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Load Customer and Purchase files into Power BI Desktop</a:t>
              </a:r>
            </a:p>
          </p:txBody>
        </p:sp>
      </p:grpSp>
      <p:grpSp>
        <p:nvGrpSpPr>
          <p:cNvPr id="21" name="Group 21"/>
          <p:cNvGrpSpPr/>
          <p:nvPr/>
        </p:nvGrpSpPr>
        <p:grpSpPr>
          <a:xfrm>
            <a:off x="905256" y="3566160"/>
            <a:ext cx="480060" cy="411480"/>
            <a:chOff x="0" y="0"/>
            <a:chExt cx="640080" cy="548640"/>
          </a:xfrm>
        </p:grpSpPr>
        <p:sp>
          <p:nvSpPr>
            <p:cNvPr id="22" name="Freeform 22"/>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23" name="TextBox 23"/>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2</a:t>
              </a:r>
            </a:p>
          </p:txBody>
        </p:sp>
      </p:grpSp>
      <p:grpSp>
        <p:nvGrpSpPr>
          <p:cNvPr id="24" name="Group 24"/>
          <p:cNvGrpSpPr/>
          <p:nvPr/>
        </p:nvGrpSpPr>
        <p:grpSpPr>
          <a:xfrm>
            <a:off x="1591056" y="3525012"/>
            <a:ext cx="3154680" cy="411480"/>
            <a:chOff x="0" y="0"/>
            <a:chExt cx="4206240" cy="548640"/>
          </a:xfrm>
        </p:grpSpPr>
        <p:sp>
          <p:nvSpPr>
            <p:cNvPr id="25" name="Freeform 25"/>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26" name="TextBox 26"/>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Clean data</a:t>
              </a:r>
            </a:p>
          </p:txBody>
        </p:sp>
      </p:grpSp>
      <p:grpSp>
        <p:nvGrpSpPr>
          <p:cNvPr id="27" name="Group 27"/>
          <p:cNvGrpSpPr/>
          <p:nvPr/>
        </p:nvGrpSpPr>
        <p:grpSpPr>
          <a:xfrm>
            <a:off x="5020056" y="3525012"/>
            <a:ext cx="11109960" cy="450800"/>
            <a:chOff x="0" y="0"/>
            <a:chExt cx="14813280" cy="601067"/>
          </a:xfrm>
        </p:grpSpPr>
        <p:sp>
          <p:nvSpPr>
            <p:cNvPr id="28" name="Freeform 28"/>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29" name="TextBox 29"/>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Check data types, date columns, missing values and duplicates</a:t>
              </a:r>
            </a:p>
          </p:txBody>
        </p:sp>
      </p:grpSp>
      <p:grpSp>
        <p:nvGrpSpPr>
          <p:cNvPr id="30" name="Group 30"/>
          <p:cNvGrpSpPr/>
          <p:nvPr/>
        </p:nvGrpSpPr>
        <p:grpSpPr>
          <a:xfrm>
            <a:off x="905256" y="4663440"/>
            <a:ext cx="480060" cy="411480"/>
            <a:chOff x="0" y="0"/>
            <a:chExt cx="640080" cy="548640"/>
          </a:xfrm>
        </p:grpSpPr>
        <p:sp>
          <p:nvSpPr>
            <p:cNvPr id="31" name="Freeform 31"/>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32" name="TextBox 32"/>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3</a:t>
              </a:r>
            </a:p>
          </p:txBody>
        </p:sp>
      </p:grpSp>
      <p:grpSp>
        <p:nvGrpSpPr>
          <p:cNvPr id="33" name="Group 33"/>
          <p:cNvGrpSpPr/>
          <p:nvPr/>
        </p:nvGrpSpPr>
        <p:grpSpPr>
          <a:xfrm>
            <a:off x="1591056" y="4622292"/>
            <a:ext cx="3154680" cy="411480"/>
            <a:chOff x="0" y="0"/>
            <a:chExt cx="4206240" cy="548640"/>
          </a:xfrm>
        </p:grpSpPr>
        <p:sp>
          <p:nvSpPr>
            <p:cNvPr id="34" name="Freeform 34"/>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35" name="TextBox 35"/>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Model data</a:t>
              </a:r>
            </a:p>
          </p:txBody>
        </p:sp>
      </p:grpSp>
      <p:grpSp>
        <p:nvGrpSpPr>
          <p:cNvPr id="36" name="Group 36"/>
          <p:cNvGrpSpPr/>
          <p:nvPr/>
        </p:nvGrpSpPr>
        <p:grpSpPr>
          <a:xfrm>
            <a:off x="5020056" y="4622292"/>
            <a:ext cx="11109960" cy="450800"/>
            <a:chOff x="0" y="0"/>
            <a:chExt cx="14813280" cy="601067"/>
          </a:xfrm>
        </p:grpSpPr>
        <p:sp>
          <p:nvSpPr>
            <p:cNvPr id="37" name="Freeform 37"/>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38" name="TextBox 38"/>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Create Customer → Purchase relationship using customer_id</a:t>
              </a:r>
            </a:p>
          </p:txBody>
        </p:sp>
      </p:grpSp>
      <p:grpSp>
        <p:nvGrpSpPr>
          <p:cNvPr id="39" name="Group 39"/>
          <p:cNvGrpSpPr/>
          <p:nvPr/>
        </p:nvGrpSpPr>
        <p:grpSpPr>
          <a:xfrm>
            <a:off x="905256" y="5760720"/>
            <a:ext cx="480060" cy="411480"/>
            <a:chOff x="0" y="0"/>
            <a:chExt cx="640080" cy="548640"/>
          </a:xfrm>
        </p:grpSpPr>
        <p:sp>
          <p:nvSpPr>
            <p:cNvPr id="40" name="Freeform 40"/>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41" name="TextBox 41"/>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4</a:t>
              </a:r>
            </a:p>
          </p:txBody>
        </p:sp>
      </p:grpSp>
      <p:grpSp>
        <p:nvGrpSpPr>
          <p:cNvPr id="42" name="Group 42"/>
          <p:cNvGrpSpPr/>
          <p:nvPr/>
        </p:nvGrpSpPr>
        <p:grpSpPr>
          <a:xfrm>
            <a:off x="1591056" y="5719572"/>
            <a:ext cx="3154680" cy="411480"/>
            <a:chOff x="0" y="0"/>
            <a:chExt cx="4206240" cy="548640"/>
          </a:xfrm>
        </p:grpSpPr>
        <p:sp>
          <p:nvSpPr>
            <p:cNvPr id="43" name="Freeform 43"/>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44" name="TextBox 44"/>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Create logic</a:t>
              </a:r>
            </a:p>
          </p:txBody>
        </p:sp>
      </p:grpSp>
      <p:grpSp>
        <p:nvGrpSpPr>
          <p:cNvPr id="45" name="Group 45"/>
          <p:cNvGrpSpPr/>
          <p:nvPr/>
        </p:nvGrpSpPr>
        <p:grpSpPr>
          <a:xfrm>
            <a:off x="5020056" y="5719572"/>
            <a:ext cx="11109960" cy="450800"/>
            <a:chOff x="0" y="0"/>
            <a:chExt cx="14813280" cy="601067"/>
          </a:xfrm>
        </p:grpSpPr>
        <p:sp>
          <p:nvSpPr>
            <p:cNvPr id="46" name="Freeform 46"/>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47" name="TextBox 47"/>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Build DAX measures and calculated columns</a:t>
              </a:r>
            </a:p>
          </p:txBody>
        </p:sp>
      </p:grpSp>
      <p:grpSp>
        <p:nvGrpSpPr>
          <p:cNvPr id="48" name="Group 48"/>
          <p:cNvGrpSpPr/>
          <p:nvPr/>
        </p:nvGrpSpPr>
        <p:grpSpPr>
          <a:xfrm>
            <a:off x="905256" y="6858000"/>
            <a:ext cx="480060" cy="411480"/>
            <a:chOff x="0" y="0"/>
            <a:chExt cx="640080" cy="548640"/>
          </a:xfrm>
        </p:grpSpPr>
        <p:sp>
          <p:nvSpPr>
            <p:cNvPr id="49" name="Freeform 49"/>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50" name="TextBox 50"/>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5</a:t>
              </a:r>
            </a:p>
          </p:txBody>
        </p:sp>
      </p:grpSp>
      <p:grpSp>
        <p:nvGrpSpPr>
          <p:cNvPr id="51" name="Group 51"/>
          <p:cNvGrpSpPr/>
          <p:nvPr/>
        </p:nvGrpSpPr>
        <p:grpSpPr>
          <a:xfrm>
            <a:off x="1591056" y="6816852"/>
            <a:ext cx="3154680" cy="411480"/>
            <a:chOff x="0" y="0"/>
            <a:chExt cx="4206240" cy="548640"/>
          </a:xfrm>
        </p:grpSpPr>
        <p:sp>
          <p:nvSpPr>
            <p:cNvPr id="52" name="Freeform 52"/>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53" name="TextBox 53"/>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Design dashboard</a:t>
              </a:r>
            </a:p>
          </p:txBody>
        </p:sp>
      </p:grpSp>
      <p:grpSp>
        <p:nvGrpSpPr>
          <p:cNvPr id="54" name="Group 54"/>
          <p:cNvGrpSpPr/>
          <p:nvPr/>
        </p:nvGrpSpPr>
        <p:grpSpPr>
          <a:xfrm>
            <a:off x="5020056" y="6816852"/>
            <a:ext cx="11109960" cy="450800"/>
            <a:chOff x="0" y="0"/>
            <a:chExt cx="14813280" cy="601067"/>
          </a:xfrm>
        </p:grpSpPr>
        <p:sp>
          <p:nvSpPr>
            <p:cNvPr id="55" name="Freeform 55"/>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56" name="TextBox 56"/>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Build pages, charts, slicers and consistent formatting</a:t>
              </a:r>
            </a:p>
          </p:txBody>
        </p:sp>
      </p:grpSp>
      <p:grpSp>
        <p:nvGrpSpPr>
          <p:cNvPr id="57" name="Group 57"/>
          <p:cNvGrpSpPr/>
          <p:nvPr/>
        </p:nvGrpSpPr>
        <p:grpSpPr>
          <a:xfrm>
            <a:off x="905256" y="7955280"/>
            <a:ext cx="480060" cy="411480"/>
            <a:chOff x="0" y="0"/>
            <a:chExt cx="640080" cy="548640"/>
          </a:xfrm>
        </p:grpSpPr>
        <p:sp>
          <p:nvSpPr>
            <p:cNvPr id="58" name="Freeform 58"/>
            <p:cNvSpPr/>
            <p:nvPr/>
          </p:nvSpPr>
          <p:spPr>
            <a:xfrm>
              <a:off x="0" y="0"/>
              <a:ext cx="640080" cy="548640"/>
            </a:xfrm>
            <a:custGeom>
              <a:avLst/>
              <a:gdLst/>
              <a:ahLst/>
              <a:cxnLst/>
              <a:rect l="l" t="t" r="r" b="b"/>
              <a:pathLst>
                <a:path w="640080" h="548640">
                  <a:moveTo>
                    <a:pt x="0" y="0"/>
                  </a:moveTo>
                  <a:lnTo>
                    <a:pt x="640080" y="0"/>
                  </a:lnTo>
                  <a:lnTo>
                    <a:pt x="640080" y="548640"/>
                  </a:lnTo>
                  <a:lnTo>
                    <a:pt x="0" y="548640"/>
                  </a:lnTo>
                  <a:close/>
                </a:path>
              </a:pathLst>
            </a:custGeom>
            <a:solidFill>
              <a:srgbClr val="0F4C81"/>
            </a:solidFill>
          </p:spPr>
        </p:sp>
        <p:sp>
          <p:nvSpPr>
            <p:cNvPr id="59" name="TextBox 59"/>
            <p:cNvSpPr txBox="1"/>
            <p:nvPr/>
          </p:nvSpPr>
          <p:spPr>
            <a:xfrm>
              <a:off x="0" y="0"/>
              <a:ext cx="640080" cy="548640"/>
            </a:xfrm>
            <a:prstGeom prst="rect">
              <a:avLst/>
            </a:prstGeom>
          </p:spPr>
          <p:txBody>
            <a:bodyPr lIns="50800" tIns="50800" rIns="50800" bIns="50800" rtlCol="0" anchor="ctr"/>
            <a:lstStyle/>
            <a:p>
              <a:pPr algn="ctr">
                <a:lnSpc>
                  <a:spcPts val="2879"/>
                </a:lnSpc>
              </a:pPr>
              <a:r>
                <a:rPr lang="en-US" sz="2400" b="1">
                  <a:solidFill>
                    <a:srgbClr val="FFFFFF"/>
                  </a:solidFill>
                  <a:latin typeface="Aptos Bold"/>
                  <a:ea typeface="Aptos Bold"/>
                  <a:cs typeface="Aptos Bold"/>
                  <a:sym typeface="Aptos Bold"/>
                </a:rPr>
                <a:t>6</a:t>
              </a:r>
            </a:p>
          </p:txBody>
        </p:sp>
      </p:grpSp>
      <p:grpSp>
        <p:nvGrpSpPr>
          <p:cNvPr id="60" name="Group 60"/>
          <p:cNvGrpSpPr/>
          <p:nvPr/>
        </p:nvGrpSpPr>
        <p:grpSpPr>
          <a:xfrm>
            <a:off x="1591056" y="7914132"/>
            <a:ext cx="3154680" cy="411480"/>
            <a:chOff x="0" y="0"/>
            <a:chExt cx="4206240" cy="548640"/>
          </a:xfrm>
        </p:grpSpPr>
        <p:sp>
          <p:nvSpPr>
            <p:cNvPr id="61" name="Freeform 61"/>
            <p:cNvSpPr/>
            <p:nvPr/>
          </p:nvSpPr>
          <p:spPr>
            <a:xfrm>
              <a:off x="0" y="0"/>
              <a:ext cx="4206240" cy="548640"/>
            </a:xfrm>
            <a:custGeom>
              <a:avLst/>
              <a:gdLst/>
              <a:ahLst/>
              <a:cxnLst/>
              <a:rect l="l" t="t" r="r" b="b"/>
              <a:pathLst>
                <a:path w="4206240" h="548640">
                  <a:moveTo>
                    <a:pt x="0" y="0"/>
                  </a:moveTo>
                  <a:lnTo>
                    <a:pt x="4206240" y="0"/>
                  </a:lnTo>
                  <a:lnTo>
                    <a:pt x="4206240" y="548640"/>
                  </a:lnTo>
                  <a:lnTo>
                    <a:pt x="0" y="548640"/>
                  </a:lnTo>
                  <a:close/>
                </a:path>
              </a:pathLst>
            </a:custGeom>
            <a:blipFill>
              <a:blip r:embed="rId2">
                <a:alphaModFix amt="0"/>
              </a:blip>
              <a:stretch>
                <a:fillRect t="-99385" b="-99385"/>
              </a:stretch>
            </a:blipFill>
          </p:spPr>
        </p:sp>
        <p:sp>
          <p:nvSpPr>
            <p:cNvPr id="62" name="TextBox 62"/>
            <p:cNvSpPr txBox="1"/>
            <p:nvPr/>
          </p:nvSpPr>
          <p:spPr>
            <a:xfrm>
              <a:off x="0" y="0"/>
              <a:ext cx="4206240" cy="548640"/>
            </a:xfrm>
            <a:prstGeom prst="rect">
              <a:avLst/>
            </a:prstGeom>
          </p:spPr>
          <p:txBody>
            <a:bodyPr lIns="0" tIns="0" rIns="0" bIns="0" rtlCol="0" anchor="ctr"/>
            <a:lstStyle/>
            <a:p>
              <a:pPr algn="l">
                <a:lnSpc>
                  <a:spcPts val="3240"/>
                </a:lnSpc>
              </a:pPr>
              <a:r>
                <a:rPr lang="en-US" sz="2700" b="1">
                  <a:solidFill>
                    <a:srgbClr val="0B2447"/>
                  </a:solidFill>
                  <a:latin typeface="Aptos Bold"/>
                  <a:ea typeface="Aptos Bold"/>
                  <a:cs typeface="Aptos Bold"/>
                  <a:sym typeface="Aptos Bold"/>
                </a:rPr>
                <a:t>Validate output</a:t>
              </a:r>
            </a:p>
          </p:txBody>
        </p:sp>
      </p:grpSp>
      <p:grpSp>
        <p:nvGrpSpPr>
          <p:cNvPr id="63" name="Group 63"/>
          <p:cNvGrpSpPr/>
          <p:nvPr/>
        </p:nvGrpSpPr>
        <p:grpSpPr>
          <a:xfrm>
            <a:off x="5020056" y="7914132"/>
            <a:ext cx="11109960" cy="450800"/>
            <a:chOff x="0" y="0"/>
            <a:chExt cx="14813280" cy="601067"/>
          </a:xfrm>
        </p:grpSpPr>
        <p:sp>
          <p:nvSpPr>
            <p:cNvPr id="64" name="Freeform 64"/>
            <p:cNvSpPr/>
            <p:nvPr/>
          </p:nvSpPr>
          <p:spPr>
            <a:xfrm>
              <a:off x="0" y="0"/>
              <a:ext cx="14813280" cy="601067"/>
            </a:xfrm>
            <a:custGeom>
              <a:avLst/>
              <a:gdLst/>
              <a:ahLst/>
              <a:cxnLst/>
              <a:rect l="l" t="t" r="r" b="b"/>
              <a:pathLst>
                <a:path w="14813280" h="601067">
                  <a:moveTo>
                    <a:pt x="0" y="0"/>
                  </a:moveTo>
                  <a:lnTo>
                    <a:pt x="14813280" y="0"/>
                  </a:lnTo>
                  <a:lnTo>
                    <a:pt x="14813280" y="601067"/>
                  </a:lnTo>
                  <a:lnTo>
                    <a:pt x="0" y="601067"/>
                  </a:lnTo>
                  <a:close/>
                </a:path>
              </a:pathLst>
            </a:custGeom>
            <a:blipFill>
              <a:blip r:embed="rId2">
                <a:alphaModFix amt="0"/>
              </a:blip>
              <a:stretch>
                <a:fillRect t="-434569" b="-425846"/>
              </a:stretch>
            </a:blipFill>
          </p:spPr>
        </p:sp>
        <p:sp>
          <p:nvSpPr>
            <p:cNvPr id="65" name="TextBox 65"/>
            <p:cNvSpPr txBox="1"/>
            <p:nvPr/>
          </p:nvSpPr>
          <p:spPr>
            <a:xfrm>
              <a:off x="0" y="0"/>
              <a:ext cx="14813280" cy="601067"/>
            </a:xfrm>
            <a:prstGeom prst="rect">
              <a:avLst/>
            </a:prstGeom>
          </p:spPr>
          <p:txBody>
            <a:bodyPr lIns="0" tIns="0" rIns="0" bIns="0" rtlCol="0" anchor="ctr"/>
            <a:lstStyle/>
            <a:p>
              <a:pPr algn="l">
                <a:lnSpc>
                  <a:spcPts val="2879"/>
                </a:lnSpc>
              </a:pPr>
              <a:r>
                <a:rPr lang="en-US" sz="2400">
                  <a:solidFill>
                    <a:srgbClr val="1F2937"/>
                  </a:solidFill>
                  <a:latin typeface="Aptos"/>
                  <a:ea typeface="Aptos"/>
                  <a:cs typeface="Aptos"/>
                  <a:sym typeface="Aptos"/>
                </a:rPr>
                <a:t>Test filters, verify KPIs and refine visuals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95325"/>
            <a:chOff x="0" y="0"/>
            <a:chExt cx="24396700" cy="927100"/>
          </a:xfrm>
        </p:grpSpPr>
        <p:sp>
          <p:nvSpPr>
            <p:cNvPr id="3" name="Freeform 3"/>
            <p:cNvSpPr/>
            <p:nvPr/>
          </p:nvSpPr>
          <p:spPr>
            <a:xfrm>
              <a:off x="0" y="0"/>
              <a:ext cx="24396700" cy="927100"/>
            </a:xfrm>
            <a:custGeom>
              <a:avLst/>
              <a:gdLst/>
              <a:ahLst/>
              <a:cxnLst/>
              <a:rect l="l" t="t" r="r" b="b"/>
              <a:pathLst>
                <a:path w="24396700" h="927100">
                  <a:moveTo>
                    <a:pt x="0" y="0"/>
                  </a:moveTo>
                  <a:lnTo>
                    <a:pt x="24396700" y="0"/>
                  </a:lnTo>
                  <a:lnTo>
                    <a:pt x="24396700" y="927100"/>
                  </a:lnTo>
                  <a:lnTo>
                    <a:pt x="0" y="927100"/>
                  </a:lnTo>
                  <a:close/>
                </a:path>
              </a:pathLst>
            </a:custGeom>
            <a:solidFill>
              <a:srgbClr val="003F6E"/>
            </a:solidFill>
            <a:ln w="9525" cap="sq">
              <a:solidFill>
                <a:srgbClr val="003F6E"/>
              </a:solidFill>
              <a:prstDash val="solid"/>
              <a:miter/>
            </a:ln>
          </p:spPr>
        </p:sp>
      </p:grpSp>
      <p:grpSp>
        <p:nvGrpSpPr>
          <p:cNvPr id="4" name="Group 4"/>
          <p:cNvGrpSpPr/>
          <p:nvPr/>
        </p:nvGrpSpPr>
        <p:grpSpPr>
          <a:xfrm>
            <a:off x="11430000" y="1368985"/>
            <a:ext cx="6414637" cy="4445411"/>
            <a:chOff x="0" y="0"/>
            <a:chExt cx="5560060" cy="3853180"/>
          </a:xfrm>
        </p:grpSpPr>
        <p:sp>
          <p:nvSpPr>
            <p:cNvPr id="5" name="Freeform 5"/>
            <p:cNvSpPr/>
            <p:nvPr/>
          </p:nvSpPr>
          <p:spPr>
            <a:xfrm>
              <a:off x="0" y="0"/>
              <a:ext cx="5560060" cy="3853180"/>
            </a:xfrm>
            <a:custGeom>
              <a:avLst/>
              <a:gdLst/>
              <a:ahLst/>
              <a:cxnLst/>
              <a:rect l="l" t="t" r="r" b="b"/>
              <a:pathLst>
                <a:path w="5560060" h="3853180">
                  <a:moveTo>
                    <a:pt x="0" y="642239"/>
                  </a:moveTo>
                  <a:cubicBezTo>
                    <a:pt x="0" y="287528"/>
                    <a:pt x="287528" y="0"/>
                    <a:pt x="642239" y="0"/>
                  </a:cubicBezTo>
                  <a:lnTo>
                    <a:pt x="4917821" y="0"/>
                  </a:lnTo>
                  <a:cubicBezTo>
                    <a:pt x="5272532" y="0"/>
                    <a:pt x="5560060" y="287528"/>
                    <a:pt x="5560060" y="642239"/>
                  </a:cubicBezTo>
                  <a:lnTo>
                    <a:pt x="5560060" y="3210941"/>
                  </a:lnTo>
                  <a:cubicBezTo>
                    <a:pt x="5560060" y="3565652"/>
                    <a:pt x="5272532" y="3853180"/>
                    <a:pt x="4917821" y="3853180"/>
                  </a:cubicBezTo>
                  <a:lnTo>
                    <a:pt x="642239" y="3853180"/>
                  </a:lnTo>
                  <a:cubicBezTo>
                    <a:pt x="287528" y="3853180"/>
                    <a:pt x="0" y="3565652"/>
                    <a:pt x="0" y="3210941"/>
                  </a:cubicBezTo>
                  <a:close/>
                </a:path>
              </a:pathLst>
            </a:custGeom>
            <a:solidFill>
              <a:srgbClr val="F5F8FC"/>
            </a:solidFill>
            <a:ln w="9525" cap="sq">
              <a:solidFill>
                <a:srgbClr val="DCE6F0"/>
              </a:solidFill>
              <a:prstDash val="solid"/>
              <a:miter/>
            </a:ln>
          </p:spPr>
        </p:sp>
      </p:grpSp>
      <p:grpSp>
        <p:nvGrpSpPr>
          <p:cNvPr id="6" name="Group 6"/>
          <p:cNvGrpSpPr/>
          <p:nvPr/>
        </p:nvGrpSpPr>
        <p:grpSpPr>
          <a:xfrm>
            <a:off x="11430000" y="6221721"/>
            <a:ext cx="6414637" cy="2476185"/>
            <a:chOff x="0" y="0"/>
            <a:chExt cx="5560060" cy="2146300"/>
          </a:xfrm>
        </p:grpSpPr>
        <p:sp>
          <p:nvSpPr>
            <p:cNvPr id="7" name="Freeform 7"/>
            <p:cNvSpPr/>
            <p:nvPr/>
          </p:nvSpPr>
          <p:spPr>
            <a:xfrm>
              <a:off x="0" y="0"/>
              <a:ext cx="5560060" cy="2146300"/>
            </a:xfrm>
            <a:custGeom>
              <a:avLst/>
              <a:gdLst/>
              <a:ahLst/>
              <a:cxnLst/>
              <a:rect l="l" t="t" r="r" b="b"/>
              <a:pathLst>
                <a:path w="5560060" h="2146300">
                  <a:moveTo>
                    <a:pt x="0" y="357759"/>
                  </a:moveTo>
                  <a:cubicBezTo>
                    <a:pt x="0" y="160147"/>
                    <a:pt x="160147" y="0"/>
                    <a:pt x="357759" y="0"/>
                  </a:cubicBezTo>
                  <a:lnTo>
                    <a:pt x="5202301" y="0"/>
                  </a:lnTo>
                  <a:cubicBezTo>
                    <a:pt x="5399913" y="0"/>
                    <a:pt x="5560060" y="160147"/>
                    <a:pt x="5560060" y="357759"/>
                  </a:cubicBezTo>
                  <a:lnTo>
                    <a:pt x="5560060" y="1788541"/>
                  </a:lnTo>
                  <a:cubicBezTo>
                    <a:pt x="5560060" y="1986153"/>
                    <a:pt x="5399913" y="2146300"/>
                    <a:pt x="5202301" y="2146300"/>
                  </a:cubicBezTo>
                  <a:lnTo>
                    <a:pt x="357759" y="2146300"/>
                  </a:lnTo>
                  <a:cubicBezTo>
                    <a:pt x="160147" y="2146300"/>
                    <a:pt x="0" y="1986153"/>
                    <a:pt x="0" y="1788541"/>
                  </a:cubicBezTo>
                  <a:close/>
                </a:path>
              </a:pathLst>
            </a:custGeom>
            <a:solidFill>
              <a:srgbClr val="F5F8FC"/>
            </a:solidFill>
            <a:ln w="9525" cap="sq">
              <a:solidFill>
                <a:srgbClr val="DCE6F0"/>
              </a:solidFill>
              <a:prstDash val="solid"/>
              <a:miter/>
            </a:ln>
          </p:spPr>
        </p:sp>
      </p:grpSp>
      <p:sp>
        <p:nvSpPr>
          <p:cNvPr id="8" name="Freeform 8"/>
          <p:cNvSpPr/>
          <p:nvPr/>
        </p:nvSpPr>
        <p:spPr>
          <a:xfrm>
            <a:off x="731044" y="1615431"/>
            <a:ext cx="9952342" cy="5672212"/>
          </a:xfrm>
          <a:custGeom>
            <a:avLst/>
            <a:gdLst/>
            <a:ahLst/>
            <a:cxnLst/>
            <a:rect l="l" t="t" r="r" b="b"/>
            <a:pathLst>
              <a:path w="9952342" h="5672212">
                <a:moveTo>
                  <a:pt x="0" y="0"/>
                </a:moveTo>
                <a:lnTo>
                  <a:pt x="9952342" y="0"/>
                </a:lnTo>
                <a:lnTo>
                  <a:pt x="9952342" y="5672212"/>
                </a:lnTo>
                <a:lnTo>
                  <a:pt x="0" y="5672212"/>
                </a:lnTo>
                <a:lnTo>
                  <a:pt x="0" y="0"/>
                </a:lnTo>
                <a:close/>
              </a:path>
            </a:pathLst>
          </a:custGeom>
          <a:blipFill>
            <a:blip r:embed="rId2"/>
            <a:stretch>
              <a:fillRect/>
            </a:stretch>
          </a:blipFill>
        </p:spPr>
      </p:sp>
      <p:sp>
        <p:nvSpPr>
          <p:cNvPr id="9" name="TextBox 9"/>
          <p:cNvSpPr txBox="1"/>
          <p:nvPr/>
        </p:nvSpPr>
        <p:spPr>
          <a:xfrm>
            <a:off x="548640" y="98679"/>
            <a:ext cx="9326880" cy="395097"/>
          </a:xfrm>
          <a:prstGeom prst="rect">
            <a:avLst/>
          </a:prstGeom>
        </p:spPr>
        <p:txBody>
          <a:bodyPr lIns="0" tIns="0" rIns="0" bIns="0" rtlCol="0" anchor="t">
            <a:spAutoFit/>
          </a:bodyPr>
          <a:lstStyle/>
          <a:p>
            <a:pPr algn="l">
              <a:lnSpc>
                <a:spcPts val="2760"/>
              </a:lnSpc>
            </a:pPr>
            <a:r>
              <a:rPr lang="en-US" sz="2300" b="1">
                <a:solidFill>
                  <a:srgbClr val="FFFFFF"/>
                </a:solidFill>
                <a:latin typeface="Calibri (MS) Bold"/>
                <a:ea typeface="Calibri (MS) Bold"/>
                <a:cs typeface="Calibri (MS) Bold"/>
                <a:sym typeface="Calibri (MS) Bold"/>
              </a:rPr>
              <a:t>Data Preparation Evidence: Customer Table</a:t>
            </a:r>
          </a:p>
        </p:txBody>
      </p:sp>
      <p:sp>
        <p:nvSpPr>
          <p:cNvPr id="10" name="TextBox 10"/>
          <p:cNvSpPr txBox="1"/>
          <p:nvPr/>
        </p:nvSpPr>
        <p:spPr>
          <a:xfrm>
            <a:off x="576072" y="520827"/>
            <a:ext cx="9052560" cy="137541"/>
          </a:xfrm>
          <a:prstGeom prst="rect">
            <a:avLst/>
          </a:prstGeom>
        </p:spPr>
        <p:txBody>
          <a:bodyPr lIns="0" tIns="0" rIns="0" bIns="0" rtlCol="0" anchor="t">
            <a:spAutoFit/>
          </a:bodyPr>
          <a:lstStyle/>
          <a:p>
            <a:pPr algn="l">
              <a:lnSpc>
                <a:spcPts val="960"/>
              </a:lnSpc>
            </a:pPr>
            <a:r>
              <a:rPr lang="en-US" sz="800">
                <a:solidFill>
                  <a:srgbClr val="D2E6F5"/>
                </a:solidFill>
                <a:latin typeface="Calibri (MS)"/>
                <a:ea typeface="Calibri (MS)"/>
                <a:cs typeface="Calibri (MS)"/>
                <a:sym typeface="Calibri (MS)"/>
              </a:rPr>
              <a:t>Customer profile table used for demographic segmentation</a:t>
            </a:r>
          </a:p>
        </p:txBody>
      </p:sp>
      <p:sp>
        <p:nvSpPr>
          <p:cNvPr id="11" name="TextBox 11"/>
          <p:cNvSpPr txBox="1"/>
          <p:nvPr/>
        </p:nvSpPr>
        <p:spPr>
          <a:xfrm>
            <a:off x="11831171" y="1548756"/>
            <a:ext cx="5612295" cy="418323"/>
          </a:xfrm>
          <a:prstGeom prst="rect">
            <a:avLst/>
          </a:prstGeom>
        </p:spPr>
        <p:txBody>
          <a:bodyPr lIns="0" tIns="0" rIns="0" bIns="0" rtlCol="0" anchor="t">
            <a:spAutoFit/>
          </a:bodyPr>
          <a:lstStyle/>
          <a:p>
            <a:pPr algn="l">
              <a:lnSpc>
                <a:spcPts val="3322"/>
              </a:lnSpc>
            </a:pPr>
            <a:r>
              <a:rPr lang="en-US" sz="2768" b="1">
                <a:solidFill>
                  <a:srgbClr val="003F6E"/>
                </a:solidFill>
                <a:latin typeface="Calibri (MS) Bold"/>
                <a:ea typeface="Calibri (MS) Bold"/>
                <a:cs typeface="Calibri (MS) Bold"/>
                <a:sym typeface="Calibri (MS) Bold"/>
              </a:rPr>
              <a:t>Transformation performed</a:t>
            </a:r>
          </a:p>
        </p:txBody>
      </p:sp>
      <p:sp>
        <p:nvSpPr>
          <p:cNvPr id="12" name="TextBox 12"/>
          <p:cNvSpPr txBox="1"/>
          <p:nvPr/>
        </p:nvSpPr>
        <p:spPr>
          <a:xfrm>
            <a:off x="11887435" y="2214838"/>
            <a:ext cx="5499768" cy="3353112"/>
          </a:xfrm>
          <a:prstGeom prst="rect">
            <a:avLst/>
          </a:prstGeom>
        </p:spPr>
        <p:txBody>
          <a:bodyPr lIns="0" tIns="0" rIns="0" bIns="0" rtlCol="0" anchor="t">
            <a:spAutoFit/>
          </a:bodyPr>
          <a:lstStyle/>
          <a:p>
            <a:pPr algn="l">
              <a:lnSpc>
                <a:spcPts val="2399"/>
              </a:lnSpc>
            </a:pPr>
            <a:r>
              <a:rPr lang="en-US" sz="1999">
                <a:solidFill>
                  <a:srgbClr val="142337"/>
                </a:solidFill>
                <a:latin typeface="Calibri (MS)"/>
                <a:ea typeface="Calibri (MS)"/>
                <a:cs typeface="Calibri (MS)"/>
                <a:sym typeface="Calibri (MS)"/>
              </a:rPr>
              <a:t>Customer fields include customer_id, gender, age, country and income.</a:t>
            </a:r>
          </a:p>
          <a:p>
            <a:pPr algn="l">
              <a:lnSpc>
                <a:spcPts val="2399"/>
              </a:lnSpc>
            </a:pPr>
            <a:r>
              <a:rPr lang="en-US" sz="1999">
                <a:solidFill>
                  <a:srgbClr val="142337"/>
                </a:solidFill>
                <a:latin typeface="Calibri (MS)"/>
                <a:ea typeface="Calibri (MS)"/>
                <a:cs typeface="Calibri (MS)"/>
                <a:sym typeface="Calibri (MS)"/>
              </a:rPr>
              <a:t>Age Group was created to compare purchasing behaviour across meaningful age segments.</a:t>
            </a:r>
          </a:p>
          <a:p>
            <a:pPr algn="l">
              <a:lnSpc>
                <a:spcPts val="2399"/>
              </a:lnSpc>
            </a:pPr>
            <a:r>
              <a:rPr lang="en-US" sz="1999">
                <a:solidFill>
                  <a:srgbClr val="142337"/>
                </a:solidFill>
                <a:latin typeface="Calibri (MS)"/>
                <a:ea typeface="Calibri (MS)"/>
                <a:cs typeface="Calibri (MS)"/>
                <a:sym typeface="Calibri (MS)"/>
              </a:rPr>
              <a:t>Income Group was created to classify customers into low, middle and high income segments.</a:t>
            </a:r>
          </a:p>
          <a:p>
            <a:pPr algn="l">
              <a:lnSpc>
                <a:spcPts val="2399"/>
              </a:lnSpc>
            </a:pPr>
            <a:r>
              <a:rPr lang="en-US" sz="1999">
                <a:solidFill>
                  <a:srgbClr val="142337"/>
                </a:solidFill>
                <a:latin typeface="Calibri (MS)"/>
                <a:ea typeface="Calibri (MS)"/>
                <a:cs typeface="Calibri (MS)"/>
                <a:sym typeface="Calibri (MS)"/>
              </a:rPr>
              <a:t>Sort columns were added so categories appear in a logical order on charts and slicers.</a:t>
            </a:r>
          </a:p>
        </p:txBody>
      </p:sp>
      <p:sp>
        <p:nvSpPr>
          <p:cNvPr id="13" name="TextBox 13"/>
          <p:cNvSpPr txBox="1"/>
          <p:nvPr/>
        </p:nvSpPr>
        <p:spPr>
          <a:xfrm>
            <a:off x="11831171" y="6401492"/>
            <a:ext cx="5612295" cy="418323"/>
          </a:xfrm>
          <a:prstGeom prst="rect">
            <a:avLst/>
          </a:prstGeom>
        </p:spPr>
        <p:txBody>
          <a:bodyPr lIns="0" tIns="0" rIns="0" bIns="0" rtlCol="0" anchor="t">
            <a:spAutoFit/>
          </a:bodyPr>
          <a:lstStyle/>
          <a:p>
            <a:pPr algn="l">
              <a:lnSpc>
                <a:spcPts val="3322"/>
              </a:lnSpc>
            </a:pPr>
            <a:r>
              <a:rPr lang="en-US" sz="2768" b="1">
                <a:solidFill>
                  <a:srgbClr val="003F6E"/>
                </a:solidFill>
                <a:latin typeface="Calibri (MS) Bold"/>
                <a:ea typeface="Calibri (MS) Bold"/>
                <a:cs typeface="Calibri (MS) Bold"/>
                <a:sym typeface="Calibri (MS) Bold"/>
              </a:rPr>
              <a:t>Business purpose</a:t>
            </a:r>
          </a:p>
        </p:txBody>
      </p:sp>
      <p:sp>
        <p:nvSpPr>
          <p:cNvPr id="14" name="TextBox 14"/>
          <p:cNvSpPr txBox="1"/>
          <p:nvPr/>
        </p:nvSpPr>
        <p:spPr>
          <a:xfrm>
            <a:off x="11887435" y="7067574"/>
            <a:ext cx="5499768" cy="1383886"/>
          </a:xfrm>
          <a:prstGeom prst="rect">
            <a:avLst/>
          </a:prstGeom>
        </p:spPr>
        <p:txBody>
          <a:bodyPr lIns="0" tIns="0" rIns="0" bIns="0" rtlCol="0" anchor="t">
            <a:spAutoFit/>
          </a:bodyPr>
          <a:lstStyle/>
          <a:p>
            <a:pPr algn="l">
              <a:lnSpc>
                <a:spcPts val="2399"/>
              </a:lnSpc>
            </a:pPr>
            <a:r>
              <a:rPr lang="en-US" sz="1999">
                <a:solidFill>
                  <a:srgbClr val="142337"/>
                </a:solidFill>
                <a:latin typeface="Calibri (MS)"/>
                <a:ea typeface="Calibri (MS)"/>
                <a:cs typeface="Calibri (MS)"/>
                <a:sym typeface="Calibri (MS)"/>
              </a:rPr>
              <a:t>The Customer table allows revenue and order behaviour to be analysed by demographics.</a:t>
            </a:r>
          </a:p>
          <a:p>
            <a:pPr algn="l">
              <a:lnSpc>
                <a:spcPts val="2399"/>
              </a:lnSpc>
            </a:pPr>
            <a:r>
              <a:rPr lang="en-US" sz="1999">
                <a:solidFill>
                  <a:srgbClr val="142337"/>
                </a:solidFill>
                <a:latin typeface="Calibri (MS)"/>
                <a:ea typeface="Calibri (MS)"/>
                <a:cs typeface="Calibri (MS)"/>
                <a:sym typeface="Calibri (MS)"/>
              </a:rPr>
              <a:t>This supports customer targeting, segmentation and market focus decisions.</a:t>
            </a:r>
          </a:p>
        </p:txBody>
      </p:sp>
      <p:sp>
        <p:nvSpPr>
          <p:cNvPr id="15" name="TextBox 15"/>
          <p:cNvSpPr txBox="1"/>
          <p:nvPr/>
        </p:nvSpPr>
        <p:spPr>
          <a:xfrm>
            <a:off x="575813" y="9590641"/>
            <a:ext cx="13362607" cy="272236"/>
          </a:xfrm>
          <a:prstGeom prst="rect">
            <a:avLst/>
          </a:prstGeom>
        </p:spPr>
        <p:txBody>
          <a:bodyPr lIns="0" tIns="0" rIns="0" bIns="0" rtlCol="0" anchor="t">
            <a:spAutoFit/>
          </a:bodyPr>
          <a:lstStyle/>
          <a:p>
            <a:pPr algn="l">
              <a:lnSpc>
                <a:spcPts val="1476"/>
              </a:lnSpc>
            </a:pPr>
            <a:r>
              <a:rPr lang="en-US" sz="1230">
                <a:solidFill>
                  <a:srgbClr val="5F6E7D"/>
                </a:solidFill>
                <a:latin typeface="Calibri (MS)"/>
                <a:ea typeface="Calibri (MS)"/>
                <a:cs typeface="Calibri (MS)"/>
                <a:sym typeface="Calibri (MS)"/>
              </a:rPr>
              <a:t>Mohamed Heriyanto Bin Jamal Mohamed - Power BI Business Analytics Capstone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95325"/>
            <a:chOff x="0" y="0"/>
            <a:chExt cx="24396700" cy="927100"/>
          </a:xfrm>
        </p:grpSpPr>
        <p:sp>
          <p:nvSpPr>
            <p:cNvPr id="3" name="Freeform 3"/>
            <p:cNvSpPr/>
            <p:nvPr/>
          </p:nvSpPr>
          <p:spPr>
            <a:xfrm>
              <a:off x="0" y="0"/>
              <a:ext cx="24396700" cy="927100"/>
            </a:xfrm>
            <a:custGeom>
              <a:avLst/>
              <a:gdLst/>
              <a:ahLst/>
              <a:cxnLst/>
              <a:rect l="l" t="t" r="r" b="b"/>
              <a:pathLst>
                <a:path w="24396700" h="927100">
                  <a:moveTo>
                    <a:pt x="0" y="0"/>
                  </a:moveTo>
                  <a:lnTo>
                    <a:pt x="24396700" y="0"/>
                  </a:lnTo>
                  <a:lnTo>
                    <a:pt x="24396700" y="927100"/>
                  </a:lnTo>
                  <a:lnTo>
                    <a:pt x="0" y="927100"/>
                  </a:lnTo>
                  <a:close/>
                </a:path>
              </a:pathLst>
            </a:custGeom>
            <a:solidFill>
              <a:srgbClr val="003F6E"/>
            </a:solidFill>
            <a:ln w="9525" cap="sq">
              <a:solidFill>
                <a:srgbClr val="003F6E"/>
              </a:solidFill>
              <a:prstDash val="solid"/>
              <a:miter/>
            </a:ln>
          </p:spPr>
        </p:sp>
      </p:grpSp>
      <p:grpSp>
        <p:nvGrpSpPr>
          <p:cNvPr id="4" name="Group 4"/>
          <p:cNvGrpSpPr/>
          <p:nvPr/>
        </p:nvGrpSpPr>
        <p:grpSpPr>
          <a:xfrm>
            <a:off x="11273647" y="1321864"/>
            <a:ext cx="6418318" cy="3955373"/>
            <a:chOff x="0" y="0"/>
            <a:chExt cx="5560060" cy="3426460"/>
          </a:xfrm>
        </p:grpSpPr>
        <p:sp>
          <p:nvSpPr>
            <p:cNvPr id="5" name="Freeform 5"/>
            <p:cNvSpPr/>
            <p:nvPr/>
          </p:nvSpPr>
          <p:spPr>
            <a:xfrm>
              <a:off x="0" y="0"/>
              <a:ext cx="5560060" cy="3426460"/>
            </a:xfrm>
            <a:custGeom>
              <a:avLst/>
              <a:gdLst/>
              <a:ahLst/>
              <a:cxnLst/>
              <a:rect l="l" t="t" r="r" b="b"/>
              <a:pathLst>
                <a:path w="5560060" h="3426460">
                  <a:moveTo>
                    <a:pt x="0" y="571119"/>
                  </a:moveTo>
                  <a:cubicBezTo>
                    <a:pt x="0" y="255651"/>
                    <a:pt x="255651" y="0"/>
                    <a:pt x="571119" y="0"/>
                  </a:cubicBezTo>
                  <a:lnTo>
                    <a:pt x="4988941" y="0"/>
                  </a:lnTo>
                  <a:cubicBezTo>
                    <a:pt x="5304282" y="0"/>
                    <a:pt x="5560060" y="255651"/>
                    <a:pt x="5560060" y="571119"/>
                  </a:cubicBezTo>
                  <a:lnTo>
                    <a:pt x="5560060" y="2855341"/>
                  </a:lnTo>
                  <a:cubicBezTo>
                    <a:pt x="5560060" y="3170682"/>
                    <a:pt x="5304409" y="3426460"/>
                    <a:pt x="4988941" y="3426460"/>
                  </a:cubicBezTo>
                  <a:lnTo>
                    <a:pt x="571119" y="3426460"/>
                  </a:lnTo>
                  <a:cubicBezTo>
                    <a:pt x="255651" y="3426460"/>
                    <a:pt x="0" y="3170809"/>
                    <a:pt x="0" y="2855341"/>
                  </a:cubicBezTo>
                  <a:close/>
                </a:path>
              </a:pathLst>
            </a:custGeom>
            <a:solidFill>
              <a:srgbClr val="F5F8FC"/>
            </a:solidFill>
            <a:ln w="9525" cap="sq">
              <a:solidFill>
                <a:srgbClr val="DCE6F0"/>
              </a:solidFill>
              <a:prstDash val="solid"/>
              <a:miter/>
            </a:ln>
          </p:spPr>
        </p:sp>
      </p:grpSp>
      <p:grpSp>
        <p:nvGrpSpPr>
          <p:cNvPr id="6" name="Group 6"/>
          <p:cNvGrpSpPr/>
          <p:nvPr/>
        </p:nvGrpSpPr>
        <p:grpSpPr>
          <a:xfrm>
            <a:off x="11273647" y="5684796"/>
            <a:ext cx="6418318" cy="3181304"/>
            <a:chOff x="0" y="0"/>
            <a:chExt cx="5560060" cy="2755900"/>
          </a:xfrm>
        </p:grpSpPr>
        <p:sp>
          <p:nvSpPr>
            <p:cNvPr id="7" name="Freeform 7"/>
            <p:cNvSpPr/>
            <p:nvPr/>
          </p:nvSpPr>
          <p:spPr>
            <a:xfrm>
              <a:off x="0" y="0"/>
              <a:ext cx="5560060" cy="2755900"/>
            </a:xfrm>
            <a:custGeom>
              <a:avLst/>
              <a:gdLst/>
              <a:ahLst/>
              <a:cxnLst/>
              <a:rect l="l" t="t" r="r" b="b"/>
              <a:pathLst>
                <a:path w="5560060" h="2755900">
                  <a:moveTo>
                    <a:pt x="0" y="459359"/>
                  </a:moveTo>
                  <a:cubicBezTo>
                    <a:pt x="0" y="205613"/>
                    <a:pt x="205613" y="0"/>
                    <a:pt x="459359" y="0"/>
                  </a:cubicBezTo>
                  <a:lnTo>
                    <a:pt x="5100701" y="0"/>
                  </a:lnTo>
                  <a:cubicBezTo>
                    <a:pt x="5354320" y="0"/>
                    <a:pt x="5560060" y="205613"/>
                    <a:pt x="5560060" y="459359"/>
                  </a:cubicBezTo>
                  <a:lnTo>
                    <a:pt x="5560060" y="2296541"/>
                  </a:lnTo>
                  <a:cubicBezTo>
                    <a:pt x="5560060" y="2550160"/>
                    <a:pt x="5354447" y="2755900"/>
                    <a:pt x="5100701" y="2755900"/>
                  </a:cubicBezTo>
                  <a:lnTo>
                    <a:pt x="459359" y="2755900"/>
                  </a:lnTo>
                  <a:cubicBezTo>
                    <a:pt x="205613" y="2755900"/>
                    <a:pt x="0" y="2550287"/>
                    <a:pt x="0" y="2296541"/>
                  </a:cubicBezTo>
                  <a:close/>
                </a:path>
              </a:pathLst>
            </a:custGeom>
            <a:solidFill>
              <a:srgbClr val="F5F8FC"/>
            </a:solidFill>
            <a:ln w="9525" cap="sq">
              <a:solidFill>
                <a:srgbClr val="DCE6F0"/>
              </a:solidFill>
              <a:prstDash val="solid"/>
              <a:miter/>
            </a:ln>
          </p:spPr>
        </p:sp>
      </p:grpSp>
      <p:sp>
        <p:nvSpPr>
          <p:cNvPr id="8" name="Freeform 8"/>
          <p:cNvSpPr/>
          <p:nvPr/>
        </p:nvSpPr>
        <p:spPr>
          <a:xfrm>
            <a:off x="576072" y="2407453"/>
            <a:ext cx="10054756" cy="5739568"/>
          </a:xfrm>
          <a:custGeom>
            <a:avLst/>
            <a:gdLst/>
            <a:ahLst/>
            <a:cxnLst/>
            <a:rect l="l" t="t" r="r" b="b"/>
            <a:pathLst>
              <a:path w="10054756" h="5739568">
                <a:moveTo>
                  <a:pt x="0" y="0"/>
                </a:moveTo>
                <a:lnTo>
                  <a:pt x="10054756" y="0"/>
                </a:lnTo>
                <a:lnTo>
                  <a:pt x="10054756" y="5739568"/>
                </a:lnTo>
                <a:lnTo>
                  <a:pt x="0" y="5739568"/>
                </a:lnTo>
                <a:lnTo>
                  <a:pt x="0" y="0"/>
                </a:lnTo>
                <a:close/>
              </a:path>
            </a:pathLst>
          </a:custGeom>
          <a:blipFill>
            <a:blip r:embed="rId2"/>
            <a:stretch>
              <a:fillRect/>
            </a:stretch>
          </a:blipFill>
        </p:spPr>
      </p:sp>
      <p:sp>
        <p:nvSpPr>
          <p:cNvPr id="9" name="TextBox 9"/>
          <p:cNvSpPr txBox="1"/>
          <p:nvPr/>
        </p:nvSpPr>
        <p:spPr>
          <a:xfrm>
            <a:off x="548640" y="98679"/>
            <a:ext cx="9326880" cy="395097"/>
          </a:xfrm>
          <a:prstGeom prst="rect">
            <a:avLst/>
          </a:prstGeom>
        </p:spPr>
        <p:txBody>
          <a:bodyPr lIns="0" tIns="0" rIns="0" bIns="0" rtlCol="0" anchor="t">
            <a:spAutoFit/>
          </a:bodyPr>
          <a:lstStyle/>
          <a:p>
            <a:pPr algn="l">
              <a:lnSpc>
                <a:spcPts val="2760"/>
              </a:lnSpc>
            </a:pPr>
            <a:r>
              <a:rPr lang="en-US" sz="2300" b="1">
                <a:solidFill>
                  <a:srgbClr val="FFFFFF"/>
                </a:solidFill>
                <a:latin typeface="Calibri (MS) Bold"/>
                <a:ea typeface="Calibri (MS) Bold"/>
                <a:cs typeface="Calibri (MS) Bold"/>
                <a:sym typeface="Calibri (MS) Bold"/>
              </a:rPr>
              <a:t>Data Preparation Evidence: Purchase Table</a:t>
            </a:r>
          </a:p>
        </p:txBody>
      </p:sp>
      <p:sp>
        <p:nvSpPr>
          <p:cNvPr id="10" name="TextBox 10"/>
          <p:cNvSpPr txBox="1"/>
          <p:nvPr/>
        </p:nvSpPr>
        <p:spPr>
          <a:xfrm>
            <a:off x="576072" y="520827"/>
            <a:ext cx="9052560" cy="137541"/>
          </a:xfrm>
          <a:prstGeom prst="rect">
            <a:avLst/>
          </a:prstGeom>
        </p:spPr>
        <p:txBody>
          <a:bodyPr lIns="0" tIns="0" rIns="0" bIns="0" rtlCol="0" anchor="t">
            <a:spAutoFit/>
          </a:bodyPr>
          <a:lstStyle/>
          <a:p>
            <a:pPr algn="l">
              <a:lnSpc>
                <a:spcPts val="960"/>
              </a:lnSpc>
            </a:pPr>
            <a:r>
              <a:rPr lang="en-US" sz="800">
                <a:solidFill>
                  <a:srgbClr val="D2E6F5"/>
                </a:solidFill>
                <a:latin typeface="Calibri (MS)"/>
                <a:ea typeface="Calibri (MS)"/>
                <a:cs typeface="Calibri (MS)"/>
                <a:sym typeface="Calibri (MS)"/>
              </a:rPr>
              <a:t>Transaction table used for product, order and sales analysis</a:t>
            </a:r>
          </a:p>
        </p:txBody>
      </p:sp>
      <p:sp>
        <p:nvSpPr>
          <p:cNvPr id="11" name="TextBox 11"/>
          <p:cNvSpPr txBox="1"/>
          <p:nvPr/>
        </p:nvSpPr>
        <p:spPr>
          <a:xfrm>
            <a:off x="11675049" y="1501777"/>
            <a:ext cx="5615515" cy="418524"/>
          </a:xfrm>
          <a:prstGeom prst="rect">
            <a:avLst/>
          </a:prstGeom>
        </p:spPr>
        <p:txBody>
          <a:bodyPr lIns="0" tIns="0" rIns="0" bIns="0" rtlCol="0" anchor="t">
            <a:spAutoFit/>
          </a:bodyPr>
          <a:lstStyle/>
          <a:p>
            <a:pPr algn="l">
              <a:lnSpc>
                <a:spcPts val="3324"/>
              </a:lnSpc>
            </a:pPr>
            <a:r>
              <a:rPr lang="en-US" sz="2770" b="1">
                <a:solidFill>
                  <a:srgbClr val="003F6E"/>
                </a:solidFill>
                <a:latin typeface="Calibri (MS) Bold"/>
                <a:ea typeface="Calibri (MS) Bold"/>
                <a:cs typeface="Calibri (MS) Bold"/>
                <a:sym typeface="Calibri (MS) Bold"/>
              </a:rPr>
              <a:t>What was checked</a:t>
            </a:r>
          </a:p>
        </p:txBody>
      </p:sp>
      <p:sp>
        <p:nvSpPr>
          <p:cNvPr id="12" name="TextBox 12"/>
          <p:cNvSpPr txBox="1"/>
          <p:nvPr/>
        </p:nvSpPr>
        <p:spPr>
          <a:xfrm>
            <a:off x="11731345" y="2177755"/>
            <a:ext cx="5502924" cy="2852895"/>
          </a:xfrm>
          <a:prstGeom prst="rect">
            <a:avLst/>
          </a:prstGeom>
        </p:spPr>
        <p:txBody>
          <a:bodyPr lIns="0" tIns="0" rIns="0" bIns="0" rtlCol="0" anchor="t">
            <a:spAutoFit/>
          </a:bodyPr>
          <a:lstStyle/>
          <a:p>
            <a:pPr algn="l">
              <a:lnSpc>
                <a:spcPts val="2401"/>
              </a:lnSpc>
            </a:pPr>
            <a:r>
              <a:rPr lang="en-US" sz="2000">
                <a:solidFill>
                  <a:srgbClr val="142337"/>
                </a:solidFill>
                <a:latin typeface="Calibri (MS)"/>
                <a:ea typeface="Calibri (MS)"/>
                <a:cs typeface="Calibri (MS)"/>
                <a:sym typeface="Calibri (MS)"/>
              </a:rPr>
              <a:t>50,000 purchase records were loaded into Power BI.</a:t>
            </a:r>
          </a:p>
          <a:p>
            <a:pPr algn="l">
              <a:lnSpc>
                <a:spcPts val="2401"/>
              </a:lnSpc>
            </a:pPr>
            <a:r>
              <a:rPr lang="en-US" sz="2000">
                <a:solidFill>
                  <a:srgbClr val="142337"/>
                </a:solidFill>
                <a:latin typeface="Calibri (MS)"/>
                <a:ea typeface="Calibri (MS)"/>
                <a:cs typeface="Calibri (MS)"/>
                <a:sym typeface="Calibri (MS)"/>
              </a:rPr>
              <a:t>Key transaction fields include order_id, customer_id, product_name, price, quantity, discount, tax and order_date.</a:t>
            </a:r>
          </a:p>
          <a:p>
            <a:pPr algn="l">
              <a:lnSpc>
                <a:spcPts val="2401"/>
              </a:lnSpc>
            </a:pPr>
            <a:r>
              <a:rPr lang="en-US" sz="2000">
                <a:solidFill>
                  <a:srgbClr val="142337"/>
                </a:solidFill>
                <a:latin typeface="Calibri (MS)"/>
                <a:ea typeface="Calibri (MS)"/>
                <a:cs typeface="Calibri (MS)"/>
                <a:sym typeface="Calibri (MS)"/>
              </a:rPr>
              <a:t>Date, numeric and currency fields were reviewed to support accurate trend and revenue analysis.</a:t>
            </a:r>
          </a:p>
          <a:p>
            <a:pPr algn="l">
              <a:lnSpc>
                <a:spcPts val="2401"/>
              </a:lnSpc>
            </a:pPr>
            <a:r>
              <a:rPr lang="en-US" sz="2000">
                <a:solidFill>
                  <a:srgbClr val="142337"/>
                </a:solidFill>
                <a:latin typeface="Calibri (MS)"/>
                <a:ea typeface="Calibri (MS)"/>
                <a:cs typeface="Calibri (MS)"/>
                <a:sym typeface="Calibri (MS)"/>
              </a:rPr>
              <a:t>Year, Month Name and Month Number were created to support monthly and yearly reporting.</a:t>
            </a:r>
          </a:p>
        </p:txBody>
      </p:sp>
      <p:sp>
        <p:nvSpPr>
          <p:cNvPr id="13" name="TextBox 13"/>
          <p:cNvSpPr txBox="1"/>
          <p:nvPr/>
        </p:nvSpPr>
        <p:spPr>
          <a:xfrm>
            <a:off x="11675049" y="5864709"/>
            <a:ext cx="5615515" cy="418524"/>
          </a:xfrm>
          <a:prstGeom prst="rect">
            <a:avLst/>
          </a:prstGeom>
        </p:spPr>
        <p:txBody>
          <a:bodyPr lIns="0" tIns="0" rIns="0" bIns="0" rtlCol="0" anchor="t">
            <a:spAutoFit/>
          </a:bodyPr>
          <a:lstStyle/>
          <a:p>
            <a:pPr algn="l">
              <a:lnSpc>
                <a:spcPts val="3324"/>
              </a:lnSpc>
            </a:pPr>
            <a:r>
              <a:rPr lang="en-US" sz="2770" b="1">
                <a:solidFill>
                  <a:srgbClr val="003F6E"/>
                </a:solidFill>
                <a:latin typeface="Calibri (MS) Bold"/>
                <a:ea typeface="Calibri (MS) Bold"/>
                <a:cs typeface="Calibri (MS) Bold"/>
                <a:sym typeface="Calibri (MS) Bold"/>
              </a:rPr>
              <a:t>Why this matters</a:t>
            </a:r>
          </a:p>
        </p:txBody>
      </p:sp>
      <p:sp>
        <p:nvSpPr>
          <p:cNvPr id="14" name="TextBox 14"/>
          <p:cNvSpPr txBox="1"/>
          <p:nvPr/>
        </p:nvSpPr>
        <p:spPr>
          <a:xfrm>
            <a:off x="11731345" y="6540686"/>
            <a:ext cx="5502924" cy="2078826"/>
          </a:xfrm>
          <a:prstGeom prst="rect">
            <a:avLst/>
          </a:prstGeom>
        </p:spPr>
        <p:txBody>
          <a:bodyPr lIns="0" tIns="0" rIns="0" bIns="0" rtlCol="0" anchor="t">
            <a:spAutoFit/>
          </a:bodyPr>
          <a:lstStyle/>
          <a:p>
            <a:pPr algn="l">
              <a:lnSpc>
                <a:spcPts val="2401"/>
              </a:lnSpc>
            </a:pPr>
            <a:r>
              <a:rPr lang="en-US" sz="2000">
                <a:solidFill>
                  <a:srgbClr val="142337"/>
                </a:solidFill>
                <a:latin typeface="Calibri (MS)"/>
                <a:ea typeface="Calibri (MS)"/>
                <a:cs typeface="Calibri (MS)"/>
                <a:sym typeface="Calibri (MS)"/>
              </a:rPr>
              <a:t>The Purchase table is the fact table for sales performance.</a:t>
            </a:r>
          </a:p>
          <a:p>
            <a:pPr algn="l">
              <a:lnSpc>
                <a:spcPts val="2401"/>
              </a:lnSpc>
            </a:pPr>
            <a:r>
              <a:rPr lang="en-US" sz="2000">
                <a:solidFill>
                  <a:srgbClr val="142337"/>
                </a:solidFill>
                <a:latin typeface="Calibri (MS)"/>
                <a:ea typeface="Calibri (MS)"/>
                <a:cs typeface="Calibri (MS)"/>
                <a:sym typeface="Calibri (MS)"/>
              </a:rPr>
              <a:t>It powers visuals such as revenue by month, orders by month, top products and total revenue KPIs.</a:t>
            </a:r>
          </a:p>
          <a:p>
            <a:pPr algn="l">
              <a:lnSpc>
                <a:spcPts val="2401"/>
              </a:lnSpc>
            </a:pPr>
            <a:r>
              <a:rPr lang="en-US" sz="2000">
                <a:solidFill>
                  <a:srgbClr val="142337"/>
                </a:solidFill>
                <a:latin typeface="Calibri (MS)"/>
                <a:ea typeface="Calibri (MS)"/>
                <a:cs typeface="Calibri (MS)"/>
                <a:sym typeface="Calibri (MS)"/>
              </a:rPr>
              <a:t>Correct data types prevent sorting and calculation errors in Power BI.</a:t>
            </a:r>
          </a:p>
        </p:txBody>
      </p:sp>
      <p:sp>
        <p:nvSpPr>
          <p:cNvPr id="15" name="TextBox 15"/>
          <p:cNvSpPr txBox="1"/>
          <p:nvPr/>
        </p:nvSpPr>
        <p:spPr>
          <a:xfrm>
            <a:off x="573800" y="9342353"/>
            <a:ext cx="13016254" cy="265674"/>
          </a:xfrm>
          <a:prstGeom prst="rect">
            <a:avLst/>
          </a:prstGeom>
        </p:spPr>
        <p:txBody>
          <a:bodyPr lIns="0" tIns="0" rIns="0" bIns="0" rtlCol="0" anchor="t">
            <a:spAutoFit/>
          </a:bodyPr>
          <a:lstStyle/>
          <a:p>
            <a:pPr algn="l">
              <a:lnSpc>
                <a:spcPts val="1438"/>
              </a:lnSpc>
            </a:pPr>
            <a:r>
              <a:rPr lang="en-US" sz="1198">
                <a:solidFill>
                  <a:srgbClr val="5F6E7D"/>
                </a:solidFill>
                <a:latin typeface="Calibri (MS)"/>
                <a:ea typeface="Calibri (MS)"/>
                <a:cs typeface="Calibri (MS)"/>
                <a:sym typeface="Calibri (MS)"/>
              </a:rPr>
              <a:t>Mohamed Heriyanto Bin Jamal Mohamed - Power BI Business Analytics Capstone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95325"/>
            <a:chOff x="0" y="0"/>
            <a:chExt cx="24396700" cy="927100"/>
          </a:xfrm>
        </p:grpSpPr>
        <p:sp>
          <p:nvSpPr>
            <p:cNvPr id="3" name="Freeform 3"/>
            <p:cNvSpPr/>
            <p:nvPr/>
          </p:nvSpPr>
          <p:spPr>
            <a:xfrm>
              <a:off x="0" y="0"/>
              <a:ext cx="24396700" cy="927100"/>
            </a:xfrm>
            <a:custGeom>
              <a:avLst/>
              <a:gdLst/>
              <a:ahLst/>
              <a:cxnLst/>
              <a:rect l="l" t="t" r="r" b="b"/>
              <a:pathLst>
                <a:path w="24396700" h="927100">
                  <a:moveTo>
                    <a:pt x="0" y="0"/>
                  </a:moveTo>
                  <a:lnTo>
                    <a:pt x="24396700" y="0"/>
                  </a:lnTo>
                  <a:lnTo>
                    <a:pt x="24396700" y="927100"/>
                  </a:lnTo>
                  <a:lnTo>
                    <a:pt x="0" y="927100"/>
                  </a:lnTo>
                  <a:close/>
                </a:path>
              </a:pathLst>
            </a:custGeom>
            <a:solidFill>
              <a:srgbClr val="003F6E"/>
            </a:solidFill>
            <a:ln w="9525" cap="sq">
              <a:solidFill>
                <a:srgbClr val="003F6E"/>
              </a:solidFill>
              <a:prstDash val="solid"/>
              <a:miter/>
            </a:ln>
          </p:spPr>
        </p:sp>
      </p:grpSp>
      <p:sp>
        <p:nvSpPr>
          <p:cNvPr id="4" name="TextBox 4"/>
          <p:cNvSpPr txBox="1"/>
          <p:nvPr/>
        </p:nvSpPr>
        <p:spPr>
          <a:xfrm>
            <a:off x="548640" y="98679"/>
            <a:ext cx="9326880" cy="395097"/>
          </a:xfrm>
          <a:prstGeom prst="rect">
            <a:avLst/>
          </a:prstGeom>
        </p:spPr>
        <p:txBody>
          <a:bodyPr lIns="0" tIns="0" rIns="0" bIns="0" rtlCol="0" anchor="t">
            <a:spAutoFit/>
          </a:bodyPr>
          <a:lstStyle/>
          <a:p>
            <a:pPr algn="l">
              <a:lnSpc>
                <a:spcPts val="2760"/>
              </a:lnSpc>
            </a:pPr>
            <a:r>
              <a:rPr lang="en-US" sz="2300" b="1">
                <a:solidFill>
                  <a:srgbClr val="FFFFFF"/>
                </a:solidFill>
                <a:latin typeface="Calibri (MS) Bold"/>
                <a:ea typeface="Calibri (MS) Bold"/>
                <a:cs typeface="Calibri (MS) Bold"/>
                <a:sym typeface="Calibri (MS) Bold"/>
              </a:rPr>
              <a:t>Data Model Relationship</a:t>
            </a:r>
          </a:p>
        </p:txBody>
      </p:sp>
      <p:sp>
        <p:nvSpPr>
          <p:cNvPr id="5" name="TextBox 5"/>
          <p:cNvSpPr txBox="1"/>
          <p:nvPr/>
        </p:nvSpPr>
        <p:spPr>
          <a:xfrm>
            <a:off x="576072" y="520827"/>
            <a:ext cx="9052560" cy="137541"/>
          </a:xfrm>
          <a:prstGeom prst="rect">
            <a:avLst/>
          </a:prstGeom>
        </p:spPr>
        <p:txBody>
          <a:bodyPr lIns="0" tIns="0" rIns="0" bIns="0" rtlCol="0" anchor="t">
            <a:spAutoFit/>
          </a:bodyPr>
          <a:lstStyle/>
          <a:p>
            <a:pPr algn="l">
              <a:lnSpc>
                <a:spcPts val="960"/>
              </a:lnSpc>
            </a:pPr>
            <a:r>
              <a:rPr lang="en-US" sz="800">
                <a:solidFill>
                  <a:srgbClr val="D2E6F5"/>
                </a:solidFill>
                <a:latin typeface="Calibri (MS)"/>
                <a:ea typeface="Calibri (MS)"/>
                <a:cs typeface="Calibri (MS)"/>
                <a:sym typeface="Calibri (MS)"/>
              </a:rPr>
              <a:t>Customer and Purchase linked using customer_id</a:t>
            </a:r>
          </a:p>
        </p:txBody>
      </p:sp>
      <p:grpSp>
        <p:nvGrpSpPr>
          <p:cNvPr id="6" name="Group 6"/>
          <p:cNvGrpSpPr/>
          <p:nvPr/>
        </p:nvGrpSpPr>
        <p:grpSpPr>
          <a:xfrm>
            <a:off x="782322" y="1623235"/>
            <a:ext cx="8649810" cy="6613872"/>
            <a:chOff x="0" y="0"/>
            <a:chExt cx="7510780" cy="5742940"/>
          </a:xfrm>
        </p:grpSpPr>
        <p:sp>
          <p:nvSpPr>
            <p:cNvPr id="7" name="Freeform 7"/>
            <p:cNvSpPr/>
            <p:nvPr/>
          </p:nvSpPr>
          <p:spPr>
            <a:xfrm>
              <a:off x="0" y="0"/>
              <a:ext cx="7510780" cy="5742940"/>
            </a:xfrm>
            <a:custGeom>
              <a:avLst/>
              <a:gdLst/>
              <a:ahLst/>
              <a:cxnLst/>
              <a:rect l="l" t="t" r="r" b="b"/>
              <a:pathLst>
                <a:path w="7510780" h="5742940">
                  <a:moveTo>
                    <a:pt x="0" y="957199"/>
                  </a:moveTo>
                  <a:cubicBezTo>
                    <a:pt x="0" y="428498"/>
                    <a:pt x="428498" y="0"/>
                    <a:pt x="957199" y="0"/>
                  </a:cubicBezTo>
                  <a:lnTo>
                    <a:pt x="6553581" y="0"/>
                  </a:lnTo>
                  <a:cubicBezTo>
                    <a:pt x="7082155" y="0"/>
                    <a:pt x="7510780" y="428498"/>
                    <a:pt x="7510780" y="957199"/>
                  </a:cubicBezTo>
                  <a:lnTo>
                    <a:pt x="7510780" y="4785741"/>
                  </a:lnTo>
                  <a:cubicBezTo>
                    <a:pt x="7510780" y="5314315"/>
                    <a:pt x="7082282" y="5742940"/>
                    <a:pt x="6553581" y="5742940"/>
                  </a:cubicBezTo>
                  <a:lnTo>
                    <a:pt x="957199" y="5742940"/>
                  </a:lnTo>
                  <a:cubicBezTo>
                    <a:pt x="428498" y="5742940"/>
                    <a:pt x="0" y="5314442"/>
                    <a:pt x="0" y="4785741"/>
                  </a:cubicBezTo>
                  <a:close/>
                </a:path>
              </a:pathLst>
            </a:custGeom>
            <a:solidFill>
              <a:srgbClr val="FFFFFF"/>
            </a:solidFill>
            <a:ln w="9525" cap="sq">
              <a:solidFill>
                <a:srgbClr val="D7E1EB"/>
              </a:solidFill>
              <a:prstDash val="solid"/>
              <a:miter/>
            </a:ln>
          </p:spPr>
        </p:sp>
      </p:grpSp>
      <p:grpSp>
        <p:nvGrpSpPr>
          <p:cNvPr id="8" name="Group 8"/>
          <p:cNvGrpSpPr/>
          <p:nvPr/>
        </p:nvGrpSpPr>
        <p:grpSpPr>
          <a:xfrm>
            <a:off x="1070454" y="2412892"/>
            <a:ext cx="8073546" cy="5034572"/>
            <a:chOff x="0" y="0"/>
            <a:chExt cx="7010400" cy="4371607"/>
          </a:xfrm>
        </p:grpSpPr>
        <p:sp>
          <p:nvSpPr>
            <p:cNvPr id="9" name="Freeform 9" descr="Screenshot 2026-08-05 135552.png"/>
            <p:cNvSpPr/>
            <p:nvPr/>
          </p:nvSpPr>
          <p:spPr>
            <a:xfrm>
              <a:off x="0" y="0"/>
              <a:ext cx="7010400" cy="4371594"/>
            </a:xfrm>
            <a:custGeom>
              <a:avLst/>
              <a:gdLst/>
              <a:ahLst/>
              <a:cxnLst/>
              <a:rect l="l" t="t" r="r" b="b"/>
              <a:pathLst>
                <a:path w="7010400" h="4371594">
                  <a:moveTo>
                    <a:pt x="0" y="0"/>
                  </a:moveTo>
                  <a:lnTo>
                    <a:pt x="7010400" y="0"/>
                  </a:lnTo>
                  <a:lnTo>
                    <a:pt x="7010400" y="4371594"/>
                  </a:lnTo>
                  <a:lnTo>
                    <a:pt x="0" y="4371594"/>
                  </a:lnTo>
                  <a:lnTo>
                    <a:pt x="0" y="0"/>
                  </a:lnTo>
                  <a:close/>
                </a:path>
              </a:pathLst>
            </a:custGeom>
            <a:blipFill>
              <a:blip r:embed="rId2"/>
              <a:stretch>
                <a:fillRect/>
              </a:stretch>
            </a:blipFill>
          </p:spPr>
        </p:sp>
      </p:grpSp>
      <p:grpSp>
        <p:nvGrpSpPr>
          <p:cNvPr id="10" name="Group 10"/>
          <p:cNvGrpSpPr/>
          <p:nvPr/>
        </p:nvGrpSpPr>
        <p:grpSpPr>
          <a:xfrm>
            <a:off x="9979144" y="1623235"/>
            <a:ext cx="7526534" cy="4016297"/>
            <a:chOff x="0" y="0"/>
            <a:chExt cx="6535420" cy="3487420"/>
          </a:xfrm>
        </p:grpSpPr>
        <p:sp>
          <p:nvSpPr>
            <p:cNvPr id="11" name="Freeform 11"/>
            <p:cNvSpPr/>
            <p:nvPr/>
          </p:nvSpPr>
          <p:spPr>
            <a:xfrm>
              <a:off x="0" y="0"/>
              <a:ext cx="6535420" cy="3487420"/>
            </a:xfrm>
            <a:custGeom>
              <a:avLst/>
              <a:gdLst/>
              <a:ahLst/>
              <a:cxnLst/>
              <a:rect l="l" t="t" r="r" b="b"/>
              <a:pathLst>
                <a:path w="6535420" h="3487420">
                  <a:moveTo>
                    <a:pt x="0" y="581279"/>
                  </a:moveTo>
                  <a:cubicBezTo>
                    <a:pt x="0" y="260223"/>
                    <a:pt x="260223" y="0"/>
                    <a:pt x="581279" y="0"/>
                  </a:cubicBezTo>
                  <a:lnTo>
                    <a:pt x="5954141" y="0"/>
                  </a:lnTo>
                  <a:cubicBezTo>
                    <a:pt x="6275197" y="0"/>
                    <a:pt x="6535420" y="260223"/>
                    <a:pt x="6535420" y="581279"/>
                  </a:cubicBezTo>
                  <a:lnTo>
                    <a:pt x="6535420" y="2906141"/>
                  </a:lnTo>
                  <a:cubicBezTo>
                    <a:pt x="6535420" y="3227197"/>
                    <a:pt x="6275197" y="3487420"/>
                    <a:pt x="5954141" y="3487420"/>
                  </a:cubicBezTo>
                  <a:lnTo>
                    <a:pt x="581279" y="3487420"/>
                  </a:lnTo>
                  <a:cubicBezTo>
                    <a:pt x="260223" y="3487420"/>
                    <a:pt x="0" y="3227197"/>
                    <a:pt x="0" y="2906141"/>
                  </a:cubicBezTo>
                  <a:close/>
                </a:path>
              </a:pathLst>
            </a:custGeom>
            <a:solidFill>
              <a:srgbClr val="F5F8FC"/>
            </a:solidFill>
            <a:ln w="9525" cap="sq">
              <a:solidFill>
                <a:srgbClr val="DCE6F0"/>
              </a:solidFill>
              <a:prstDash val="solid"/>
              <a:miter/>
            </a:ln>
          </p:spPr>
        </p:sp>
      </p:grpSp>
      <p:sp>
        <p:nvSpPr>
          <p:cNvPr id="12" name="TextBox 12"/>
          <p:cNvSpPr txBox="1"/>
          <p:nvPr/>
        </p:nvSpPr>
        <p:spPr>
          <a:xfrm>
            <a:off x="10379604" y="1802569"/>
            <a:ext cx="6725615" cy="417699"/>
          </a:xfrm>
          <a:prstGeom prst="rect">
            <a:avLst/>
          </a:prstGeom>
        </p:spPr>
        <p:txBody>
          <a:bodyPr lIns="0" tIns="0" rIns="0" bIns="0" rtlCol="0" anchor="t">
            <a:spAutoFit/>
          </a:bodyPr>
          <a:lstStyle/>
          <a:p>
            <a:pPr algn="l">
              <a:lnSpc>
                <a:spcPts val="3316"/>
              </a:lnSpc>
            </a:pPr>
            <a:r>
              <a:rPr lang="en-US" sz="2763" b="1">
                <a:solidFill>
                  <a:srgbClr val="003F6E"/>
                </a:solidFill>
                <a:latin typeface="Calibri (MS) Bold"/>
                <a:ea typeface="Calibri (MS) Bold"/>
                <a:cs typeface="Calibri (MS) Bold"/>
                <a:sym typeface="Calibri (MS) Bold"/>
              </a:rPr>
              <a:t>Relationship logic</a:t>
            </a:r>
          </a:p>
        </p:txBody>
      </p:sp>
      <p:sp>
        <p:nvSpPr>
          <p:cNvPr id="13" name="TextBox 13"/>
          <p:cNvSpPr txBox="1"/>
          <p:nvPr/>
        </p:nvSpPr>
        <p:spPr>
          <a:xfrm>
            <a:off x="10435767" y="2477028"/>
            <a:ext cx="6613287" cy="2916495"/>
          </a:xfrm>
          <a:prstGeom prst="rect">
            <a:avLst/>
          </a:prstGeom>
        </p:spPr>
        <p:txBody>
          <a:bodyPr lIns="0" tIns="0" rIns="0" bIns="0" rtlCol="0" anchor="t">
            <a:spAutoFit/>
          </a:bodyPr>
          <a:lstStyle/>
          <a:p>
            <a:pPr algn="l">
              <a:lnSpc>
                <a:spcPts val="2119"/>
              </a:lnSpc>
            </a:pPr>
            <a:r>
              <a:rPr lang="en-US" sz="1765">
                <a:solidFill>
                  <a:srgbClr val="142337"/>
                </a:solidFill>
                <a:latin typeface="Calibri (MS)"/>
                <a:ea typeface="Calibri (MS)"/>
                <a:cs typeface="Calibri (MS)"/>
                <a:sym typeface="Calibri (MS)"/>
              </a:rPr>
              <a:t>Customer contains one row per customer.</a:t>
            </a:r>
          </a:p>
          <a:p>
            <a:pPr algn="l">
              <a:lnSpc>
                <a:spcPts val="2119"/>
              </a:lnSpc>
            </a:pPr>
            <a:r>
              <a:rPr lang="en-US" sz="1765">
                <a:solidFill>
                  <a:srgbClr val="142337"/>
                </a:solidFill>
                <a:latin typeface="Calibri (MS)"/>
                <a:ea typeface="Calibri (MS)"/>
                <a:cs typeface="Calibri (MS)"/>
                <a:sym typeface="Calibri (MS)"/>
              </a:rPr>
              <a:t>Purchase contains many purchase records per customer.</a:t>
            </a:r>
          </a:p>
          <a:p>
            <a:pPr algn="l">
              <a:lnSpc>
                <a:spcPts val="2119"/>
              </a:lnSpc>
            </a:pPr>
            <a:r>
              <a:rPr lang="en-US" sz="1765">
                <a:solidFill>
                  <a:srgbClr val="142337"/>
                </a:solidFill>
                <a:latin typeface="Calibri (MS)"/>
                <a:ea typeface="Calibri (MS)"/>
                <a:cs typeface="Calibri (MS)"/>
                <a:sym typeface="Calibri (MS)"/>
              </a:rPr>
              <a:t>Relationship: Customer[customer_id] 1 → * Purchase[customer_id].</a:t>
            </a:r>
          </a:p>
          <a:p>
            <a:pPr algn="l">
              <a:lnSpc>
                <a:spcPts val="2119"/>
              </a:lnSpc>
            </a:pPr>
            <a:r>
              <a:rPr lang="en-US" sz="1765">
                <a:solidFill>
                  <a:srgbClr val="142337"/>
                </a:solidFill>
                <a:latin typeface="Calibri (MS)"/>
                <a:ea typeface="Calibri (MS)"/>
                <a:cs typeface="Calibri (MS)"/>
                <a:sym typeface="Calibri (MS)"/>
              </a:rPr>
              <a:t>This allows demographics to filter purchase transactions correctly.</a:t>
            </a:r>
          </a:p>
        </p:txBody>
      </p:sp>
      <p:grpSp>
        <p:nvGrpSpPr>
          <p:cNvPr id="14" name="Group 14"/>
          <p:cNvGrpSpPr/>
          <p:nvPr/>
        </p:nvGrpSpPr>
        <p:grpSpPr>
          <a:xfrm>
            <a:off x="9979144" y="5975929"/>
            <a:ext cx="7526534" cy="2612202"/>
            <a:chOff x="0" y="0"/>
            <a:chExt cx="6535420" cy="2268220"/>
          </a:xfrm>
        </p:grpSpPr>
        <p:sp>
          <p:nvSpPr>
            <p:cNvPr id="15" name="Freeform 15"/>
            <p:cNvSpPr/>
            <p:nvPr/>
          </p:nvSpPr>
          <p:spPr>
            <a:xfrm>
              <a:off x="0" y="0"/>
              <a:ext cx="6535420" cy="2268220"/>
            </a:xfrm>
            <a:custGeom>
              <a:avLst/>
              <a:gdLst/>
              <a:ahLst/>
              <a:cxnLst/>
              <a:rect l="l" t="t" r="r" b="b"/>
              <a:pathLst>
                <a:path w="6535420" h="2268220">
                  <a:moveTo>
                    <a:pt x="0" y="378079"/>
                  </a:moveTo>
                  <a:cubicBezTo>
                    <a:pt x="0" y="169291"/>
                    <a:pt x="169291" y="0"/>
                    <a:pt x="378079" y="0"/>
                  </a:cubicBezTo>
                  <a:lnTo>
                    <a:pt x="6157341" y="0"/>
                  </a:lnTo>
                  <a:cubicBezTo>
                    <a:pt x="6366129" y="0"/>
                    <a:pt x="6535420" y="169291"/>
                    <a:pt x="6535420" y="378079"/>
                  </a:cubicBezTo>
                  <a:lnTo>
                    <a:pt x="6535420" y="1890141"/>
                  </a:lnTo>
                  <a:cubicBezTo>
                    <a:pt x="6535420" y="2098929"/>
                    <a:pt x="6366129" y="2268220"/>
                    <a:pt x="6157341" y="2268220"/>
                  </a:cubicBezTo>
                  <a:lnTo>
                    <a:pt x="378079" y="2268220"/>
                  </a:lnTo>
                  <a:cubicBezTo>
                    <a:pt x="169291" y="2268220"/>
                    <a:pt x="0" y="2098929"/>
                    <a:pt x="0" y="1890141"/>
                  </a:cubicBezTo>
                  <a:close/>
                </a:path>
              </a:pathLst>
            </a:custGeom>
            <a:solidFill>
              <a:srgbClr val="F5F8FC"/>
            </a:solidFill>
            <a:ln w="9525" cap="sq">
              <a:solidFill>
                <a:srgbClr val="DCE6F0"/>
              </a:solidFill>
              <a:prstDash val="solid"/>
              <a:miter/>
            </a:ln>
          </p:spPr>
        </p:sp>
      </p:grpSp>
      <p:sp>
        <p:nvSpPr>
          <p:cNvPr id="16" name="TextBox 16"/>
          <p:cNvSpPr txBox="1"/>
          <p:nvPr/>
        </p:nvSpPr>
        <p:spPr>
          <a:xfrm>
            <a:off x="10379604" y="6155263"/>
            <a:ext cx="6725615" cy="417699"/>
          </a:xfrm>
          <a:prstGeom prst="rect">
            <a:avLst/>
          </a:prstGeom>
        </p:spPr>
        <p:txBody>
          <a:bodyPr lIns="0" tIns="0" rIns="0" bIns="0" rtlCol="0" anchor="t">
            <a:spAutoFit/>
          </a:bodyPr>
          <a:lstStyle/>
          <a:p>
            <a:pPr algn="l">
              <a:lnSpc>
                <a:spcPts val="3316"/>
              </a:lnSpc>
            </a:pPr>
            <a:r>
              <a:rPr lang="en-US" sz="2763" b="1">
                <a:solidFill>
                  <a:srgbClr val="003F6E"/>
                </a:solidFill>
                <a:latin typeface="Calibri (MS) Bold"/>
                <a:ea typeface="Calibri (MS) Bold"/>
                <a:cs typeface="Calibri (MS) Bold"/>
                <a:sym typeface="Calibri (MS) Bold"/>
              </a:rPr>
              <a:t>Why it matters for visuals</a:t>
            </a:r>
          </a:p>
        </p:txBody>
      </p:sp>
      <p:sp>
        <p:nvSpPr>
          <p:cNvPr id="17" name="TextBox 17"/>
          <p:cNvSpPr txBox="1"/>
          <p:nvPr/>
        </p:nvSpPr>
        <p:spPr>
          <a:xfrm>
            <a:off x="10435767" y="6829722"/>
            <a:ext cx="6613287" cy="1512400"/>
          </a:xfrm>
          <a:prstGeom prst="rect">
            <a:avLst/>
          </a:prstGeom>
        </p:spPr>
        <p:txBody>
          <a:bodyPr lIns="0" tIns="0" rIns="0" bIns="0" rtlCol="0" anchor="t">
            <a:spAutoFit/>
          </a:bodyPr>
          <a:lstStyle/>
          <a:p>
            <a:pPr algn="l">
              <a:lnSpc>
                <a:spcPts val="2119"/>
              </a:lnSpc>
            </a:pPr>
            <a:r>
              <a:rPr lang="en-US" sz="1765">
                <a:solidFill>
                  <a:srgbClr val="142337"/>
                </a:solidFill>
                <a:latin typeface="Calibri (MS)"/>
                <a:ea typeface="Calibri (MS)"/>
                <a:cs typeface="Calibri (MS)"/>
                <a:sym typeface="Calibri (MS)"/>
              </a:rPr>
              <a:t>Demographic revenue charts depend on this relationship.</a:t>
            </a:r>
          </a:p>
          <a:p>
            <a:pPr algn="l">
              <a:lnSpc>
                <a:spcPts val="2119"/>
              </a:lnSpc>
            </a:pPr>
            <a:r>
              <a:rPr lang="en-US" sz="1765">
                <a:solidFill>
                  <a:srgbClr val="142337"/>
                </a:solidFill>
                <a:latin typeface="Calibri (MS)"/>
                <a:ea typeface="Calibri (MS)"/>
                <a:cs typeface="Calibri (MS)"/>
                <a:sym typeface="Calibri (MS)"/>
              </a:rPr>
              <a:t>Slicers work because filters flow from Customer to Purchase.</a:t>
            </a:r>
          </a:p>
          <a:p>
            <a:pPr algn="l">
              <a:lnSpc>
                <a:spcPts val="2119"/>
              </a:lnSpc>
            </a:pPr>
            <a:r>
              <a:rPr lang="en-US" sz="1765">
                <a:solidFill>
                  <a:srgbClr val="142337"/>
                </a:solidFill>
                <a:latin typeface="Calibri (MS)"/>
                <a:ea typeface="Calibri (MS)"/>
                <a:cs typeface="Calibri (MS)"/>
                <a:sym typeface="Calibri (MS)"/>
              </a:rPr>
              <a:t>A clean model reduces calculation and filtering errors.</a:t>
            </a:r>
          </a:p>
        </p:txBody>
      </p:sp>
      <p:sp>
        <p:nvSpPr>
          <p:cNvPr id="18" name="TextBox 18"/>
          <p:cNvSpPr txBox="1"/>
          <p:nvPr/>
        </p:nvSpPr>
        <p:spPr>
          <a:xfrm>
            <a:off x="548640" y="9501753"/>
            <a:ext cx="13338902" cy="271787"/>
          </a:xfrm>
          <a:prstGeom prst="rect">
            <a:avLst/>
          </a:prstGeom>
        </p:spPr>
        <p:txBody>
          <a:bodyPr lIns="0" tIns="0" rIns="0" bIns="0" rtlCol="0" anchor="t">
            <a:spAutoFit/>
          </a:bodyPr>
          <a:lstStyle/>
          <a:p>
            <a:pPr algn="l">
              <a:lnSpc>
                <a:spcPts val="1474"/>
              </a:lnSpc>
            </a:pPr>
            <a:r>
              <a:rPr lang="en-US" sz="1228">
                <a:solidFill>
                  <a:srgbClr val="5F6E7D"/>
                </a:solidFill>
                <a:latin typeface="Calibri (MS)"/>
                <a:ea typeface="Calibri (MS)"/>
                <a:cs typeface="Calibri (MS)"/>
                <a:sym typeface="Calibri (MS)"/>
              </a:rPr>
              <a:t>Mohamed Heriyanto Bin Jamal Mohamed - Power BI Business Analytics Capstone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18297525" cy="695325"/>
            <a:chOff x="0" y="0"/>
            <a:chExt cx="24396700" cy="927100"/>
          </a:xfrm>
        </p:grpSpPr>
        <p:sp>
          <p:nvSpPr>
            <p:cNvPr id="3" name="Freeform 3"/>
            <p:cNvSpPr/>
            <p:nvPr/>
          </p:nvSpPr>
          <p:spPr>
            <a:xfrm>
              <a:off x="0" y="0"/>
              <a:ext cx="24396700" cy="927100"/>
            </a:xfrm>
            <a:custGeom>
              <a:avLst/>
              <a:gdLst/>
              <a:ahLst/>
              <a:cxnLst/>
              <a:rect l="l" t="t" r="r" b="b"/>
              <a:pathLst>
                <a:path w="24396700" h="927100">
                  <a:moveTo>
                    <a:pt x="0" y="0"/>
                  </a:moveTo>
                  <a:lnTo>
                    <a:pt x="24396700" y="0"/>
                  </a:lnTo>
                  <a:lnTo>
                    <a:pt x="24396700" y="927100"/>
                  </a:lnTo>
                  <a:lnTo>
                    <a:pt x="0" y="927100"/>
                  </a:lnTo>
                  <a:close/>
                </a:path>
              </a:pathLst>
            </a:custGeom>
            <a:solidFill>
              <a:srgbClr val="003F6E"/>
            </a:solidFill>
            <a:ln w="9525" cap="sq">
              <a:solidFill>
                <a:srgbClr val="003F6E"/>
              </a:solidFill>
              <a:prstDash val="solid"/>
              <a:miter/>
            </a:ln>
          </p:spPr>
        </p:sp>
      </p:grpSp>
      <p:sp>
        <p:nvSpPr>
          <p:cNvPr id="4" name="TextBox 4"/>
          <p:cNvSpPr txBox="1"/>
          <p:nvPr/>
        </p:nvSpPr>
        <p:spPr>
          <a:xfrm>
            <a:off x="548640" y="98679"/>
            <a:ext cx="9326880" cy="395097"/>
          </a:xfrm>
          <a:prstGeom prst="rect">
            <a:avLst/>
          </a:prstGeom>
        </p:spPr>
        <p:txBody>
          <a:bodyPr lIns="0" tIns="0" rIns="0" bIns="0" rtlCol="0" anchor="t">
            <a:spAutoFit/>
          </a:bodyPr>
          <a:lstStyle/>
          <a:p>
            <a:pPr algn="l">
              <a:lnSpc>
                <a:spcPts val="2760"/>
              </a:lnSpc>
            </a:pPr>
            <a:r>
              <a:rPr lang="en-US" sz="2300" b="1">
                <a:solidFill>
                  <a:srgbClr val="FFFFFF"/>
                </a:solidFill>
                <a:latin typeface="Calibri (MS) Bold"/>
                <a:ea typeface="Calibri (MS) Bold"/>
                <a:cs typeface="Calibri (MS) Bold"/>
                <a:sym typeface="Calibri (MS) Bold"/>
              </a:rPr>
              <a:t>Data Cleaning and Transformation Summary</a:t>
            </a:r>
          </a:p>
        </p:txBody>
      </p:sp>
      <p:sp>
        <p:nvSpPr>
          <p:cNvPr id="5" name="TextBox 5"/>
          <p:cNvSpPr txBox="1"/>
          <p:nvPr/>
        </p:nvSpPr>
        <p:spPr>
          <a:xfrm>
            <a:off x="576072" y="520827"/>
            <a:ext cx="9052560" cy="137541"/>
          </a:xfrm>
          <a:prstGeom prst="rect">
            <a:avLst/>
          </a:prstGeom>
        </p:spPr>
        <p:txBody>
          <a:bodyPr lIns="0" tIns="0" rIns="0" bIns="0" rtlCol="0" anchor="t">
            <a:spAutoFit/>
          </a:bodyPr>
          <a:lstStyle/>
          <a:p>
            <a:pPr algn="l">
              <a:lnSpc>
                <a:spcPts val="960"/>
              </a:lnSpc>
            </a:pPr>
            <a:r>
              <a:rPr lang="en-US" sz="800">
                <a:solidFill>
                  <a:srgbClr val="D2E6F5"/>
                </a:solidFill>
                <a:latin typeface="Calibri (MS)"/>
                <a:ea typeface="Calibri (MS)"/>
                <a:cs typeface="Calibri (MS)"/>
                <a:sym typeface="Calibri (MS)"/>
              </a:rPr>
              <a:t>Evidence supporting the trainer checklist</a:t>
            </a:r>
          </a:p>
        </p:txBody>
      </p:sp>
      <p:sp>
        <p:nvSpPr>
          <p:cNvPr id="6" name="TextBox 6"/>
          <p:cNvSpPr txBox="1"/>
          <p:nvPr/>
        </p:nvSpPr>
        <p:spPr>
          <a:xfrm>
            <a:off x="11430000" y="163449"/>
            <a:ext cx="411480" cy="293751"/>
          </a:xfrm>
          <a:prstGeom prst="rect">
            <a:avLst/>
          </a:prstGeom>
        </p:spPr>
        <p:txBody>
          <a:bodyPr lIns="0" tIns="0" rIns="0" bIns="0" rtlCol="0" anchor="t">
            <a:spAutoFit/>
          </a:bodyPr>
          <a:lstStyle/>
          <a:p>
            <a:pPr algn="r">
              <a:lnSpc>
                <a:spcPts val="1680"/>
              </a:lnSpc>
            </a:pPr>
            <a:r>
              <a:rPr lang="en-US" sz="1400" b="1">
                <a:solidFill>
                  <a:srgbClr val="FFFFFF"/>
                </a:solidFill>
                <a:latin typeface="Calibri (MS) Bold"/>
                <a:ea typeface="Calibri (MS) Bold"/>
                <a:cs typeface="Calibri (MS) Bold"/>
                <a:sym typeface="Calibri (MS) Bold"/>
              </a:rPr>
              <a:t>06D</a:t>
            </a:r>
          </a:p>
        </p:txBody>
      </p:sp>
      <p:grpSp>
        <p:nvGrpSpPr>
          <p:cNvPr id="7" name="Group 7"/>
          <p:cNvGrpSpPr/>
          <p:nvPr/>
        </p:nvGrpSpPr>
        <p:grpSpPr>
          <a:xfrm>
            <a:off x="825157" y="1092518"/>
            <a:ext cx="7893314" cy="3208784"/>
            <a:chOff x="0" y="0"/>
            <a:chExt cx="6779260" cy="2755900"/>
          </a:xfrm>
        </p:grpSpPr>
        <p:sp>
          <p:nvSpPr>
            <p:cNvPr id="8" name="Freeform 8"/>
            <p:cNvSpPr/>
            <p:nvPr/>
          </p:nvSpPr>
          <p:spPr>
            <a:xfrm>
              <a:off x="0" y="0"/>
              <a:ext cx="6779260" cy="2755900"/>
            </a:xfrm>
            <a:custGeom>
              <a:avLst/>
              <a:gdLst/>
              <a:ahLst/>
              <a:cxnLst/>
              <a:rect l="l" t="t" r="r" b="b"/>
              <a:pathLst>
                <a:path w="6779260" h="2755900">
                  <a:moveTo>
                    <a:pt x="0" y="459359"/>
                  </a:moveTo>
                  <a:cubicBezTo>
                    <a:pt x="0" y="205613"/>
                    <a:pt x="205613" y="0"/>
                    <a:pt x="459359" y="0"/>
                  </a:cubicBezTo>
                  <a:lnTo>
                    <a:pt x="6319901" y="0"/>
                  </a:lnTo>
                  <a:cubicBezTo>
                    <a:pt x="6573520" y="0"/>
                    <a:pt x="6779260" y="205613"/>
                    <a:pt x="6779260" y="459359"/>
                  </a:cubicBezTo>
                  <a:lnTo>
                    <a:pt x="6779260" y="2296541"/>
                  </a:lnTo>
                  <a:cubicBezTo>
                    <a:pt x="6779260" y="2550160"/>
                    <a:pt x="6573647" y="2755900"/>
                    <a:pt x="6319901" y="2755900"/>
                  </a:cubicBezTo>
                  <a:lnTo>
                    <a:pt x="459359" y="2755900"/>
                  </a:lnTo>
                  <a:cubicBezTo>
                    <a:pt x="205613" y="2755900"/>
                    <a:pt x="0" y="2550287"/>
                    <a:pt x="0" y="2296541"/>
                  </a:cubicBezTo>
                  <a:close/>
                </a:path>
              </a:pathLst>
            </a:custGeom>
            <a:solidFill>
              <a:srgbClr val="F5F8FC"/>
            </a:solidFill>
            <a:ln w="9525" cap="sq">
              <a:solidFill>
                <a:srgbClr val="DCE6F0"/>
              </a:solidFill>
              <a:prstDash val="solid"/>
              <a:miter/>
            </a:ln>
          </p:spPr>
        </p:sp>
      </p:grpSp>
      <p:sp>
        <p:nvSpPr>
          <p:cNvPr id="9" name="TextBox 9"/>
          <p:cNvSpPr txBox="1"/>
          <p:nvPr/>
        </p:nvSpPr>
        <p:spPr>
          <a:xfrm>
            <a:off x="1230026" y="1274560"/>
            <a:ext cx="7083576" cy="421564"/>
          </a:xfrm>
          <a:prstGeom prst="rect">
            <a:avLst/>
          </a:prstGeom>
        </p:spPr>
        <p:txBody>
          <a:bodyPr lIns="0" tIns="0" rIns="0" bIns="0" rtlCol="0" anchor="t">
            <a:spAutoFit/>
          </a:bodyPr>
          <a:lstStyle/>
          <a:p>
            <a:pPr algn="l">
              <a:lnSpc>
                <a:spcPts val="3353"/>
              </a:lnSpc>
            </a:pPr>
            <a:r>
              <a:rPr lang="en-US" sz="2794" b="1">
                <a:solidFill>
                  <a:srgbClr val="003F6E"/>
                </a:solidFill>
                <a:latin typeface="Calibri (MS) Bold"/>
                <a:ea typeface="Calibri (MS) Bold"/>
                <a:cs typeface="Calibri (MS) Bold"/>
                <a:sym typeface="Calibri (MS) Bold"/>
              </a:rPr>
              <a:t>Data type validation</a:t>
            </a:r>
          </a:p>
        </p:txBody>
      </p:sp>
      <p:sp>
        <p:nvSpPr>
          <p:cNvPr id="10" name="TextBox 10"/>
          <p:cNvSpPr txBox="1"/>
          <p:nvPr/>
        </p:nvSpPr>
        <p:spPr>
          <a:xfrm>
            <a:off x="1286808" y="1956130"/>
            <a:ext cx="6970012" cy="2096454"/>
          </a:xfrm>
          <a:prstGeom prst="rect">
            <a:avLst/>
          </a:prstGeom>
        </p:spPr>
        <p:txBody>
          <a:bodyPr lIns="0" tIns="0" rIns="0" bIns="0" rtlCol="0" anchor="t">
            <a:spAutoFit/>
          </a:bodyPr>
          <a:lstStyle/>
          <a:p>
            <a:pPr algn="l">
              <a:lnSpc>
                <a:spcPts val="2421"/>
              </a:lnSpc>
            </a:pPr>
            <a:r>
              <a:rPr lang="en-US" sz="2018">
                <a:solidFill>
                  <a:srgbClr val="142337"/>
                </a:solidFill>
                <a:latin typeface="Calibri (MS)"/>
                <a:ea typeface="Calibri (MS)"/>
                <a:cs typeface="Calibri (MS)"/>
                <a:sym typeface="Calibri (MS)"/>
              </a:rPr>
              <a:t>order_date and shipping_date set as Date fields</a:t>
            </a:r>
          </a:p>
          <a:p>
            <a:pPr algn="l">
              <a:lnSpc>
                <a:spcPts val="2421"/>
              </a:lnSpc>
            </a:pPr>
            <a:r>
              <a:rPr lang="en-US" sz="2018">
                <a:solidFill>
                  <a:srgbClr val="142337"/>
                </a:solidFill>
                <a:latin typeface="Calibri (MS)"/>
                <a:ea typeface="Calibri (MS)"/>
                <a:cs typeface="Calibri (MS)"/>
                <a:sym typeface="Calibri (MS)"/>
              </a:rPr>
              <a:t>price, quantity, discount, tax and shipping cost checked as numeric fields</a:t>
            </a:r>
          </a:p>
        </p:txBody>
      </p:sp>
      <p:grpSp>
        <p:nvGrpSpPr>
          <p:cNvPr id="11" name="Group 11"/>
          <p:cNvGrpSpPr/>
          <p:nvPr/>
        </p:nvGrpSpPr>
        <p:grpSpPr>
          <a:xfrm>
            <a:off x="9413461" y="1092518"/>
            <a:ext cx="7893314" cy="3208784"/>
            <a:chOff x="0" y="0"/>
            <a:chExt cx="6779260" cy="2755900"/>
          </a:xfrm>
        </p:grpSpPr>
        <p:sp>
          <p:nvSpPr>
            <p:cNvPr id="12" name="Freeform 12"/>
            <p:cNvSpPr/>
            <p:nvPr/>
          </p:nvSpPr>
          <p:spPr>
            <a:xfrm>
              <a:off x="0" y="0"/>
              <a:ext cx="6779260" cy="2755900"/>
            </a:xfrm>
            <a:custGeom>
              <a:avLst/>
              <a:gdLst/>
              <a:ahLst/>
              <a:cxnLst/>
              <a:rect l="l" t="t" r="r" b="b"/>
              <a:pathLst>
                <a:path w="6779260" h="2755900">
                  <a:moveTo>
                    <a:pt x="0" y="459359"/>
                  </a:moveTo>
                  <a:cubicBezTo>
                    <a:pt x="0" y="205613"/>
                    <a:pt x="205613" y="0"/>
                    <a:pt x="459359" y="0"/>
                  </a:cubicBezTo>
                  <a:lnTo>
                    <a:pt x="6319901" y="0"/>
                  </a:lnTo>
                  <a:cubicBezTo>
                    <a:pt x="6573520" y="0"/>
                    <a:pt x="6779260" y="205613"/>
                    <a:pt x="6779260" y="459359"/>
                  </a:cubicBezTo>
                  <a:lnTo>
                    <a:pt x="6779260" y="2296541"/>
                  </a:lnTo>
                  <a:cubicBezTo>
                    <a:pt x="6779260" y="2550160"/>
                    <a:pt x="6573647" y="2755900"/>
                    <a:pt x="6319901" y="2755900"/>
                  </a:cubicBezTo>
                  <a:lnTo>
                    <a:pt x="459359" y="2755900"/>
                  </a:lnTo>
                  <a:cubicBezTo>
                    <a:pt x="205613" y="2755900"/>
                    <a:pt x="0" y="2550287"/>
                    <a:pt x="0" y="2296541"/>
                  </a:cubicBezTo>
                  <a:close/>
                </a:path>
              </a:pathLst>
            </a:custGeom>
            <a:solidFill>
              <a:srgbClr val="F5F8FC"/>
            </a:solidFill>
            <a:ln w="9525" cap="sq">
              <a:solidFill>
                <a:srgbClr val="DCE6F0"/>
              </a:solidFill>
              <a:prstDash val="solid"/>
              <a:miter/>
            </a:ln>
          </p:spPr>
        </p:sp>
      </p:grpSp>
      <p:sp>
        <p:nvSpPr>
          <p:cNvPr id="13" name="TextBox 13"/>
          <p:cNvSpPr txBox="1"/>
          <p:nvPr/>
        </p:nvSpPr>
        <p:spPr>
          <a:xfrm>
            <a:off x="9818330" y="1274560"/>
            <a:ext cx="7083576" cy="421564"/>
          </a:xfrm>
          <a:prstGeom prst="rect">
            <a:avLst/>
          </a:prstGeom>
        </p:spPr>
        <p:txBody>
          <a:bodyPr lIns="0" tIns="0" rIns="0" bIns="0" rtlCol="0" anchor="t">
            <a:spAutoFit/>
          </a:bodyPr>
          <a:lstStyle/>
          <a:p>
            <a:pPr algn="l">
              <a:lnSpc>
                <a:spcPts val="3353"/>
              </a:lnSpc>
            </a:pPr>
            <a:r>
              <a:rPr lang="en-US" sz="2794" b="1">
                <a:solidFill>
                  <a:srgbClr val="003F6E"/>
                </a:solidFill>
                <a:latin typeface="Calibri (MS) Bold"/>
                <a:ea typeface="Calibri (MS) Bold"/>
                <a:cs typeface="Calibri (MS) Bold"/>
                <a:sym typeface="Calibri (MS) Bold"/>
              </a:rPr>
              <a:t>Feature engineering</a:t>
            </a:r>
          </a:p>
        </p:txBody>
      </p:sp>
      <p:sp>
        <p:nvSpPr>
          <p:cNvPr id="14" name="TextBox 14"/>
          <p:cNvSpPr txBox="1"/>
          <p:nvPr/>
        </p:nvSpPr>
        <p:spPr>
          <a:xfrm>
            <a:off x="9875112" y="1956130"/>
            <a:ext cx="6970012" cy="2096454"/>
          </a:xfrm>
          <a:prstGeom prst="rect">
            <a:avLst/>
          </a:prstGeom>
        </p:spPr>
        <p:txBody>
          <a:bodyPr lIns="0" tIns="0" rIns="0" bIns="0" rtlCol="0" anchor="t">
            <a:spAutoFit/>
          </a:bodyPr>
          <a:lstStyle/>
          <a:p>
            <a:pPr algn="l">
              <a:lnSpc>
                <a:spcPts val="2421"/>
              </a:lnSpc>
            </a:pPr>
            <a:r>
              <a:rPr lang="en-US" sz="2018">
                <a:solidFill>
                  <a:srgbClr val="142337"/>
                </a:solidFill>
                <a:latin typeface="Calibri (MS)"/>
                <a:ea typeface="Calibri (MS)"/>
                <a:cs typeface="Calibri (MS)"/>
                <a:sym typeface="Calibri (MS)"/>
              </a:rPr>
              <a:t>Created Age Group and Income Group for customer segmentation</a:t>
            </a:r>
          </a:p>
          <a:p>
            <a:pPr algn="l">
              <a:lnSpc>
                <a:spcPts val="2421"/>
              </a:lnSpc>
            </a:pPr>
            <a:r>
              <a:rPr lang="en-US" sz="2018">
                <a:solidFill>
                  <a:srgbClr val="142337"/>
                </a:solidFill>
                <a:latin typeface="Calibri (MS)"/>
                <a:ea typeface="Calibri (MS)"/>
                <a:cs typeface="Calibri (MS)"/>
                <a:sym typeface="Calibri (MS)"/>
              </a:rPr>
              <a:t>Created Year, Month Name and Month Number for trend analysis</a:t>
            </a:r>
          </a:p>
        </p:txBody>
      </p:sp>
      <p:grpSp>
        <p:nvGrpSpPr>
          <p:cNvPr id="15" name="Group 15"/>
          <p:cNvGrpSpPr/>
          <p:nvPr/>
        </p:nvGrpSpPr>
        <p:grpSpPr>
          <a:xfrm>
            <a:off x="825157" y="5209225"/>
            <a:ext cx="7893314" cy="3208784"/>
            <a:chOff x="0" y="0"/>
            <a:chExt cx="6779260" cy="2755900"/>
          </a:xfrm>
        </p:grpSpPr>
        <p:sp>
          <p:nvSpPr>
            <p:cNvPr id="16" name="Freeform 16"/>
            <p:cNvSpPr/>
            <p:nvPr/>
          </p:nvSpPr>
          <p:spPr>
            <a:xfrm>
              <a:off x="0" y="0"/>
              <a:ext cx="6779260" cy="2755900"/>
            </a:xfrm>
            <a:custGeom>
              <a:avLst/>
              <a:gdLst/>
              <a:ahLst/>
              <a:cxnLst/>
              <a:rect l="l" t="t" r="r" b="b"/>
              <a:pathLst>
                <a:path w="6779260" h="2755900">
                  <a:moveTo>
                    <a:pt x="0" y="459359"/>
                  </a:moveTo>
                  <a:cubicBezTo>
                    <a:pt x="0" y="205613"/>
                    <a:pt x="205613" y="0"/>
                    <a:pt x="459359" y="0"/>
                  </a:cubicBezTo>
                  <a:lnTo>
                    <a:pt x="6319901" y="0"/>
                  </a:lnTo>
                  <a:cubicBezTo>
                    <a:pt x="6573520" y="0"/>
                    <a:pt x="6779260" y="205613"/>
                    <a:pt x="6779260" y="459359"/>
                  </a:cubicBezTo>
                  <a:lnTo>
                    <a:pt x="6779260" y="2296541"/>
                  </a:lnTo>
                  <a:cubicBezTo>
                    <a:pt x="6779260" y="2550160"/>
                    <a:pt x="6573647" y="2755900"/>
                    <a:pt x="6319901" y="2755900"/>
                  </a:cubicBezTo>
                  <a:lnTo>
                    <a:pt x="459359" y="2755900"/>
                  </a:lnTo>
                  <a:cubicBezTo>
                    <a:pt x="205613" y="2755900"/>
                    <a:pt x="0" y="2550287"/>
                    <a:pt x="0" y="2296541"/>
                  </a:cubicBezTo>
                  <a:close/>
                </a:path>
              </a:pathLst>
            </a:custGeom>
            <a:solidFill>
              <a:srgbClr val="F5F8FC"/>
            </a:solidFill>
            <a:ln w="9525" cap="sq">
              <a:solidFill>
                <a:srgbClr val="DCE6F0"/>
              </a:solidFill>
              <a:prstDash val="solid"/>
              <a:miter/>
            </a:ln>
          </p:spPr>
        </p:sp>
      </p:grpSp>
      <p:sp>
        <p:nvSpPr>
          <p:cNvPr id="17" name="TextBox 17"/>
          <p:cNvSpPr txBox="1"/>
          <p:nvPr/>
        </p:nvSpPr>
        <p:spPr>
          <a:xfrm>
            <a:off x="1230026" y="5391268"/>
            <a:ext cx="7083576" cy="421564"/>
          </a:xfrm>
          <a:prstGeom prst="rect">
            <a:avLst/>
          </a:prstGeom>
        </p:spPr>
        <p:txBody>
          <a:bodyPr lIns="0" tIns="0" rIns="0" bIns="0" rtlCol="0" anchor="t">
            <a:spAutoFit/>
          </a:bodyPr>
          <a:lstStyle/>
          <a:p>
            <a:pPr algn="l">
              <a:lnSpc>
                <a:spcPts val="3353"/>
              </a:lnSpc>
            </a:pPr>
            <a:r>
              <a:rPr lang="en-US" sz="2794" b="1">
                <a:solidFill>
                  <a:srgbClr val="003F6E"/>
                </a:solidFill>
                <a:latin typeface="Calibri (MS) Bold"/>
                <a:ea typeface="Calibri (MS) Bold"/>
                <a:cs typeface="Calibri (MS) Bold"/>
                <a:sym typeface="Calibri (MS) Bold"/>
              </a:rPr>
              <a:t>Data modelling</a:t>
            </a:r>
          </a:p>
        </p:txBody>
      </p:sp>
      <p:sp>
        <p:nvSpPr>
          <p:cNvPr id="18" name="TextBox 18"/>
          <p:cNvSpPr txBox="1"/>
          <p:nvPr/>
        </p:nvSpPr>
        <p:spPr>
          <a:xfrm>
            <a:off x="1286808" y="6072838"/>
            <a:ext cx="6970012" cy="2096454"/>
          </a:xfrm>
          <a:prstGeom prst="rect">
            <a:avLst/>
          </a:prstGeom>
        </p:spPr>
        <p:txBody>
          <a:bodyPr lIns="0" tIns="0" rIns="0" bIns="0" rtlCol="0" anchor="t">
            <a:spAutoFit/>
          </a:bodyPr>
          <a:lstStyle/>
          <a:p>
            <a:pPr algn="l">
              <a:lnSpc>
                <a:spcPts val="2421"/>
              </a:lnSpc>
            </a:pPr>
            <a:r>
              <a:rPr lang="en-US" sz="2018">
                <a:solidFill>
                  <a:srgbClr val="142337"/>
                </a:solidFill>
                <a:latin typeface="Calibri (MS)"/>
                <a:ea typeface="Calibri (MS)"/>
                <a:cs typeface="Calibri (MS)"/>
                <a:sym typeface="Calibri (MS)"/>
              </a:rPr>
              <a:t>Customer and Purchase linked by customer_id</a:t>
            </a:r>
          </a:p>
          <a:p>
            <a:pPr algn="l">
              <a:lnSpc>
                <a:spcPts val="2421"/>
              </a:lnSpc>
            </a:pPr>
            <a:r>
              <a:rPr lang="en-US" sz="2018">
                <a:solidFill>
                  <a:srgbClr val="142337"/>
                </a:solidFill>
                <a:latin typeface="Calibri (MS)"/>
                <a:ea typeface="Calibri (MS)"/>
                <a:cs typeface="Calibri (MS)"/>
                <a:sym typeface="Calibri (MS)"/>
              </a:rPr>
              <a:t>One-to-many relationship supports demographic sales analysis</a:t>
            </a:r>
          </a:p>
        </p:txBody>
      </p:sp>
      <p:grpSp>
        <p:nvGrpSpPr>
          <p:cNvPr id="19" name="Group 19"/>
          <p:cNvGrpSpPr/>
          <p:nvPr/>
        </p:nvGrpSpPr>
        <p:grpSpPr>
          <a:xfrm>
            <a:off x="9413461" y="5209225"/>
            <a:ext cx="7893314" cy="3208784"/>
            <a:chOff x="0" y="0"/>
            <a:chExt cx="6779260" cy="2755900"/>
          </a:xfrm>
        </p:grpSpPr>
        <p:sp>
          <p:nvSpPr>
            <p:cNvPr id="20" name="Freeform 20"/>
            <p:cNvSpPr/>
            <p:nvPr/>
          </p:nvSpPr>
          <p:spPr>
            <a:xfrm>
              <a:off x="0" y="0"/>
              <a:ext cx="6779260" cy="2755900"/>
            </a:xfrm>
            <a:custGeom>
              <a:avLst/>
              <a:gdLst/>
              <a:ahLst/>
              <a:cxnLst/>
              <a:rect l="l" t="t" r="r" b="b"/>
              <a:pathLst>
                <a:path w="6779260" h="2755900">
                  <a:moveTo>
                    <a:pt x="0" y="459359"/>
                  </a:moveTo>
                  <a:cubicBezTo>
                    <a:pt x="0" y="205613"/>
                    <a:pt x="205613" y="0"/>
                    <a:pt x="459359" y="0"/>
                  </a:cubicBezTo>
                  <a:lnTo>
                    <a:pt x="6319901" y="0"/>
                  </a:lnTo>
                  <a:cubicBezTo>
                    <a:pt x="6573520" y="0"/>
                    <a:pt x="6779260" y="205613"/>
                    <a:pt x="6779260" y="459359"/>
                  </a:cubicBezTo>
                  <a:lnTo>
                    <a:pt x="6779260" y="2296541"/>
                  </a:lnTo>
                  <a:cubicBezTo>
                    <a:pt x="6779260" y="2550160"/>
                    <a:pt x="6573647" y="2755900"/>
                    <a:pt x="6319901" y="2755900"/>
                  </a:cubicBezTo>
                  <a:lnTo>
                    <a:pt x="459359" y="2755900"/>
                  </a:lnTo>
                  <a:cubicBezTo>
                    <a:pt x="205613" y="2755900"/>
                    <a:pt x="0" y="2550287"/>
                    <a:pt x="0" y="2296541"/>
                  </a:cubicBezTo>
                  <a:close/>
                </a:path>
              </a:pathLst>
            </a:custGeom>
            <a:solidFill>
              <a:srgbClr val="F5F8FC"/>
            </a:solidFill>
            <a:ln w="9525" cap="sq">
              <a:solidFill>
                <a:srgbClr val="DCE6F0"/>
              </a:solidFill>
              <a:prstDash val="solid"/>
              <a:miter/>
            </a:ln>
          </p:spPr>
        </p:sp>
      </p:grpSp>
      <p:sp>
        <p:nvSpPr>
          <p:cNvPr id="21" name="TextBox 21"/>
          <p:cNvSpPr txBox="1"/>
          <p:nvPr/>
        </p:nvSpPr>
        <p:spPr>
          <a:xfrm>
            <a:off x="9818330" y="5391268"/>
            <a:ext cx="7083576" cy="421564"/>
          </a:xfrm>
          <a:prstGeom prst="rect">
            <a:avLst/>
          </a:prstGeom>
        </p:spPr>
        <p:txBody>
          <a:bodyPr lIns="0" tIns="0" rIns="0" bIns="0" rtlCol="0" anchor="t">
            <a:spAutoFit/>
          </a:bodyPr>
          <a:lstStyle/>
          <a:p>
            <a:pPr algn="l">
              <a:lnSpc>
                <a:spcPts val="3353"/>
              </a:lnSpc>
            </a:pPr>
            <a:r>
              <a:rPr lang="en-US" sz="2794" b="1">
                <a:solidFill>
                  <a:srgbClr val="003F6E"/>
                </a:solidFill>
                <a:latin typeface="Calibri (MS) Bold"/>
                <a:ea typeface="Calibri (MS) Bold"/>
                <a:cs typeface="Calibri (MS) Bold"/>
                <a:sym typeface="Calibri (MS) Bold"/>
              </a:rPr>
              <a:t>Dashboard validation</a:t>
            </a:r>
          </a:p>
        </p:txBody>
      </p:sp>
      <p:sp>
        <p:nvSpPr>
          <p:cNvPr id="22" name="TextBox 22"/>
          <p:cNvSpPr txBox="1"/>
          <p:nvPr/>
        </p:nvSpPr>
        <p:spPr>
          <a:xfrm>
            <a:off x="9875112" y="6072838"/>
            <a:ext cx="6970012" cy="2096454"/>
          </a:xfrm>
          <a:prstGeom prst="rect">
            <a:avLst/>
          </a:prstGeom>
        </p:spPr>
        <p:txBody>
          <a:bodyPr lIns="0" tIns="0" rIns="0" bIns="0" rtlCol="0" anchor="t">
            <a:spAutoFit/>
          </a:bodyPr>
          <a:lstStyle/>
          <a:p>
            <a:pPr algn="l">
              <a:lnSpc>
                <a:spcPts val="2421"/>
              </a:lnSpc>
            </a:pPr>
            <a:r>
              <a:rPr lang="en-US" sz="2018">
                <a:solidFill>
                  <a:srgbClr val="142337"/>
                </a:solidFill>
                <a:latin typeface="Calibri (MS)"/>
                <a:ea typeface="Calibri (MS)"/>
                <a:cs typeface="Calibri (MS)"/>
                <a:sym typeface="Calibri (MS)"/>
              </a:rPr>
              <a:t>KPIs and charts tested with slicers</a:t>
            </a:r>
          </a:p>
          <a:p>
            <a:pPr algn="l">
              <a:lnSpc>
                <a:spcPts val="2421"/>
              </a:lnSpc>
            </a:pPr>
            <a:r>
              <a:rPr lang="en-US" sz="2018">
                <a:solidFill>
                  <a:srgbClr val="142337"/>
                </a:solidFill>
                <a:latin typeface="Calibri (MS)"/>
                <a:ea typeface="Calibri (MS)"/>
                <a:cs typeface="Calibri (MS)"/>
                <a:sym typeface="Calibri (MS)"/>
              </a:rPr>
              <a:t>Month Name sorted by Month Number to avoid alphabetical month order</a:t>
            </a:r>
          </a:p>
        </p:txBody>
      </p:sp>
      <p:grpSp>
        <p:nvGrpSpPr>
          <p:cNvPr id="23" name="Group 23"/>
          <p:cNvGrpSpPr/>
          <p:nvPr/>
        </p:nvGrpSpPr>
        <p:grpSpPr>
          <a:xfrm>
            <a:off x="1676890" y="8829089"/>
            <a:ext cx="15062064" cy="511631"/>
            <a:chOff x="0" y="0"/>
            <a:chExt cx="12936220" cy="439420"/>
          </a:xfrm>
        </p:grpSpPr>
        <p:sp>
          <p:nvSpPr>
            <p:cNvPr id="24" name="Freeform 24"/>
            <p:cNvSpPr/>
            <p:nvPr/>
          </p:nvSpPr>
          <p:spPr>
            <a:xfrm>
              <a:off x="0" y="0"/>
              <a:ext cx="12936220" cy="439420"/>
            </a:xfrm>
            <a:custGeom>
              <a:avLst/>
              <a:gdLst/>
              <a:ahLst/>
              <a:cxnLst/>
              <a:rect l="l" t="t" r="r" b="b"/>
              <a:pathLst>
                <a:path w="12936220" h="439420">
                  <a:moveTo>
                    <a:pt x="0" y="73279"/>
                  </a:moveTo>
                  <a:cubicBezTo>
                    <a:pt x="0" y="32766"/>
                    <a:pt x="32766" y="0"/>
                    <a:pt x="73279" y="0"/>
                  </a:cubicBezTo>
                  <a:lnTo>
                    <a:pt x="12862941" y="0"/>
                  </a:lnTo>
                  <a:cubicBezTo>
                    <a:pt x="12903327" y="0"/>
                    <a:pt x="12936220" y="32766"/>
                    <a:pt x="12936220" y="73279"/>
                  </a:cubicBezTo>
                  <a:lnTo>
                    <a:pt x="12936220" y="366141"/>
                  </a:lnTo>
                  <a:cubicBezTo>
                    <a:pt x="12936220" y="406527"/>
                    <a:pt x="12903454" y="439420"/>
                    <a:pt x="12862941" y="439420"/>
                  </a:cubicBezTo>
                  <a:lnTo>
                    <a:pt x="73279" y="439420"/>
                  </a:lnTo>
                  <a:cubicBezTo>
                    <a:pt x="32766" y="439420"/>
                    <a:pt x="0" y="406654"/>
                    <a:pt x="0" y="366141"/>
                  </a:cubicBezTo>
                  <a:close/>
                </a:path>
              </a:pathLst>
            </a:custGeom>
            <a:solidFill>
              <a:srgbClr val="E6F0FA"/>
            </a:solidFill>
            <a:ln w="9525" cap="sq">
              <a:solidFill>
                <a:srgbClr val="E6F0FA"/>
              </a:solidFill>
              <a:prstDash val="solid"/>
              <a:miter/>
            </a:ln>
          </p:spPr>
        </p:sp>
      </p:grpSp>
      <p:sp>
        <p:nvSpPr>
          <p:cNvPr id="25" name="TextBox 25"/>
          <p:cNvSpPr txBox="1"/>
          <p:nvPr/>
        </p:nvSpPr>
        <p:spPr>
          <a:xfrm>
            <a:off x="2039172" y="8945192"/>
            <a:ext cx="14195544" cy="246179"/>
          </a:xfrm>
          <a:prstGeom prst="rect">
            <a:avLst/>
          </a:prstGeom>
        </p:spPr>
        <p:txBody>
          <a:bodyPr lIns="0" tIns="0" rIns="0" bIns="0" rtlCol="0" anchor="t">
            <a:spAutoFit/>
          </a:bodyPr>
          <a:lstStyle/>
          <a:p>
            <a:pPr algn="ctr">
              <a:lnSpc>
                <a:spcPts val="1862"/>
              </a:lnSpc>
            </a:pPr>
            <a:r>
              <a:rPr lang="en-US" sz="1552" b="1">
                <a:solidFill>
                  <a:srgbClr val="003F6E"/>
                </a:solidFill>
                <a:latin typeface="Calibri (MS) Bold"/>
                <a:ea typeface="Calibri (MS) Bold"/>
                <a:cs typeface="Calibri (MS) Bold"/>
                <a:sym typeface="Calibri (MS) Bold"/>
              </a:rPr>
              <a:t>Key message: The dashboard was built from cleaned, transformed and modelled data — not from raw tables alone.</a:t>
            </a:r>
          </a:p>
        </p:txBody>
      </p:sp>
      <p:sp>
        <p:nvSpPr>
          <p:cNvPr id="26" name="TextBox 26"/>
          <p:cNvSpPr txBox="1"/>
          <p:nvPr/>
        </p:nvSpPr>
        <p:spPr>
          <a:xfrm>
            <a:off x="548640" y="9569796"/>
            <a:ext cx="13485767" cy="274570"/>
          </a:xfrm>
          <a:prstGeom prst="rect">
            <a:avLst/>
          </a:prstGeom>
        </p:spPr>
        <p:txBody>
          <a:bodyPr lIns="0" tIns="0" rIns="0" bIns="0" rtlCol="0" anchor="t">
            <a:spAutoFit/>
          </a:bodyPr>
          <a:lstStyle/>
          <a:p>
            <a:pPr algn="l">
              <a:lnSpc>
                <a:spcPts val="1490"/>
              </a:lnSpc>
            </a:pPr>
            <a:r>
              <a:rPr lang="en-US" sz="1241">
                <a:solidFill>
                  <a:srgbClr val="5F6E7D"/>
                </a:solidFill>
                <a:latin typeface="Calibri (MS)"/>
                <a:ea typeface="Calibri (MS)"/>
                <a:cs typeface="Calibri (MS)"/>
                <a:sym typeface="Calibri (MS)"/>
              </a:rPr>
              <a:t>Mohamed Heriyanto Bin Jamal Mohamed - Power BI Business Analytics Capstone Project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DAX Measures Created</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Measures calculate results dynamically based on slicer selections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60120" y="2263140"/>
            <a:ext cx="8778240" cy="5760720"/>
            <a:chOff x="0" y="0"/>
            <a:chExt cx="11704320" cy="7680960"/>
          </a:xfrm>
        </p:grpSpPr>
        <p:sp>
          <p:nvSpPr>
            <p:cNvPr id="13" name="Freeform 13"/>
            <p:cNvSpPr/>
            <p:nvPr/>
          </p:nvSpPr>
          <p:spPr>
            <a:xfrm>
              <a:off x="0" y="0"/>
              <a:ext cx="11704320" cy="7680960"/>
            </a:xfrm>
            <a:custGeom>
              <a:avLst/>
              <a:gdLst/>
              <a:ahLst/>
              <a:cxnLst/>
              <a:rect l="l" t="t" r="r" b="b"/>
              <a:pathLst>
                <a:path w="11704320" h="7680960">
                  <a:moveTo>
                    <a:pt x="0" y="0"/>
                  </a:moveTo>
                  <a:lnTo>
                    <a:pt x="11704320" y="0"/>
                  </a:lnTo>
                  <a:lnTo>
                    <a:pt x="11704320" y="7680960"/>
                  </a:lnTo>
                  <a:lnTo>
                    <a:pt x="0" y="7680960"/>
                  </a:lnTo>
                  <a:close/>
                </a:path>
              </a:pathLst>
            </a:custGeom>
            <a:blipFill>
              <a:blip r:embed="rId2">
                <a:alphaModFix amt="0"/>
              </a:blip>
              <a:stretch>
                <a:fillRect l="-34199" r="-34199"/>
              </a:stretch>
            </a:blipFill>
          </p:spPr>
        </p:sp>
        <p:sp>
          <p:nvSpPr>
            <p:cNvPr id="14" name="TextBox 14"/>
            <p:cNvSpPr txBox="1"/>
            <p:nvPr/>
          </p:nvSpPr>
          <p:spPr>
            <a:xfrm>
              <a:off x="0" y="0"/>
              <a:ext cx="11704320" cy="768096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Total Revenue: </a:t>
              </a:r>
              <a:r>
                <a:rPr lang="en-US" sz="2550">
                  <a:solidFill>
                    <a:srgbClr val="1F2937"/>
                  </a:solidFill>
                  <a:latin typeface="Aptos"/>
                  <a:ea typeface="Aptos"/>
                  <a:cs typeface="Aptos"/>
                  <a:sym typeface="Aptos"/>
                </a:rPr>
                <a:t>Main performance metric used across executive, product and trend pages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Total Orders: </a:t>
              </a:r>
              <a:r>
                <a:rPr lang="en-US" sz="2550">
                  <a:solidFill>
                    <a:srgbClr val="1F2937"/>
                  </a:solidFill>
                  <a:latin typeface="Aptos"/>
                  <a:ea typeface="Aptos"/>
                  <a:cs typeface="Aptos"/>
                  <a:sym typeface="Aptos"/>
                </a:rPr>
                <a:t>Counts purchase activity and supports order trend analysis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Total Customers: </a:t>
              </a:r>
              <a:r>
                <a:rPr lang="en-US" sz="2550">
                  <a:solidFill>
                    <a:srgbClr val="1F2937"/>
                  </a:solidFill>
                  <a:latin typeface="Aptos"/>
                  <a:ea typeface="Aptos"/>
                  <a:cs typeface="Aptos"/>
                  <a:sym typeface="Aptos"/>
                </a:rPr>
                <a:t>Measures the size of customer base after filtering</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Average Order Value: </a:t>
              </a:r>
              <a:r>
                <a:rPr lang="en-US" sz="2550">
                  <a:solidFill>
                    <a:srgbClr val="1F2937"/>
                  </a:solidFill>
                  <a:latin typeface="Aptos"/>
                  <a:ea typeface="Aptos"/>
                  <a:cs typeface="Aptos"/>
                  <a:sym typeface="Aptos"/>
                </a:rPr>
                <a:t>Shows average spending per order and supports customer value analysis</a:t>
              </a:r>
            </a:p>
            <a:p>
              <a:pPr algn="l">
                <a:lnSpc>
                  <a:spcPts val="3060"/>
                </a:lnSpc>
              </a:pPr>
              <a:endParaRPr lang="en-US" sz="2550">
                <a:solidFill>
                  <a:srgbClr val="1F2937"/>
                </a:solidFill>
                <a:latin typeface="Aptos"/>
                <a:ea typeface="Aptos"/>
                <a:cs typeface="Aptos"/>
                <a:sym typeface="Aptos"/>
              </a:endParaRPr>
            </a:p>
            <a:p>
              <a:pPr algn="l">
                <a:lnSpc>
                  <a:spcPts val="3060"/>
                </a:lnSpc>
              </a:pPr>
              <a:endParaRPr lang="en-US" sz="2550">
                <a:solidFill>
                  <a:srgbClr val="1F2937"/>
                </a:solidFill>
                <a:latin typeface="Aptos"/>
                <a:ea typeface="Aptos"/>
                <a:cs typeface="Aptos"/>
                <a:sym typeface="Aptos"/>
              </a:endParaRPr>
            </a:p>
          </p:txBody>
        </p:sp>
      </p:grpSp>
      <p:grpSp>
        <p:nvGrpSpPr>
          <p:cNvPr id="15" name="Group 15"/>
          <p:cNvGrpSpPr/>
          <p:nvPr/>
        </p:nvGrpSpPr>
        <p:grpSpPr>
          <a:xfrm>
            <a:off x="10356098" y="2846070"/>
            <a:ext cx="6035040" cy="480060"/>
            <a:chOff x="0" y="0"/>
            <a:chExt cx="8046720" cy="640080"/>
          </a:xfrm>
        </p:grpSpPr>
        <p:sp>
          <p:nvSpPr>
            <p:cNvPr id="16" name="Freeform 16"/>
            <p:cNvSpPr/>
            <p:nvPr/>
          </p:nvSpPr>
          <p:spPr>
            <a:xfrm>
              <a:off x="0" y="0"/>
              <a:ext cx="8046720" cy="640080"/>
            </a:xfrm>
            <a:custGeom>
              <a:avLst/>
              <a:gdLst/>
              <a:ahLst/>
              <a:cxnLst/>
              <a:rect l="l" t="t" r="r" b="b"/>
              <a:pathLst>
                <a:path w="8046720" h="640080">
                  <a:moveTo>
                    <a:pt x="0" y="0"/>
                  </a:moveTo>
                  <a:lnTo>
                    <a:pt x="8046720" y="0"/>
                  </a:lnTo>
                  <a:lnTo>
                    <a:pt x="8046720" y="640080"/>
                  </a:lnTo>
                  <a:lnTo>
                    <a:pt x="0" y="640080"/>
                  </a:lnTo>
                  <a:close/>
                </a:path>
              </a:pathLst>
            </a:custGeom>
            <a:blipFill>
              <a:blip r:embed="rId2">
                <a:alphaModFix amt="0"/>
              </a:blip>
              <a:stretch>
                <a:fillRect t="-194954" b="-194954"/>
              </a:stretch>
            </a:blipFill>
          </p:spPr>
        </p:sp>
        <p:sp>
          <p:nvSpPr>
            <p:cNvPr id="17" name="TextBox 17"/>
            <p:cNvSpPr txBox="1"/>
            <p:nvPr/>
          </p:nvSpPr>
          <p:spPr>
            <a:xfrm>
              <a:off x="0" y="0"/>
              <a:ext cx="8046720" cy="640080"/>
            </a:xfrm>
            <a:prstGeom prst="rect">
              <a:avLst/>
            </a:prstGeom>
          </p:spPr>
          <p:txBody>
            <a:bodyPr lIns="0" tIns="0" rIns="0" bIns="0" rtlCol="0" anchor="ctr"/>
            <a:lstStyle/>
            <a:p>
              <a:pPr algn="ctr">
                <a:lnSpc>
                  <a:spcPts val="4320"/>
                </a:lnSpc>
              </a:pPr>
              <a:r>
                <a:rPr lang="en-US" sz="3600" b="1">
                  <a:solidFill>
                    <a:srgbClr val="0B2447"/>
                  </a:solidFill>
                  <a:latin typeface="Aptos Bold"/>
                  <a:ea typeface="Aptos Bold"/>
                  <a:cs typeface="Aptos Bold"/>
                  <a:sym typeface="Aptos Bold"/>
                </a:rPr>
                <a:t>Why measures?</a:t>
              </a:r>
            </a:p>
          </p:txBody>
        </p:sp>
      </p:grpSp>
      <p:grpSp>
        <p:nvGrpSpPr>
          <p:cNvPr id="18" name="Group 18"/>
          <p:cNvGrpSpPr/>
          <p:nvPr/>
        </p:nvGrpSpPr>
        <p:grpSpPr>
          <a:xfrm>
            <a:off x="10492740" y="3086100"/>
            <a:ext cx="6309360" cy="4526280"/>
            <a:chOff x="0" y="0"/>
            <a:chExt cx="8412480" cy="6035040"/>
          </a:xfrm>
        </p:grpSpPr>
        <p:sp>
          <p:nvSpPr>
            <p:cNvPr id="19" name="Freeform 19"/>
            <p:cNvSpPr/>
            <p:nvPr/>
          </p:nvSpPr>
          <p:spPr>
            <a:xfrm>
              <a:off x="0" y="0"/>
              <a:ext cx="8412480" cy="6035040"/>
            </a:xfrm>
            <a:custGeom>
              <a:avLst/>
              <a:gdLst/>
              <a:ahLst/>
              <a:cxnLst/>
              <a:rect l="l" t="t" r="r" b="b"/>
              <a:pathLst>
                <a:path w="8412480" h="6035040">
                  <a:moveTo>
                    <a:pt x="0" y="0"/>
                  </a:moveTo>
                  <a:lnTo>
                    <a:pt x="8412480" y="0"/>
                  </a:lnTo>
                  <a:lnTo>
                    <a:pt x="8412480" y="6035040"/>
                  </a:lnTo>
                  <a:lnTo>
                    <a:pt x="0" y="6035040"/>
                  </a:lnTo>
                  <a:close/>
                </a:path>
              </a:pathLst>
            </a:custGeom>
            <a:blipFill>
              <a:blip r:embed="rId2">
                <a:alphaModFix amt="0"/>
              </a:blip>
              <a:stretch>
                <a:fillRect l="-42043" r="-42043"/>
              </a:stretch>
            </a:blipFill>
          </p:spPr>
        </p:sp>
        <p:sp>
          <p:nvSpPr>
            <p:cNvPr id="20" name="TextBox 20"/>
            <p:cNvSpPr txBox="1"/>
            <p:nvPr/>
          </p:nvSpPr>
          <p:spPr>
            <a:xfrm>
              <a:off x="0" y="0"/>
              <a:ext cx="8412480" cy="6035040"/>
            </a:xfrm>
            <a:prstGeom prst="rect">
              <a:avLst/>
            </a:prstGeom>
          </p:spPr>
          <p:txBody>
            <a:bodyPr lIns="0" tIns="0" rIns="0" bIns="0" rtlCol="0" anchor="ctr"/>
            <a:lstStyle/>
            <a:p>
              <a:pPr marL="550545" lvl="1" indent="-275272" algn="l">
                <a:lnSpc>
                  <a:spcPts val="3060"/>
                </a:lnSpc>
                <a:buFont typeface="Arial"/>
                <a:buChar char="•"/>
              </a:pPr>
              <a:r>
                <a:rPr lang="en-US" sz="2550">
                  <a:solidFill>
                    <a:srgbClr val="1F2937"/>
                  </a:solidFill>
                  <a:latin typeface="Aptos"/>
                  <a:ea typeface="Aptos"/>
                  <a:cs typeface="Aptos"/>
                  <a:sym typeface="Aptos"/>
                </a:rPr>
                <a:t>Measures respond automatically to slicers.</a:t>
              </a:r>
            </a:p>
            <a:p>
              <a:pPr marL="550545" lvl="1" indent="-275272" algn="l">
                <a:lnSpc>
                  <a:spcPts val="3060"/>
                </a:lnSpc>
                <a:buFont typeface="Arial"/>
                <a:buChar char="•"/>
              </a:pPr>
              <a:r>
                <a:rPr lang="en-US" sz="2550">
                  <a:solidFill>
                    <a:srgbClr val="1F2937"/>
                  </a:solidFill>
                  <a:latin typeface="Aptos"/>
                  <a:ea typeface="Aptos"/>
                  <a:cs typeface="Aptos"/>
                  <a:sym typeface="Aptos"/>
                </a:rPr>
                <a:t>They avoid storing unnecessary calculated values in every row.</a:t>
              </a:r>
            </a:p>
            <a:p>
              <a:pPr marL="550545" lvl="1" indent="-275272" algn="l">
                <a:lnSpc>
                  <a:spcPts val="3060"/>
                </a:lnSpc>
                <a:buFont typeface="Arial"/>
                <a:buChar char="•"/>
              </a:pPr>
              <a:r>
                <a:rPr lang="en-US" sz="2550">
                  <a:solidFill>
                    <a:srgbClr val="1F2937"/>
                  </a:solidFill>
                  <a:latin typeface="Aptos"/>
                  <a:ea typeface="Aptos"/>
                  <a:cs typeface="Aptos"/>
                  <a:sym typeface="Aptos"/>
                </a:rPr>
                <a:t>They allow the same metric to be reused across multiple visuals.</a:t>
              </a:r>
            </a:p>
            <a:p>
              <a:pPr marL="550545" lvl="1" indent="-275272" algn="l">
                <a:lnSpc>
                  <a:spcPts val="3060"/>
                </a:lnSpc>
                <a:buFont typeface="Arial"/>
                <a:buChar char="•"/>
              </a:pPr>
              <a:r>
                <a:rPr lang="en-US" sz="2550">
                  <a:solidFill>
                    <a:srgbClr val="1F2937"/>
                  </a:solidFill>
                  <a:latin typeface="Aptos"/>
                  <a:ea typeface="Aptos"/>
                  <a:cs typeface="Aptos"/>
                  <a:sym typeface="Aptos"/>
                </a:rPr>
                <a:t>They are standard practice in Power BI reporting.</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Calculated Columns Created</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Columns were used for grouping and sorting categorical analysis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2057400"/>
            <a:ext cx="8915400" cy="6172200"/>
            <a:chOff x="0" y="0"/>
            <a:chExt cx="11887200" cy="8229600"/>
          </a:xfrm>
        </p:grpSpPr>
        <p:sp>
          <p:nvSpPr>
            <p:cNvPr id="13" name="Freeform 13"/>
            <p:cNvSpPr/>
            <p:nvPr/>
          </p:nvSpPr>
          <p:spPr>
            <a:xfrm>
              <a:off x="0" y="0"/>
              <a:ext cx="11887200" cy="8229600"/>
            </a:xfrm>
            <a:custGeom>
              <a:avLst/>
              <a:gdLst/>
              <a:ahLst/>
              <a:cxnLst/>
              <a:rect l="l" t="t" r="r" b="b"/>
              <a:pathLst>
                <a:path w="11887200" h="8229600">
                  <a:moveTo>
                    <a:pt x="0" y="0"/>
                  </a:moveTo>
                  <a:lnTo>
                    <a:pt x="11887200" y="0"/>
                  </a:lnTo>
                  <a:lnTo>
                    <a:pt x="11887200" y="8229600"/>
                  </a:lnTo>
                  <a:lnTo>
                    <a:pt x="0" y="8229600"/>
                  </a:lnTo>
                  <a:close/>
                </a:path>
              </a:pathLst>
            </a:custGeom>
            <a:blipFill>
              <a:blip r:embed="rId2">
                <a:alphaModFix amt="0"/>
              </a:blip>
              <a:stretch>
                <a:fillRect l="-38825" r="-38825"/>
              </a:stretch>
            </a:blipFill>
          </p:spPr>
        </p:sp>
        <p:sp>
          <p:nvSpPr>
            <p:cNvPr id="14" name="TextBox 14"/>
            <p:cNvSpPr txBox="1"/>
            <p:nvPr/>
          </p:nvSpPr>
          <p:spPr>
            <a:xfrm>
              <a:off x="0" y="0"/>
              <a:ext cx="11887200" cy="82296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Age Group: </a:t>
              </a:r>
              <a:r>
                <a:rPr lang="en-US" sz="2550">
                  <a:solidFill>
                    <a:srgbClr val="1F2937"/>
                  </a:solidFill>
                  <a:latin typeface="Aptos"/>
                  <a:ea typeface="Aptos"/>
                  <a:cs typeface="Aptos"/>
                  <a:sym typeface="Aptos"/>
                </a:rPr>
                <a:t>Groups customers into meaningful age segments for comparison</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Age Group Sort: </a:t>
              </a:r>
              <a:r>
                <a:rPr lang="en-US" sz="2550">
                  <a:solidFill>
                    <a:srgbClr val="1F2937"/>
                  </a:solidFill>
                  <a:latin typeface="Aptos"/>
                  <a:ea typeface="Aptos"/>
                  <a:cs typeface="Aptos"/>
                  <a:sym typeface="Aptos"/>
                </a:rPr>
                <a:t>Ensures age groups appear in logical order</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Income Group: </a:t>
              </a:r>
              <a:r>
                <a:rPr lang="en-US" sz="2550">
                  <a:solidFill>
                    <a:srgbClr val="1F2937"/>
                  </a:solidFill>
                  <a:latin typeface="Aptos"/>
                  <a:ea typeface="Aptos"/>
                  <a:cs typeface="Aptos"/>
                  <a:sym typeface="Aptos"/>
                </a:rPr>
                <a:t>Segments customers into low, middle and high income categories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Income Group Sort: </a:t>
              </a:r>
              <a:r>
                <a:rPr lang="en-US" sz="2550">
                  <a:solidFill>
                    <a:srgbClr val="1F2937"/>
                  </a:solidFill>
                  <a:latin typeface="Aptos"/>
                  <a:ea typeface="Aptos"/>
                  <a:cs typeface="Aptos"/>
                  <a:sym typeface="Aptos"/>
                </a:rPr>
                <a:t>Ensures income groups appear from low to high</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Year, Month Name, Month Number: </a:t>
              </a:r>
              <a:r>
                <a:rPr lang="en-US" sz="2550">
                  <a:solidFill>
                    <a:srgbClr val="1F2937"/>
                  </a:solidFill>
                  <a:latin typeface="Aptos"/>
                  <a:ea typeface="Aptos"/>
                  <a:cs typeface="Aptos"/>
                  <a:sym typeface="Aptos"/>
                </a:rPr>
                <a:t>Supports time-based trend analysis and correct month ordering</a:t>
              </a:r>
            </a:p>
            <a:p>
              <a:pPr algn="l">
                <a:lnSpc>
                  <a:spcPts val="3060"/>
                </a:lnSpc>
              </a:pPr>
              <a:endParaRPr lang="en-US" sz="2550">
                <a:solidFill>
                  <a:srgbClr val="1F2937"/>
                </a:solidFill>
                <a:latin typeface="Aptos"/>
                <a:ea typeface="Aptos"/>
                <a:cs typeface="Aptos"/>
                <a:sym typeface="Aptos"/>
              </a:endParaRPr>
            </a:p>
          </p:txBody>
        </p:sp>
      </p:grpSp>
      <p:grpSp>
        <p:nvGrpSpPr>
          <p:cNvPr id="15" name="Group 15"/>
          <p:cNvGrpSpPr/>
          <p:nvPr/>
        </p:nvGrpSpPr>
        <p:grpSpPr>
          <a:xfrm>
            <a:off x="10972800" y="2880360"/>
            <a:ext cx="5349240" cy="480060"/>
            <a:chOff x="0" y="0"/>
            <a:chExt cx="7132320" cy="640080"/>
          </a:xfrm>
        </p:grpSpPr>
        <p:sp>
          <p:nvSpPr>
            <p:cNvPr id="16" name="Freeform 16"/>
            <p:cNvSpPr/>
            <p:nvPr/>
          </p:nvSpPr>
          <p:spPr>
            <a:xfrm>
              <a:off x="0" y="0"/>
              <a:ext cx="7132320" cy="640080"/>
            </a:xfrm>
            <a:custGeom>
              <a:avLst/>
              <a:gdLst/>
              <a:ahLst/>
              <a:cxnLst/>
              <a:rect l="l" t="t" r="r" b="b"/>
              <a:pathLst>
                <a:path w="7132320" h="640080">
                  <a:moveTo>
                    <a:pt x="0" y="0"/>
                  </a:moveTo>
                  <a:lnTo>
                    <a:pt x="7132320" y="0"/>
                  </a:lnTo>
                  <a:lnTo>
                    <a:pt x="7132320" y="640080"/>
                  </a:lnTo>
                  <a:lnTo>
                    <a:pt x="0" y="640080"/>
                  </a:lnTo>
                  <a:close/>
                </a:path>
              </a:pathLst>
            </a:custGeom>
            <a:blipFill>
              <a:blip r:embed="rId2">
                <a:alphaModFix amt="0"/>
              </a:blip>
              <a:stretch>
                <a:fillRect t="-167118" b="-167118"/>
              </a:stretch>
            </a:blipFill>
          </p:spPr>
        </p:sp>
        <p:sp>
          <p:nvSpPr>
            <p:cNvPr id="17" name="TextBox 17"/>
            <p:cNvSpPr txBox="1"/>
            <p:nvPr/>
          </p:nvSpPr>
          <p:spPr>
            <a:xfrm>
              <a:off x="0" y="0"/>
              <a:ext cx="7132320" cy="640080"/>
            </a:xfrm>
            <a:prstGeom prst="rect">
              <a:avLst/>
            </a:prstGeom>
          </p:spPr>
          <p:txBody>
            <a:bodyPr lIns="0" tIns="0" rIns="0" bIns="0" rtlCol="0" anchor="ctr"/>
            <a:lstStyle/>
            <a:p>
              <a:pPr algn="ctr">
                <a:lnSpc>
                  <a:spcPts val="4320"/>
                </a:lnSpc>
              </a:pPr>
              <a:r>
                <a:rPr lang="en-US" sz="3600" b="1">
                  <a:solidFill>
                    <a:srgbClr val="0B2447"/>
                  </a:solidFill>
                  <a:latin typeface="Aptos Bold"/>
                  <a:ea typeface="Aptos Bold"/>
                  <a:cs typeface="Aptos Bold"/>
                  <a:sym typeface="Aptos Bold"/>
                </a:rPr>
                <a:t>Why columns here?</a:t>
              </a:r>
            </a:p>
          </p:txBody>
        </p:sp>
      </p:grpSp>
      <p:grpSp>
        <p:nvGrpSpPr>
          <p:cNvPr id="18" name="Group 18"/>
          <p:cNvGrpSpPr/>
          <p:nvPr/>
        </p:nvGrpSpPr>
        <p:grpSpPr>
          <a:xfrm>
            <a:off x="10355580" y="3771900"/>
            <a:ext cx="6583680" cy="1920240"/>
            <a:chOff x="0" y="0"/>
            <a:chExt cx="8778240" cy="2560320"/>
          </a:xfrm>
        </p:grpSpPr>
        <p:sp>
          <p:nvSpPr>
            <p:cNvPr id="19" name="Freeform 19"/>
            <p:cNvSpPr/>
            <p:nvPr/>
          </p:nvSpPr>
          <p:spPr>
            <a:xfrm>
              <a:off x="0" y="0"/>
              <a:ext cx="8778240" cy="2560320"/>
            </a:xfrm>
            <a:custGeom>
              <a:avLst/>
              <a:gdLst/>
              <a:ahLst/>
              <a:cxnLst/>
              <a:rect l="l" t="t" r="r" b="b"/>
              <a:pathLst>
                <a:path w="8778240" h="2560320">
                  <a:moveTo>
                    <a:pt x="0" y="0"/>
                  </a:moveTo>
                  <a:lnTo>
                    <a:pt x="8778240" y="0"/>
                  </a:lnTo>
                  <a:lnTo>
                    <a:pt x="8778240" y="2560320"/>
                  </a:lnTo>
                  <a:lnTo>
                    <a:pt x="0" y="2560320"/>
                  </a:lnTo>
                  <a:close/>
                </a:path>
              </a:pathLst>
            </a:custGeom>
            <a:blipFill>
              <a:blip r:embed="rId2">
                <a:alphaModFix amt="0"/>
              </a:blip>
              <a:stretch>
                <a:fillRect t="-16805" b="-16805"/>
              </a:stretch>
            </a:blipFill>
          </p:spPr>
        </p:sp>
        <p:sp>
          <p:nvSpPr>
            <p:cNvPr id="20" name="TextBox 20"/>
            <p:cNvSpPr txBox="1"/>
            <p:nvPr/>
          </p:nvSpPr>
          <p:spPr>
            <a:xfrm>
              <a:off x="0" y="0"/>
              <a:ext cx="8778240" cy="2560320"/>
            </a:xfrm>
            <a:prstGeom prst="rect">
              <a:avLst/>
            </a:prstGeom>
          </p:spPr>
          <p:txBody>
            <a:bodyPr lIns="0" tIns="0" rIns="0" bIns="0" rtlCol="0" anchor="ctr"/>
            <a:lstStyle/>
            <a:p>
              <a:pPr algn="ctr">
                <a:lnSpc>
                  <a:spcPts val="3240"/>
                </a:lnSpc>
              </a:pPr>
              <a:r>
                <a:rPr lang="en-US" sz="2700">
                  <a:solidFill>
                    <a:srgbClr val="1F2937"/>
                  </a:solidFill>
                  <a:latin typeface="Aptos"/>
                  <a:ea typeface="Aptos"/>
                  <a:cs typeface="Aptos"/>
                  <a:sym typeface="Aptos"/>
                </a:rPr>
                <a:t>Calculated columns are appropriate when a value is attached to each row, such as a customer age group or order month. They are then used as chart categories and slicer fields.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Visual Selection Principles</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Each chart was selected for a specific analytical purpose</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371600" y="2185191"/>
            <a:ext cx="4251960" cy="438912"/>
            <a:chOff x="0" y="0"/>
            <a:chExt cx="5669280" cy="585216"/>
          </a:xfrm>
        </p:grpSpPr>
        <p:sp>
          <p:nvSpPr>
            <p:cNvPr id="13" name="Freeform 13"/>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14" name="TextBox 14"/>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KPI cards</a:t>
              </a:r>
            </a:p>
          </p:txBody>
        </p:sp>
      </p:grpSp>
      <p:grpSp>
        <p:nvGrpSpPr>
          <p:cNvPr id="15" name="Group 15"/>
          <p:cNvGrpSpPr/>
          <p:nvPr/>
        </p:nvGrpSpPr>
        <p:grpSpPr>
          <a:xfrm>
            <a:off x="5760720" y="2185191"/>
            <a:ext cx="10561320" cy="438912"/>
            <a:chOff x="0" y="0"/>
            <a:chExt cx="14081760" cy="585216"/>
          </a:xfrm>
        </p:grpSpPr>
        <p:sp>
          <p:nvSpPr>
            <p:cNvPr id="16" name="Freeform 16"/>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17" name="TextBox 17"/>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quick management summary</a:t>
              </a:r>
            </a:p>
          </p:txBody>
        </p:sp>
      </p:grpSp>
      <p:grpSp>
        <p:nvGrpSpPr>
          <p:cNvPr id="18" name="Group 18"/>
          <p:cNvGrpSpPr/>
          <p:nvPr/>
        </p:nvGrpSpPr>
        <p:grpSpPr>
          <a:xfrm>
            <a:off x="1371600" y="3213891"/>
            <a:ext cx="4251960" cy="438912"/>
            <a:chOff x="0" y="0"/>
            <a:chExt cx="5669280" cy="585216"/>
          </a:xfrm>
        </p:grpSpPr>
        <p:sp>
          <p:nvSpPr>
            <p:cNvPr id="19" name="Freeform 19"/>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20" name="TextBox 20"/>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Line charts</a:t>
              </a:r>
            </a:p>
          </p:txBody>
        </p:sp>
      </p:grpSp>
      <p:grpSp>
        <p:nvGrpSpPr>
          <p:cNvPr id="21" name="Group 21"/>
          <p:cNvGrpSpPr/>
          <p:nvPr/>
        </p:nvGrpSpPr>
        <p:grpSpPr>
          <a:xfrm>
            <a:off x="5760720" y="3213891"/>
            <a:ext cx="10561320" cy="438912"/>
            <a:chOff x="0" y="0"/>
            <a:chExt cx="14081760" cy="585216"/>
          </a:xfrm>
        </p:grpSpPr>
        <p:sp>
          <p:nvSpPr>
            <p:cNvPr id="22" name="Freeform 22"/>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23" name="TextBox 23"/>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trends over time</a:t>
              </a:r>
            </a:p>
          </p:txBody>
        </p:sp>
      </p:grpSp>
      <p:grpSp>
        <p:nvGrpSpPr>
          <p:cNvPr id="24" name="Group 24"/>
          <p:cNvGrpSpPr/>
          <p:nvPr/>
        </p:nvGrpSpPr>
        <p:grpSpPr>
          <a:xfrm>
            <a:off x="1371600" y="4242591"/>
            <a:ext cx="4251960" cy="438912"/>
            <a:chOff x="0" y="0"/>
            <a:chExt cx="5669280" cy="585216"/>
          </a:xfrm>
        </p:grpSpPr>
        <p:sp>
          <p:nvSpPr>
            <p:cNvPr id="25" name="Freeform 25"/>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26" name="TextBox 26"/>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Bar charts</a:t>
              </a:r>
            </a:p>
          </p:txBody>
        </p:sp>
      </p:grpSp>
      <p:grpSp>
        <p:nvGrpSpPr>
          <p:cNvPr id="27" name="Group 27"/>
          <p:cNvGrpSpPr/>
          <p:nvPr/>
        </p:nvGrpSpPr>
        <p:grpSpPr>
          <a:xfrm>
            <a:off x="5760720" y="4242591"/>
            <a:ext cx="10561320" cy="438912"/>
            <a:chOff x="0" y="0"/>
            <a:chExt cx="14081760" cy="585216"/>
          </a:xfrm>
        </p:grpSpPr>
        <p:sp>
          <p:nvSpPr>
            <p:cNvPr id="28" name="Freeform 28"/>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29" name="TextBox 29"/>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ranking and readable category labels</a:t>
              </a:r>
            </a:p>
          </p:txBody>
        </p:sp>
      </p:grpSp>
      <p:grpSp>
        <p:nvGrpSpPr>
          <p:cNvPr id="30" name="Group 30"/>
          <p:cNvGrpSpPr/>
          <p:nvPr/>
        </p:nvGrpSpPr>
        <p:grpSpPr>
          <a:xfrm>
            <a:off x="1371600" y="5271291"/>
            <a:ext cx="4251960" cy="438912"/>
            <a:chOff x="0" y="0"/>
            <a:chExt cx="5669280" cy="585216"/>
          </a:xfrm>
        </p:grpSpPr>
        <p:sp>
          <p:nvSpPr>
            <p:cNvPr id="31" name="Freeform 31"/>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32" name="TextBox 32"/>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Column charts</a:t>
              </a:r>
            </a:p>
          </p:txBody>
        </p:sp>
      </p:grpSp>
      <p:grpSp>
        <p:nvGrpSpPr>
          <p:cNvPr id="33" name="Group 33"/>
          <p:cNvGrpSpPr/>
          <p:nvPr/>
        </p:nvGrpSpPr>
        <p:grpSpPr>
          <a:xfrm>
            <a:off x="5760720" y="5271291"/>
            <a:ext cx="10561320" cy="438912"/>
            <a:chOff x="0" y="0"/>
            <a:chExt cx="14081760" cy="585216"/>
          </a:xfrm>
        </p:grpSpPr>
        <p:sp>
          <p:nvSpPr>
            <p:cNvPr id="34" name="Freeform 34"/>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35" name="TextBox 35"/>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category comparison</a:t>
              </a:r>
            </a:p>
          </p:txBody>
        </p:sp>
      </p:grpSp>
      <p:grpSp>
        <p:nvGrpSpPr>
          <p:cNvPr id="36" name="Group 36"/>
          <p:cNvGrpSpPr/>
          <p:nvPr/>
        </p:nvGrpSpPr>
        <p:grpSpPr>
          <a:xfrm>
            <a:off x="1371600" y="6299991"/>
            <a:ext cx="4251960" cy="438912"/>
            <a:chOff x="0" y="0"/>
            <a:chExt cx="5669280" cy="585216"/>
          </a:xfrm>
        </p:grpSpPr>
        <p:sp>
          <p:nvSpPr>
            <p:cNvPr id="37" name="Freeform 37"/>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38" name="TextBox 38"/>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Donut chart</a:t>
              </a:r>
            </a:p>
          </p:txBody>
        </p:sp>
      </p:grpSp>
      <p:grpSp>
        <p:nvGrpSpPr>
          <p:cNvPr id="39" name="Group 39"/>
          <p:cNvGrpSpPr/>
          <p:nvPr/>
        </p:nvGrpSpPr>
        <p:grpSpPr>
          <a:xfrm>
            <a:off x="5760720" y="6299991"/>
            <a:ext cx="10561320" cy="438912"/>
            <a:chOff x="0" y="0"/>
            <a:chExt cx="14081760" cy="585216"/>
          </a:xfrm>
        </p:grpSpPr>
        <p:sp>
          <p:nvSpPr>
            <p:cNvPr id="40" name="Freeform 40"/>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41" name="TextBox 41"/>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simple proportion comparison</a:t>
              </a:r>
            </a:p>
          </p:txBody>
        </p:sp>
      </p:grpSp>
      <p:grpSp>
        <p:nvGrpSpPr>
          <p:cNvPr id="42" name="Group 42"/>
          <p:cNvGrpSpPr/>
          <p:nvPr/>
        </p:nvGrpSpPr>
        <p:grpSpPr>
          <a:xfrm>
            <a:off x="1371600" y="7328691"/>
            <a:ext cx="4251960" cy="438912"/>
            <a:chOff x="0" y="0"/>
            <a:chExt cx="5669280" cy="585216"/>
          </a:xfrm>
        </p:grpSpPr>
        <p:sp>
          <p:nvSpPr>
            <p:cNvPr id="43" name="Freeform 43"/>
            <p:cNvSpPr/>
            <p:nvPr/>
          </p:nvSpPr>
          <p:spPr>
            <a:xfrm>
              <a:off x="0" y="0"/>
              <a:ext cx="5669280" cy="585216"/>
            </a:xfrm>
            <a:custGeom>
              <a:avLst/>
              <a:gdLst/>
              <a:ahLst/>
              <a:cxnLst/>
              <a:rect l="l" t="t" r="r" b="b"/>
              <a:pathLst>
                <a:path w="5669280" h="585216">
                  <a:moveTo>
                    <a:pt x="0" y="0"/>
                  </a:moveTo>
                  <a:lnTo>
                    <a:pt x="5669280" y="0"/>
                  </a:lnTo>
                  <a:lnTo>
                    <a:pt x="5669280" y="585216"/>
                  </a:lnTo>
                  <a:lnTo>
                    <a:pt x="0" y="585216"/>
                  </a:lnTo>
                  <a:close/>
                </a:path>
              </a:pathLst>
            </a:custGeom>
            <a:blipFill>
              <a:blip r:embed="rId2">
                <a:alphaModFix amt="0"/>
              </a:blip>
              <a:stretch>
                <a:fillRect t="-138761" b="-138761"/>
              </a:stretch>
            </a:blipFill>
          </p:spPr>
        </p:sp>
        <p:sp>
          <p:nvSpPr>
            <p:cNvPr id="44" name="TextBox 44"/>
            <p:cNvSpPr txBox="1"/>
            <p:nvPr/>
          </p:nvSpPr>
          <p:spPr>
            <a:xfrm>
              <a:off x="0" y="0"/>
              <a:ext cx="5669280" cy="585216"/>
            </a:xfrm>
            <a:prstGeom prst="rect">
              <a:avLst/>
            </a:prstGeom>
          </p:spPr>
          <p:txBody>
            <a:bodyPr lIns="0" tIns="0" rIns="0" bIns="0" rtlCol="0" anchor="ctr"/>
            <a:lstStyle/>
            <a:p>
              <a:pPr algn="l">
                <a:lnSpc>
                  <a:spcPts val="3240"/>
                </a:lnSpc>
              </a:pPr>
              <a:r>
                <a:rPr lang="en-US" sz="2700" b="1">
                  <a:solidFill>
                    <a:srgbClr val="0F4C81"/>
                  </a:solidFill>
                  <a:latin typeface="Aptos Bold"/>
                  <a:ea typeface="Aptos Bold"/>
                  <a:cs typeface="Aptos Bold"/>
                  <a:sym typeface="Aptos Bold"/>
                </a:rPr>
                <a:t>Slicers</a:t>
              </a:r>
            </a:p>
          </p:txBody>
        </p:sp>
      </p:grpSp>
      <p:grpSp>
        <p:nvGrpSpPr>
          <p:cNvPr id="45" name="Group 45"/>
          <p:cNvGrpSpPr/>
          <p:nvPr/>
        </p:nvGrpSpPr>
        <p:grpSpPr>
          <a:xfrm>
            <a:off x="5760720" y="7328691"/>
            <a:ext cx="10561320" cy="438912"/>
            <a:chOff x="0" y="0"/>
            <a:chExt cx="14081760" cy="585216"/>
          </a:xfrm>
        </p:grpSpPr>
        <p:sp>
          <p:nvSpPr>
            <p:cNvPr id="46" name="Freeform 46"/>
            <p:cNvSpPr/>
            <p:nvPr/>
          </p:nvSpPr>
          <p:spPr>
            <a:xfrm>
              <a:off x="0" y="0"/>
              <a:ext cx="14081761" cy="585216"/>
            </a:xfrm>
            <a:custGeom>
              <a:avLst/>
              <a:gdLst/>
              <a:ahLst/>
              <a:cxnLst/>
              <a:rect l="l" t="t" r="r" b="b"/>
              <a:pathLst>
                <a:path w="14081761" h="585216">
                  <a:moveTo>
                    <a:pt x="0" y="0"/>
                  </a:moveTo>
                  <a:lnTo>
                    <a:pt x="14081761" y="0"/>
                  </a:lnTo>
                  <a:lnTo>
                    <a:pt x="14081761" y="585216"/>
                  </a:lnTo>
                  <a:lnTo>
                    <a:pt x="0" y="585216"/>
                  </a:lnTo>
                  <a:close/>
                </a:path>
              </a:pathLst>
            </a:custGeom>
            <a:blipFill>
              <a:blip r:embed="rId2">
                <a:alphaModFix amt="0"/>
              </a:blip>
              <a:stretch>
                <a:fillRect t="-418858" b="-418858"/>
              </a:stretch>
            </a:blipFill>
          </p:spPr>
        </p:sp>
        <p:sp>
          <p:nvSpPr>
            <p:cNvPr id="47" name="TextBox 47"/>
            <p:cNvSpPr txBox="1"/>
            <p:nvPr/>
          </p:nvSpPr>
          <p:spPr>
            <a:xfrm>
              <a:off x="0" y="0"/>
              <a:ext cx="14081760" cy="585216"/>
            </a:xfrm>
            <a:prstGeom prst="rect">
              <a:avLst/>
            </a:prstGeom>
          </p:spPr>
          <p:txBody>
            <a:bodyPr lIns="0" tIns="0" rIns="0" bIns="0" rtlCol="0" anchor="ctr"/>
            <a:lstStyle/>
            <a:p>
              <a:pPr algn="l">
                <a:lnSpc>
                  <a:spcPts val="3240"/>
                </a:lnSpc>
              </a:pPr>
              <a:r>
                <a:rPr lang="en-US" sz="2700">
                  <a:solidFill>
                    <a:srgbClr val="1F2937"/>
                  </a:solidFill>
                  <a:latin typeface="Aptos"/>
                  <a:ea typeface="Aptos"/>
                  <a:cs typeface="Aptos"/>
                  <a:sym typeface="Aptos"/>
                </a:rPr>
                <a:t>interactive self-service filtering</a:t>
              </a:r>
            </a:p>
          </p:txBody>
        </p:sp>
      </p:grpSp>
      <p:grpSp>
        <p:nvGrpSpPr>
          <p:cNvPr id="48" name="Group 48"/>
          <p:cNvGrpSpPr/>
          <p:nvPr/>
        </p:nvGrpSpPr>
        <p:grpSpPr>
          <a:xfrm>
            <a:off x="1737360" y="8572500"/>
            <a:ext cx="14813280" cy="685800"/>
            <a:chOff x="0" y="0"/>
            <a:chExt cx="19751040" cy="914400"/>
          </a:xfrm>
        </p:grpSpPr>
        <p:sp>
          <p:nvSpPr>
            <p:cNvPr id="49" name="Freeform 49"/>
            <p:cNvSpPr/>
            <p:nvPr/>
          </p:nvSpPr>
          <p:spPr>
            <a:xfrm>
              <a:off x="0" y="0"/>
              <a:ext cx="19751039" cy="914400"/>
            </a:xfrm>
            <a:custGeom>
              <a:avLst/>
              <a:gdLst/>
              <a:ahLst/>
              <a:cxnLst/>
              <a:rect l="l" t="t" r="r" b="b"/>
              <a:pathLst>
                <a:path w="19751039" h="914400">
                  <a:moveTo>
                    <a:pt x="0" y="0"/>
                  </a:moveTo>
                  <a:lnTo>
                    <a:pt x="19751039" y="0"/>
                  </a:lnTo>
                  <a:lnTo>
                    <a:pt x="19751039" y="914400"/>
                  </a:lnTo>
                  <a:lnTo>
                    <a:pt x="0" y="914400"/>
                  </a:lnTo>
                  <a:close/>
                </a:path>
              </a:pathLst>
            </a:custGeom>
            <a:blipFill>
              <a:blip r:embed="rId2">
                <a:alphaModFix amt="0"/>
              </a:blip>
              <a:stretch>
                <a:fillRect t="-370876" b="-370876"/>
              </a:stretch>
            </a:blipFill>
          </p:spPr>
        </p:sp>
        <p:sp>
          <p:nvSpPr>
            <p:cNvPr id="50" name="TextBox 50"/>
            <p:cNvSpPr txBox="1"/>
            <p:nvPr/>
          </p:nvSpPr>
          <p:spPr>
            <a:xfrm>
              <a:off x="0" y="0"/>
              <a:ext cx="19751040" cy="914400"/>
            </a:xfrm>
            <a:prstGeom prst="rect">
              <a:avLst/>
            </a:prstGeom>
          </p:spPr>
          <p:txBody>
            <a:bodyPr lIns="0" tIns="0" rIns="0" bIns="0" rtlCol="0" anchor="ctr"/>
            <a:lstStyle/>
            <a:p>
              <a:pPr algn="ctr">
                <a:lnSpc>
                  <a:spcPts val="3060"/>
                </a:lnSpc>
              </a:pPr>
              <a:r>
                <a:rPr lang="en-US" sz="2550" i="1">
                  <a:solidFill>
                    <a:srgbClr val="64748B"/>
                  </a:solidFill>
                  <a:latin typeface="Aptos Italics"/>
                  <a:ea typeface="Aptos Italics"/>
                  <a:cs typeface="Aptos Italics"/>
                  <a:sym typeface="Aptos Italics"/>
                </a:rPr>
                <a:t>The goal was not to use many different chart types, but to choose visuals that make the business question easy to answer.</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447"/>
        </a:solidFill>
        <a:effectLst/>
      </p:bgPr>
    </p:bg>
    <p:spTree>
      <p:nvGrpSpPr>
        <p:cNvPr id="1" name=""/>
        <p:cNvGrpSpPr/>
        <p:nvPr/>
      </p:nvGrpSpPr>
      <p:grpSpPr>
        <a:xfrm>
          <a:off x="0" y="0"/>
          <a:ext cx="0" cy="0"/>
          <a:chOff x="0" y="0"/>
          <a:chExt cx="0" cy="0"/>
        </a:xfrm>
      </p:grpSpPr>
      <p:sp>
        <p:nvSpPr>
          <p:cNvPr id="2" name="Freeform 2"/>
          <p:cNvSpPr/>
          <p:nvPr/>
        </p:nvSpPr>
        <p:spPr>
          <a:xfrm>
            <a:off x="-117344" y="-1739108"/>
            <a:ext cx="19320553" cy="12848168"/>
          </a:xfrm>
          <a:custGeom>
            <a:avLst/>
            <a:gdLst/>
            <a:ahLst/>
            <a:cxnLst/>
            <a:rect l="l" t="t" r="r" b="b"/>
            <a:pathLst>
              <a:path w="19320553" h="12848168">
                <a:moveTo>
                  <a:pt x="0" y="0"/>
                </a:moveTo>
                <a:lnTo>
                  <a:pt x="19320553" y="0"/>
                </a:lnTo>
                <a:lnTo>
                  <a:pt x="19320553" y="12848168"/>
                </a:lnTo>
                <a:lnTo>
                  <a:pt x="0" y="12848168"/>
                </a:lnTo>
                <a:lnTo>
                  <a:pt x="0" y="0"/>
                </a:lnTo>
                <a:close/>
              </a:path>
            </a:pathLst>
          </a:custGeom>
          <a:blipFill>
            <a:blip r:embed="rId2">
              <a:alphaModFix amt="14000"/>
            </a:blip>
            <a:stretch>
              <a:fillRect/>
            </a:stretch>
          </a:blipFill>
        </p:spPr>
      </p:sp>
      <p:grpSp>
        <p:nvGrpSpPr>
          <p:cNvPr id="3" name="Group 3"/>
          <p:cNvGrpSpPr/>
          <p:nvPr/>
        </p:nvGrpSpPr>
        <p:grpSpPr>
          <a:xfrm>
            <a:off x="1028700" y="2811780"/>
            <a:ext cx="13030200" cy="384048"/>
            <a:chOff x="0" y="0"/>
            <a:chExt cx="17373600" cy="512064"/>
          </a:xfrm>
        </p:grpSpPr>
        <p:sp>
          <p:nvSpPr>
            <p:cNvPr id="4" name="Freeform 4"/>
            <p:cNvSpPr/>
            <p:nvPr/>
          </p:nvSpPr>
          <p:spPr>
            <a:xfrm>
              <a:off x="0" y="0"/>
              <a:ext cx="17373600" cy="512064"/>
            </a:xfrm>
            <a:custGeom>
              <a:avLst/>
              <a:gdLst/>
              <a:ahLst/>
              <a:cxnLst/>
              <a:rect l="l" t="t" r="r" b="b"/>
              <a:pathLst>
                <a:path w="17373600" h="512064">
                  <a:moveTo>
                    <a:pt x="0" y="0"/>
                  </a:moveTo>
                  <a:lnTo>
                    <a:pt x="17373600" y="0"/>
                  </a:lnTo>
                  <a:lnTo>
                    <a:pt x="17373600" y="512064"/>
                  </a:lnTo>
                  <a:lnTo>
                    <a:pt x="0" y="512064"/>
                  </a:lnTo>
                  <a:close/>
                </a:path>
              </a:pathLst>
            </a:custGeom>
            <a:blipFill>
              <a:blip r:embed="rId3">
                <a:alphaModFix amt="0"/>
              </a:blip>
              <a:stretch>
                <a:fillRect t="-611099" b="-611099"/>
              </a:stretch>
            </a:blipFill>
          </p:spPr>
        </p:sp>
        <p:sp>
          <p:nvSpPr>
            <p:cNvPr id="5" name="TextBox 5"/>
            <p:cNvSpPr txBox="1"/>
            <p:nvPr/>
          </p:nvSpPr>
          <p:spPr>
            <a:xfrm>
              <a:off x="0" y="0"/>
              <a:ext cx="17373600" cy="512064"/>
            </a:xfrm>
            <a:prstGeom prst="rect">
              <a:avLst/>
            </a:prstGeom>
          </p:spPr>
          <p:txBody>
            <a:bodyPr lIns="0" tIns="0" rIns="0" bIns="0" rtlCol="0" anchor="ctr"/>
            <a:lstStyle/>
            <a:p>
              <a:pPr algn="l">
                <a:lnSpc>
                  <a:spcPts val="2160"/>
                </a:lnSpc>
              </a:pPr>
              <a:r>
                <a:rPr lang="en-US" sz="1800" b="1">
                  <a:solidFill>
                    <a:srgbClr val="F2C94C"/>
                  </a:solidFill>
                  <a:latin typeface="Aptos Bold"/>
                  <a:ea typeface="Aptos Bold"/>
                  <a:cs typeface="Aptos Bold"/>
                  <a:sym typeface="Aptos Bold"/>
                </a:rPr>
                <a:t>DASHBOARD PAGE 1</a:t>
              </a:r>
            </a:p>
          </p:txBody>
        </p:sp>
      </p:grpSp>
      <p:grpSp>
        <p:nvGrpSpPr>
          <p:cNvPr id="6" name="Group 6"/>
          <p:cNvGrpSpPr/>
          <p:nvPr/>
        </p:nvGrpSpPr>
        <p:grpSpPr>
          <a:xfrm>
            <a:off x="987552" y="3401568"/>
            <a:ext cx="15910560" cy="1920240"/>
            <a:chOff x="0" y="0"/>
            <a:chExt cx="21214080" cy="2560320"/>
          </a:xfrm>
        </p:grpSpPr>
        <p:sp>
          <p:nvSpPr>
            <p:cNvPr id="7" name="Freeform 7"/>
            <p:cNvSpPr/>
            <p:nvPr/>
          </p:nvSpPr>
          <p:spPr>
            <a:xfrm>
              <a:off x="0" y="0"/>
              <a:ext cx="21214080" cy="2560320"/>
            </a:xfrm>
            <a:custGeom>
              <a:avLst/>
              <a:gdLst/>
              <a:ahLst/>
              <a:cxnLst/>
              <a:rect l="l" t="t" r="r" b="b"/>
              <a:pathLst>
                <a:path w="21214080" h="2560320">
                  <a:moveTo>
                    <a:pt x="0" y="0"/>
                  </a:moveTo>
                  <a:lnTo>
                    <a:pt x="21214080" y="0"/>
                  </a:lnTo>
                  <a:lnTo>
                    <a:pt x="21214080" y="2560320"/>
                  </a:lnTo>
                  <a:lnTo>
                    <a:pt x="0" y="2560320"/>
                  </a:lnTo>
                  <a:close/>
                </a:path>
              </a:pathLst>
            </a:custGeom>
            <a:blipFill>
              <a:blip r:embed="rId3">
                <a:alphaModFix amt="0"/>
              </a:blip>
              <a:stretch>
                <a:fillRect t="-111447" b="-111447"/>
              </a:stretch>
            </a:blipFill>
          </p:spPr>
        </p:sp>
        <p:sp>
          <p:nvSpPr>
            <p:cNvPr id="8" name="TextBox 8"/>
            <p:cNvSpPr txBox="1"/>
            <p:nvPr/>
          </p:nvSpPr>
          <p:spPr>
            <a:xfrm>
              <a:off x="0" y="0"/>
              <a:ext cx="21214080" cy="2560320"/>
            </a:xfrm>
            <a:prstGeom prst="rect">
              <a:avLst/>
            </a:prstGeom>
          </p:spPr>
          <p:txBody>
            <a:bodyPr lIns="0" tIns="0" rIns="0" bIns="0" rtlCol="0" anchor="ctr"/>
            <a:lstStyle/>
            <a:p>
              <a:pPr algn="l">
                <a:lnSpc>
                  <a:spcPts val="7559"/>
                </a:lnSpc>
              </a:pPr>
              <a:r>
                <a:rPr lang="en-US" sz="6300" b="1">
                  <a:solidFill>
                    <a:srgbClr val="FFFFFF"/>
                  </a:solidFill>
                  <a:latin typeface="Aptos Bold"/>
                  <a:ea typeface="Aptos Bold"/>
                  <a:cs typeface="Aptos Bold"/>
                  <a:sym typeface="Aptos Bold"/>
                </a:rPr>
                <a:t>Executive Dashboard</a:t>
              </a:r>
            </a:p>
            <a:p>
              <a:pPr algn="l">
                <a:lnSpc>
                  <a:spcPts val="7559"/>
                </a:lnSpc>
              </a:pPr>
              <a:r>
                <a:rPr lang="en-US" sz="6300" b="1">
                  <a:solidFill>
                    <a:srgbClr val="FFFFFF"/>
                  </a:solidFill>
                  <a:latin typeface="Aptos Bold"/>
                  <a:ea typeface="Aptos Bold"/>
                  <a:cs typeface="Aptos Bold"/>
                  <a:sym typeface="Aptos Bold"/>
                </a:rPr>
                <a:t>Key Insights</a:t>
              </a:r>
            </a:p>
          </p:txBody>
        </p:sp>
      </p:grpSp>
      <p:sp>
        <p:nvSpPr>
          <p:cNvPr id="9" name="AutoShape 9"/>
          <p:cNvSpPr/>
          <p:nvPr/>
        </p:nvSpPr>
        <p:spPr>
          <a:xfrm rot="33780">
            <a:off x="999982" y="5883592"/>
            <a:ext cx="5818146" cy="0"/>
          </a:xfrm>
          <a:prstGeom prst="line">
            <a:avLst/>
          </a:prstGeom>
          <a:ln w="28575" cap="rnd">
            <a:solidFill>
              <a:srgbClr val="F2C94C"/>
            </a:solidFill>
            <a:prstDash val="solid"/>
            <a:headEnd type="none" w="sm" len="sm"/>
            <a:tailEnd type="none" w="sm" len="sm"/>
          </a:ln>
        </p:spPr>
      </p:sp>
      <p:grpSp>
        <p:nvGrpSpPr>
          <p:cNvPr id="10" name="Group 10"/>
          <p:cNvGrpSpPr/>
          <p:nvPr/>
        </p:nvGrpSpPr>
        <p:grpSpPr>
          <a:xfrm>
            <a:off x="16870680" y="9532620"/>
            <a:ext cx="548640" cy="301752"/>
            <a:chOff x="0" y="0"/>
            <a:chExt cx="731520" cy="402336"/>
          </a:xfrm>
        </p:grpSpPr>
        <p:sp>
          <p:nvSpPr>
            <p:cNvPr id="11" name="Freeform 11"/>
            <p:cNvSpPr/>
            <p:nvPr/>
          </p:nvSpPr>
          <p:spPr>
            <a:xfrm>
              <a:off x="0" y="0"/>
              <a:ext cx="731520" cy="402336"/>
            </a:xfrm>
            <a:custGeom>
              <a:avLst/>
              <a:gdLst/>
              <a:ahLst/>
              <a:cxnLst/>
              <a:rect l="l" t="t" r="r" b="b"/>
              <a:pathLst>
                <a:path w="731520" h="402336">
                  <a:moveTo>
                    <a:pt x="0" y="0"/>
                  </a:moveTo>
                  <a:lnTo>
                    <a:pt x="731520" y="0"/>
                  </a:lnTo>
                  <a:lnTo>
                    <a:pt x="731520" y="402336"/>
                  </a:lnTo>
                  <a:lnTo>
                    <a:pt x="0" y="402336"/>
                  </a:lnTo>
                  <a:close/>
                </a:path>
              </a:pathLst>
            </a:custGeom>
            <a:blipFill>
              <a:blip r:embed="rId3">
                <a:alphaModFix amt="0"/>
              </a:blip>
              <a:stretch>
                <a:fillRect l="-20566" r="-20566"/>
              </a:stretch>
            </a:blipFill>
          </p:spPr>
        </p:sp>
        <p:sp>
          <p:nvSpPr>
            <p:cNvPr id="12" name="TextBox 12"/>
            <p:cNvSpPr txBox="1"/>
            <p:nvPr/>
          </p:nvSpPr>
          <p:spPr>
            <a:xfrm>
              <a:off x="0" y="0"/>
              <a:ext cx="731520" cy="402336"/>
            </a:xfrm>
            <a:prstGeom prst="rect">
              <a:avLst/>
            </a:prstGeom>
          </p:spPr>
          <p:txBody>
            <a:bodyPr lIns="0" tIns="0" rIns="0" bIns="0" rtlCol="0" anchor="ctr"/>
            <a:lstStyle/>
            <a:p>
              <a:pPr algn="r">
                <a:lnSpc>
                  <a:spcPts val="1439"/>
                </a:lnSpc>
              </a:pPr>
              <a:r>
                <a:rPr lang="en-US" sz="1200">
                  <a:solidFill>
                    <a:srgbClr val="A3B6CC"/>
                  </a:solidFill>
                  <a:latin typeface="Aptos"/>
                  <a:ea typeface="Aptos"/>
                  <a:cs typeface="Aptos"/>
                  <a:sym typeface="Aptos"/>
                </a:rPr>
                <a:t>10</a:t>
              </a:r>
            </a:p>
          </p:txBody>
        </p:sp>
      </p:grpSp>
      <p:sp>
        <p:nvSpPr>
          <p:cNvPr id="13" name="TextBox 13"/>
          <p:cNvSpPr txBox="1"/>
          <p:nvPr/>
        </p:nvSpPr>
        <p:spPr>
          <a:xfrm>
            <a:off x="1028700" y="1833063"/>
            <a:ext cx="15630074" cy="563081"/>
          </a:xfrm>
          <a:prstGeom prst="rect">
            <a:avLst/>
          </a:prstGeom>
        </p:spPr>
        <p:txBody>
          <a:bodyPr lIns="0" tIns="0" rIns="0" bIns="0" rtlCol="0" anchor="t">
            <a:spAutoFit/>
          </a:bodyPr>
          <a:lstStyle/>
          <a:p>
            <a:pPr algn="ctr">
              <a:lnSpc>
                <a:spcPts val="4454"/>
              </a:lnSpc>
              <a:spcBef>
                <a:spcPct val="0"/>
              </a:spcBef>
            </a:pPr>
            <a:r>
              <a:rPr lang="en-US" sz="3711" b="1">
                <a:solidFill>
                  <a:srgbClr val="F5F8FC"/>
                </a:solidFill>
                <a:latin typeface="Aptos Bold"/>
                <a:ea typeface="Aptos Bold"/>
                <a:cs typeface="Aptos Bold"/>
                <a:sym typeface="Aptos Bold"/>
              </a:rPr>
              <a:t>[Model relationships were done and then visuals were created as follows]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793663"/>
            <a:chOff x="0" y="0"/>
            <a:chExt cx="19751040" cy="1058218"/>
          </a:xfrm>
        </p:grpSpPr>
        <p:sp>
          <p:nvSpPr>
            <p:cNvPr id="3" name="Freeform 3"/>
            <p:cNvSpPr/>
            <p:nvPr/>
          </p:nvSpPr>
          <p:spPr>
            <a:xfrm>
              <a:off x="0" y="0"/>
              <a:ext cx="19751039" cy="1058218"/>
            </a:xfrm>
            <a:custGeom>
              <a:avLst/>
              <a:gdLst/>
              <a:ahLst/>
              <a:cxnLst/>
              <a:rect l="l" t="t" r="r" b="b"/>
              <a:pathLst>
                <a:path w="19751039" h="1058218">
                  <a:moveTo>
                    <a:pt x="0" y="0"/>
                  </a:moveTo>
                  <a:lnTo>
                    <a:pt x="19751039" y="0"/>
                  </a:lnTo>
                  <a:lnTo>
                    <a:pt x="19751039" y="1058218"/>
                  </a:lnTo>
                  <a:lnTo>
                    <a:pt x="0" y="1058218"/>
                  </a:lnTo>
                  <a:close/>
                </a:path>
              </a:pathLst>
            </a:custGeom>
            <a:blipFill>
              <a:blip r:embed="rId2">
                <a:alphaModFix amt="0"/>
              </a:blip>
              <a:stretch>
                <a:fillRect t="-324793" b="-302561"/>
              </a:stretch>
            </a:blipFill>
          </p:spPr>
        </p:sp>
        <p:sp>
          <p:nvSpPr>
            <p:cNvPr id="4" name="TextBox 4"/>
            <p:cNvSpPr txBox="1"/>
            <p:nvPr/>
          </p:nvSpPr>
          <p:spPr>
            <a:xfrm>
              <a:off x="0" y="0"/>
              <a:ext cx="19751040" cy="1058218"/>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Executive Dashboard Overview</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A one-page management summary of revenue, customers, orders and country performance</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sp>
        <p:nvSpPr>
          <p:cNvPr id="12" name="Freeform 12"/>
          <p:cNvSpPr/>
          <p:nvPr/>
        </p:nvSpPr>
        <p:spPr>
          <a:xfrm>
            <a:off x="3428420" y="1971853"/>
            <a:ext cx="11431161" cy="7427395"/>
          </a:xfrm>
          <a:custGeom>
            <a:avLst/>
            <a:gdLst/>
            <a:ahLst/>
            <a:cxnLst/>
            <a:rect l="l" t="t" r="r" b="b"/>
            <a:pathLst>
              <a:path w="11431161" h="7427395">
                <a:moveTo>
                  <a:pt x="0" y="0"/>
                </a:moveTo>
                <a:lnTo>
                  <a:pt x="11431160" y="0"/>
                </a:lnTo>
                <a:lnTo>
                  <a:pt x="11431160" y="7427395"/>
                </a:lnTo>
                <a:lnTo>
                  <a:pt x="0" y="7427395"/>
                </a:lnTo>
                <a:lnTo>
                  <a:pt x="0" y="0"/>
                </a:lnTo>
                <a:close/>
              </a:path>
            </a:pathLst>
          </a:custGeom>
          <a:blipFill>
            <a:blip r:embed="rId3"/>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KPI Cards: Fast Management Summary</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Why cards were used at the top of the dashboard</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409379" y="4453165"/>
            <a:ext cx="15361920" cy="3977640"/>
            <a:chOff x="0" y="0"/>
            <a:chExt cx="20482560" cy="5303520"/>
          </a:xfrm>
        </p:grpSpPr>
        <p:sp>
          <p:nvSpPr>
            <p:cNvPr id="13" name="Freeform 13"/>
            <p:cNvSpPr/>
            <p:nvPr/>
          </p:nvSpPr>
          <p:spPr>
            <a:xfrm>
              <a:off x="0" y="0"/>
              <a:ext cx="20482561" cy="5303520"/>
            </a:xfrm>
            <a:custGeom>
              <a:avLst/>
              <a:gdLst/>
              <a:ahLst/>
              <a:cxnLst/>
              <a:rect l="l" t="t" r="r" b="b"/>
              <a:pathLst>
                <a:path w="20482561" h="5303520">
                  <a:moveTo>
                    <a:pt x="0" y="0"/>
                  </a:moveTo>
                  <a:lnTo>
                    <a:pt x="20482561" y="0"/>
                  </a:lnTo>
                  <a:lnTo>
                    <a:pt x="20482561" y="5303520"/>
                  </a:lnTo>
                  <a:lnTo>
                    <a:pt x="0" y="5303520"/>
                  </a:lnTo>
                  <a:close/>
                </a:path>
              </a:pathLst>
            </a:custGeom>
            <a:blipFill>
              <a:blip r:embed="rId2">
                <a:alphaModFix amt="0"/>
              </a:blip>
              <a:stretch>
                <a:fillRect t="-25252" b="-25252"/>
              </a:stretch>
            </a:blipFill>
          </p:spPr>
        </p:sp>
        <p:sp>
          <p:nvSpPr>
            <p:cNvPr id="14" name="TextBox 14"/>
            <p:cNvSpPr txBox="1"/>
            <p:nvPr/>
          </p:nvSpPr>
          <p:spPr>
            <a:xfrm>
              <a:off x="0" y="0"/>
              <a:ext cx="20482560" cy="5303520"/>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Chart type: </a:t>
              </a:r>
              <a:r>
                <a:rPr lang="en-US" sz="2700">
                  <a:solidFill>
                    <a:srgbClr val="1F2937"/>
                  </a:solidFill>
                  <a:latin typeface="Aptos"/>
                  <a:ea typeface="Aptos"/>
                  <a:cs typeface="Aptos"/>
                  <a:sym typeface="Aptos"/>
                </a:rPr>
                <a:t>KPI Cards</a:t>
              </a:r>
            </a:p>
            <a:p>
              <a:pPr algn="l">
                <a:lnSpc>
                  <a:spcPts val="3240"/>
                </a:lnSpc>
              </a:pPr>
              <a:r>
                <a:rPr lang="en-US" sz="2700" b="1">
                  <a:solidFill>
                    <a:srgbClr val="1F2937"/>
                  </a:solidFill>
                  <a:latin typeface="Aptos Bold"/>
                  <a:ea typeface="Aptos Bold"/>
                  <a:cs typeface="Aptos Bold"/>
                  <a:sym typeface="Aptos Bold"/>
                </a:rPr>
                <a:t>Why selected: </a:t>
              </a:r>
              <a:r>
                <a:rPr lang="en-US" sz="2700">
                  <a:solidFill>
                    <a:srgbClr val="1F2937"/>
                  </a:solidFill>
                  <a:latin typeface="Aptos"/>
                  <a:ea typeface="Aptos"/>
                  <a:cs typeface="Aptos"/>
                  <a:sym typeface="Aptos"/>
                </a:rPr>
                <a:t>Executives need the main business figures immediately before reviewing detailed charts</a:t>
              </a:r>
            </a:p>
            <a:p>
              <a:pPr algn="l">
                <a:lnSpc>
                  <a:spcPts val="3240"/>
                </a:lnSpc>
              </a:pPr>
              <a:r>
                <a:rPr lang="en-US" sz="2700" b="1">
                  <a:solidFill>
                    <a:srgbClr val="1F2937"/>
                  </a:solidFill>
                  <a:latin typeface="Aptos Bold"/>
                  <a:ea typeface="Aptos Bold"/>
                  <a:cs typeface="Aptos Bold"/>
                  <a:sym typeface="Aptos Bold"/>
                </a:rPr>
                <a:t>Metrics shown: </a:t>
              </a:r>
              <a:r>
                <a:rPr lang="en-US" sz="2700">
                  <a:solidFill>
                    <a:srgbClr val="1F2937"/>
                  </a:solidFill>
                  <a:latin typeface="Aptos"/>
                  <a:ea typeface="Aptos"/>
                  <a:cs typeface="Aptos"/>
                  <a:sym typeface="Aptos"/>
                </a:rPr>
                <a:t>Total Revenue, Total Customers, Total Orders and Average Order Value</a:t>
              </a:r>
            </a:p>
            <a:p>
              <a:pPr algn="l">
                <a:lnSpc>
                  <a:spcPts val="3240"/>
                </a:lnSpc>
              </a:pPr>
              <a:r>
                <a:rPr lang="en-US" sz="2700" b="1">
                  <a:solidFill>
                    <a:srgbClr val="1F2937"/>
                  </a:solidFill>
                  <a:latin typeface="Aptos Bold"/>
                  <a:ea typeface="Aptos Bold"/>
                  <a:cs typeface="Aptos Bold"/>
                  <a:sym typeface="Aptos Bold"/>
                </a:rPr>
                <a:t>Business value: </a:t>
              </a:r>
              <a:r>
                <a:rPr lang="en-US" sz="2700">
                  <a:solidFill>
                    <a:srgbClr val="1F2937"/>
                  </a:solidFill>
                  <a:latin typeface="Aptos"/>
                  <a:ea typeface="Aptos"/>
                  <a:cs typeface="Aptos"/>
                  <a:sym typeface="Aptos"/>
                </a:rPr>
                <a:t>provides a quick health check of overall business performance</a:t>
              </a: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978220" y="2185191"/>
            <a:ext cx="16331560" cy="2724063"/>
          </a:xfrm>
          <a:custGeom>
            <a:avLst/>
            <a:gdLst/>
            <a:ahLst/>
            <a:cxnLst/>
            <a:rect l="l" t="t" r="r" b="b"/>
            <a:pathLst>
              <a:path w="16331560" h="2724063">
                <a:moveTo>
                  <a:pt x="0" y="0"/>
                </a:moveTo>
                <a:lnTo>
                  <a:pt x="16331560" y="0"/>
                </a:lnTo>
                <a:lnTo>
                  <a:pt x="16331560" y="2724063"/>
                </a:lnTo>
                <a:lnTo>
                  <a:pt x="0" y="2724063"/>
                </a:lnTo>
                <a:lnTo>
                  <a:pt x="0" y="0"/>
                </a:lnTo>
                <a:close/>
              </a:path>
            </a:pathLst>
          </a:custGeom>
          <a:blipFill>
            <a:blip r:embed="rId3"/>
            <a:stretch>
              <a:fillRect b="-289544"/>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Total Revenue by Year</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Line chart selected for yearly trend analysis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371600" y="5486400"/>
            <a:ext cx="15087600" cy="3291840"/>
            <a:chOff x="0" y="0"/>
            <a:chExt cx="20116800" cy="4389120"/>
          </a:xfrm>
        </p:grpSpPr>
        <p:sp>
          <p:nvSpPr>
            <p:cNvPr id="13" name="Freeform 13"/>
            <p:cNvSpPr/>
            <p:nvPr/>
          </p:nvSpPr>
          <p:spPr>
            <a:xfrm>
              <a:off x="0" y="0"/>
              <a:ext cx="20116800" cy="4389120"/>
            </a:xfrm>
            <a:custGeom>
              <a:avLst/>
              <a:gdLst/>
              <a:ahLst/>
              <a:cxnLst/>
              <a:rect l="l" t="t" r="r" b="b"/>
              <a:pathLst>
                <a:path w="20116800" h="4389120">
                  <a:moveTo>
                    <a:pt x="0" y="0"/>
                  </a:moveTo>
                  <a:lnTo>
                    <a:pt x="20116800" y="0"/>
                  </a:lnTo>
                  <a:lnTo>
                    <a:pt x="20116800" y="4389120"/>
                  </a:lnTo>
                  <a:lnTo>
                    <a:pt x="0" y="4389120"/>
                  </a:lnTo>
                  <a:close/>
                </a:path>
              </a:pathLst>
            </a:custGeom>
            <a:blipFill>
              <a:blip r:embed="rId2">
                <a:alphaModFix amt="0"/>
              </a:blip>
              <a:stretch>
                <a:fillRect t="-39306" b="-39306"/>
              </a:stretch>
            </a:blipFill>
          </p:spPr>
        </p:sp>
        <p:sp>
          <p:nvSpPr>
            <p:cNvPr id="14" name="TextBox 14"/>
            <p:cNvSpPr txBox="1"/>
            <p:nvPr/>
          </p:nvSpPr>
          <p:spPr>
            <a:xfrm>
              <a:off x="0" y="0"/>
              <a:ext cx="20116800" cy="438912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Line Chart</a:t>
              </a: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Line charts are best for showing changes over time and making increases or decreases visible</a:t>
              </a:r>
            </a:p>
            <a:p>
              <a:pPr algn="l">
                <a:lnSpc>
                  <a:spcPts val="3060"/>
                </a:lnSpc>
              </a:pPr>
              <a:r>
                <a:rPr lang="en-US" sz="2550" b="1">
                  <a:solidFill>
                    <a:srgbClr val="1F2937"/>
                  </a:solidFill>
                  <a:latin typeface="Aptos Bold"/>
                  <a:ea typeface="Aptos Bold"/>
                  <a:cs typeface="Aptos Bold"/>
                  <a:sym typeface="Aptos Bold"/>
                </a:rPr>
                <a:t>Insight focus: </a:t>
              </a:r>
              <a:r>
                <a:rPr lang="en-US" sz="2550">
                  <a:solidFill>
                    <a:srgbClr val="1F2937"/>
                  </a:solidFill>
                  <a:latin typeface="Aptos"/>
                  <a:ea typeface="Aptos"/>
                  <a:cs typeface="Aptos"/>
                  <a:sym typeface="Aptos"/>
                </a:rPr>
                <a:t>Helps management see whether yearly revenue is growing, stable or declining</a:t>
              </a:r>
            </a:p>
            <a:p>
              <a:pPr algn="l">
                <a:lnSpc>
                  <a:spcPts val="3060"/>
                </a:lnSpc>
              </a:pPr>
              <a:r>
                <a:rPr lang="en-US" sz="2550">
                  <a:solidFill>
                    <a:srgbClr val="1F2937"/>
                  </a:solidFill>
                  <a:latin typeface="Aptos"/>
                  <a:ea typeface="Aptos"/>
                  <a:cs typeface="Aptos"/>
                  <a:sym typeface="Aptos"/>
                </a:rPr>
                <a:t>This visual supports trend monitoring and long-term planning.</a:t>
              </a:r>
            </a:p>
            <a:p>
              <a:pPr algn="l">
                <a:lnSpc>
                  <a:spcPts val="3060"/>
                </a:lnSpc>
              </a:pPr>
              <a:endParaRPr lang="en-US" sz="2550">
                <a:solidFill>
                  <a:srgbClr val="1F2937"/>
                </a:solidFill>
                <a:latin typeface="Aptos"/>
                <a:ea typeface="Aptos"/>
                <a:cs typeface="Aptos"/>
                <a:sym typeface="Aptos"/>
              </a:endParaRPr>
            </a:p>
          </p:txBody>
        </p:sp>
      </p:grpSp>
      <p:sp>
        <p:nvSpPr>
          <p:cNvPr id="15" name="Freeform 15"/>
          <p:cNvSpPr/>
          <p:nvPr/>
        </p:nvSpPr>
        <p:spPr>
          <a:xfrm>
            <a:off x="1181300" y="2390890"/>
            <a:ext cx="15895120" cy="3175166"/>
          </a:xfrm>
          <a:custGeom>
            <a:avLst/>
            <a:gdLst/>
            <a:ahLst/>
            <a:cxnLst/>
            <a:rect l="l" t="t" r="r" b="b"/>
            <a:pathLst>
              <a:path w="15895120" h="3175166">
                <a:moveTo>
                  <a:pt x="0" y="0"/>
                </a:moveTo>
                <a:lnTo>
                  <a:pt x="15895120" y="0"/>
                </a:lnTo>
                <a:lnTo>
                  <a:pt x="15895120" y="3175166"/>
                </a:lnTo>
                <a:lnTo>
                  <a:pt x="0" y="3175166"/>
                </a:lnTo>
                <a:lnTo>
                  <a:pt x="0" y="0"/>
                </a:lnTo>
                <a:close/>
              </a:path>
            </a:pathLst>
          </a:custGeom>
          <a:blipFill>
            <a:blip r:embed="rId3"/>
            <a:stretch>
              <a:fillRect l="-7290" t="-81805" r="-14078" b="-115786"/>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Total Revenue by Country</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Horizontal bar chart selected for market comparison</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371600" y="5692140"/>
            <a:ext cx="15087600" cy="3086100"/>
            <a:chOff x="0" y="0"/>
            <a:chExt cx="20116800" cy="4114800"/>
          </a:xfrm>
        </p:grpSpPr>
        <p:sp>
          <p:nvSpPr>
            <p:cNvPr id="13" name="Freeform 13"/>
            <p:cNvSpPr/>
            <p:nvPr/>
          </p:nvSpPr>
          <p:spPr>
            <a:xfrm>
              <a:off x="0" y="0"/>
              <a:ext cx="20116800" cy="4114800"/>
            </a:xfrm>
            <a:custGeom>
              <a:avLst/>
              <a:gdLst/>
              <a:ahLst/>
              <a:cxnLst/>
              <a:rect l="l" t="t" r="r" b="b"/>
              <a:pathLst>
                <a:path w="20116800" h="4114800">
                  <a:moveTo>
                    <a:pt x="0" y="0"/>
                  </a:moveTo>
                  <a:lnTo>
                    <a:pt x="20116800" y="0"/>
                  </a:lnTo>
                  <a:lnTo>
                    <a:pt x="20116800" y="4114800"/>
                  </a:lnTo>
                  <a:lnTo>
                    <a:pt x="0" y="4114800"/>
                  </a:lnTo>
                  <a:close/>
                </a:path>
              </a:pathLst>
            </a:custGeom>
            <a:blipFill>
              <a:blip r:embed="rId2">
                <a:alphaModFix amt="0"/>
              </a:blip>
              <a:stretch>
                <a:fillRect t="-45260" b="-45260"/>
              </a:stretch>
            </a:blipFill>
          </p:spPr>
        </p:sp>
        <p:sp>
          <p:nvSpPr>
            <p:cNvPr id="14" name="TextBox 14"/>
            <p:cNvSpPr txBox="1"/>
            <p:nvPr/>
          </p:nvSpPr>
          <p:spPr>
            <a:xfrm>
              <a:off x="0" y="0"/>
              <a:ext cx="20116800" cy="41148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Bar Chart</a:t>
              </a: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Country names are easier to read horizontally and bars make ranking clear</a:t>
              </a:r>
            </a:p>
            <a:p>
              <a:pPr algn="l">
                <a:lnSpc>
                  <a:spcPts val="3060"/>
                </a:lnSpc>
              </a:pPr>
              <a:r>
                <a:rPr lang="en-US" sz="2550" b="1">
                  <a:solidFill>
                    <a:srgbClr val="1F2937"/>
                  </a:solidFill>
                  <a:latin typeface="Aptos Bold"/>
                  <a:ea typeface="Aptos Bold"/>
                  <a:cs typeface="Aptos Bold"/>
                  <a:sym typeface="Aptos Bold"/>
                </a:rPr>
                <a:t>Insight focus: </a:t>
              </a:r>
              <a:r>
                <a:rPr lang="en-US" sz="2550">
                  <a:solidFill>
                    <a:srgbClr val="1F2937"/>
                  </a:solidFill>
                  <a:latin typeface="Aptos"/>
                  <a:ea typeface="Aptos"/>
                  <a:cs typeface="Aptos"/>
                  <a:sym typeface="Aptos"/>
                </a:rPr>
                <a:t>Identifies which countries generate the strongest revenue contribution</a:t>
              </a:r>
            </a:p>
            <a:p>
              <a:pPr algn="l">
                <a:lnSpc>
                  <a:spcPts val="3060"/>
                </a:lnSpc>
              </a:pPr>
              <a:r>
                <a:rPr lang="en-US" sz="2550" b="1">
                  <a:solidFill>
                    <a:srgbClr val="1F2937"/>
                  </a:solidFill>
                  <a:latin typeface="Aptos Bold"/>
                  <a:ea typeface="Aptos Bold"/>
                  <a:cs typeface="Aptos Bold"/>
                  <a:sym typeface="Aptos Bold"/>
                </a:rPr>
                <a:t>Business use: </a:t>
              </a:r>
              <a:r>
                <a:rPr lang="en-US" sz="2550">
                  <a:solidFill>
                    <a:srgbClr val="1F2937"/>
                  </a:solidFill>
                  <a:latin typeface="Aptos"/>
                  <a:ea typeface="Aptos"/>
                  <a:cs typeface="Aptos"/>
                  <a:sym typeface="Aptos"/>
                </a:rPr>
                <a:t>Supports country-level marketing and resource allocation decisions</a:t>
              </a:r>
            </a:p>
            <a:p>
              <a:pPr algn="l">
                <a:lnSpc>
                  <a:spcPts val="3060"/>
                </a:lnSpc>
              </a:pPr>
              <a:endParaRPr lang="en-US" sz="2550">
                <a:solidFill>
                  <a:srgbClr val="1F2937"/>
                </a:solidFill>
                <a:latin typeface="Aptos"/>
                <a:ea typeface="Aptos"/>
                <a:cs typeface="Aptos"/>
                <a:sym typeface="Aptos"/>
              </a:endParaRPr>
            </a:p>
          </p:txBody>
        </p:sp>
      </p:grpSp>
      <p:sp>
        <p:nvSpPr>
          <p:cNvPr id="15" name="Freeform 15"/>
          <p:cNvSpPr/>
          <p:nvPr/>
        </p:nvSpPr>
        <p:spPr>
          <a:xfrm>
            <a:off x="1371600" y="2405232"/>
            <a:ext cx="15857982" cy="2961580"/>
          </a:xfrm>
          <a:custGeom>
            <a:avLst/>
            <a:gdLst/>
            <a:ahLst/>
            <a:cxnLst/>
            <a:rect l="l" t="t" r="r" b="b"/>
            <a:pathLst>
              <a:path w="15857982" h="2961580">
                <a:moveTo>
                  <a:pt x="0" y="0"/>
                </a:moveTo>
                <a:lnTo>
                  <a:pt x="15857982" y="0"/>
                </a:lnTo>
                <a:lnTo>
                  <a:pt x="15857982" y="2961580"/>
                </a:lnTo>
                <a:lnTo>
                  <a:pt x="0" y="2961580"/>
                </a:lnTo>
                <a:lnTo>
                  <a:pt x="0" y="0"/>
                </a:lnTo>
                <a:close/>
              </a:path>
            </a:pathLst>
          </a:custGeom>
          <a:blipFill>
            <a:blip r:embed="rId3"/>
            <a:stretch>
              <a:fillRect l="-7428" t="-198990" r="-16471" b="-25955"/>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447"/>
        </a:solidFill>
        <a:effectLst/>
      </p:bgPr>
    </p:bg>
    <p:spTree>
      <p:nvGrpSpPr>
        <p:cNvPr id="1" name=""/>
        <p:cNvGrpSpPr/>
        <p:nvPr/>
      </p:nvGrpSpPr>
      <p:grpSpPr>
        <a:xfrm>
          <a:off x="0" y="0"/>
          <a:ext cx="0" cy="0"/>
          <a:chOff x="0" y="0"/>
          <a:chExt cx="0" cy="0"/>
        </a:xfrm>
      </p:grpSpPr>
      <p:sp>
        <p:nvSpPr>
          <p:cNvPr id="2" name="Freeform 2"/>
          <p:cNvSpPr/>
          <p:nvPr/>
        </p:nvSpPr>
        <p:spPr>
          <a:xfrm>
            <a:off x="-117344" y="-1739108"/>
            <a:ext cx="19320553" cy="12848168"/>
          </a:xfrm>
          <a:custGeom>
            <a:avLst/>
            <a:gdLst/>
            <a:ahLst/>
            <a:cxnLst/>
            <a:rect l="l" t="t" r="r" b="b"/>
            <a:pathLst>
              <a:path w="19320553" h="12848168">
                <a:moveTo>
                  <a:pt x="0" y="0"/>
                </a:moveTo>
                <a:lnTo>
                  <a:pt x="19320553" y="0"/>
                </a:lnTo>
                <a:lnTo>
                  <a:pt x="19320553" y="12848168"/>
                </a:lnTo>
                <a:lnTo>
                  <a:pt x="0" y="12848168"/>
                </a:lnTo>
                <a:lnTo>
                  <a:pt x="0" y="0"/>
                </a:lnTo>
                <a:close/>
              </a:path>
            </a:pathLst>
          </a:custGeom>
          <a:blipFill>
            <a:blip r:embed="rId2">
              <a:alphaModFix amt="14000"/>
            </a:blip>
            <a:stretch>
              <a:fillRect/>
            </a:stretch>
          </a:blipFill>
        </p:spPr>
      </p:sp>
      <p:grpSp>
        <p:nvGrpSpPr>
          <p:cNvPr id="3" name="Group 3"/>
          <p:cNvGrpSpPr/>
          <p:nvPr/>
        </p:nvGrpSpPr>
        <p:grpSpPr>
          <a:xfrm>
            <a:off x="1028700" y="2811780"/>
            <a:ext cx="13030200" cy="384048"/>
            <a:chOff x="0" y="0"/>
            <a:chExt cx="17373600" cy="512064"/>
          </a:xfrm>
        </p:grpSpPr>
        <p:sp>
          <p:nvSpPr>
            <p:cNvPr id="4" name="Freeform 4"/>
            <p:cNvSpPr/>
            <p:nvPr/>
          </p:nvSpPr>
          <p:spPr>
            <a:xfrm>
              <a:off x="0" y="0"/>
              <a:ext cx="17373600" cy="512064"/>
            </a:xfrm>
            <a:custGeom>
              <a:avLst/>
              <a:gdLst/>
              <a:ahLst/>
              <a:cxnLst/>
              <a:rect l="l" t="t" r="r" b="b"/>
              <a:pathLst>
                <a:path w="17373600" h="512064">
                  <a:moveTo>
                    <a:pt x="0" y="0"/>
                  </a:moveTo>
                  <a:lnTo>
                    <a:pt x="17373600" y="0"/>
                  </a:lnTo>
                  <a:lnTo>
                    <a:pt x="17373600" y="512064"/>
                  </a:lnTo>
                  <a:lnTo>
                    <a:pt x="0" y="512064"/>
                  </a:lnTo>
                  <a:close/>
                </a:path>
              </a:pathLst>
            </a:custGeom>
            <a:blipFill>
              <a:blip r:embed="rId3">
                <a:alphaModFix amt="0"/>
              </a:blip>
              <a:stretch>
                <a:fillRect t="-611099" b="-611099"/>
              </a:stretch>
            </a:blipFill>
          </p:spPr>
        </p:sp>
        <p:sp>
          <p:nvSpPr>
            <p:cNvPr id="5" name="TextBox 5"/>
            <p:cNvSpPr txBox="1"/>
            <p:nvPr/>
          </p:nvSpPr>
          <p:spPr>
            <a:xfrm>
              <a:off x="0" y="0"/>
              <a:ext cx="17373600" cy="512064"/>
            </a:xfrm>
            <a:prstGeom prst="rect">
              <a:avLst/>
            </a:prstGeom>
          </p:spPr>
          <p:txBody>
            <a:bodyPr lIns="0" tIns="0" rIns="0" bIns="0" rtlCol="0" anchor="ctr"/>
            <a:lstStyle/>
            <a:p>
              <a:pPr algn="l">
                <a:lnSpc>
                  <a:spcPts val="2160"/>
                </a:lnSpc>
              </a:pPr>
              <a:r>
                <a:rPr lang="en-US" sz="1800" b="1">
                  <a:solidFill>
                    <a:srgbClr val="F2C94C"/>
                  </a:solidFill>
                  <a:latin typeface="Aptos Bold"/>
                  <a:ea typeface="Aptos Bold"/>
                  <a:cs typeface="Aptos Bold"/>
                  <a:sym typeface="Aptos Bold"/>
                </a:rPr>
                <a:t>DASHBOARD PAGE 2</a:t>
              </a:r>
            </a:p>
          </p:txBody>
        </p:sp>
      </p:grpSp>
      <p:grpSp>
        <p:nvGrpSpPr>
          <p:cNvPr id="6" name="Group 6"/>
          <p:cNvGrpSpPr/>
          <p:nvPr/>
        </p:nvGrpSpPr>
        <p:grpSpPr>
          <a:xfrm>
            <a:off x="987552" y="3401568"/>
            <a:ext cx="15910560" cy="1920240"/>
            <a:chOff x="0" y="0"/>
            <a:chExt cx="21214080" cy="2560320"/>
          </a:xfrm>
        </p:grpSpPr>
        <p:sp>
          <p:nvSpPr>
            <p:cNvPr id="7" name="Freeform 7"/>
            <p:cNvSpPr/>
            <p:nvPr/>
          </p:nvSpPr>
          <p:spPr>
            <a:xfrm>
              <a:off x="0" y="0"/>
              <a:ext cx="21214080" cy="2560320"/>
            </a:xfrm>
            <a:custGeom>
              <a:avLst/>
              <a:gdLst/>
              <a:ahLst/>
              <a:cxnLst/>
              <a:rect l="l" t="t" r="r" b="b"/>
              <a:pathLst>
                <a:path w="21214080" h="2560320">
                  <a:moveTo>
                    <a:pt x="0" y="0"/>
                  </a:moveTo>
                  <a:lnTo>
                    <a:pt x="21214080" y="0"/>
                  </a:lnTo>
                  <a:lnTo>
                    <a:pt x="21214080" y="2560320"/>
                  </a:lnTo>
                  <a:lnTo>
                    <a:pt x="0" y="2560320"/>
                  </a:lnTo>
                  <a:close/>
                </a:path>
              </a:pathLst>
            </a:custGeom>
            <a:blipFill>
              <a:blip r:embed="rId3">
                <a:alphaModFix amt="0"/>
              </a:blip>
              <a:stretch>
                <a:fillRect t="-111447" b="-111447"/>
              </a:stretch>
            </a:blipFill>
          </p:spPr>
        </p:sp>
        <p:sp>
          <p:nvSpPr>
            <p:cNvPr id="8" name="TextBox 8"/>
            <p:cNvSpPr txBox="1"/>
            <p:nvPr/>
          </p:nvSpPr>
          <p:spPr>
            <a:xfrm>
              <a:off x="0" y="0"/>
              <a:ext cx="21214080" cy="2560320"/>
            </a:xfrm>
            <a:prstGeom prst="rect">
              <a:avLst/>
            </a:prstGeom>
          </p:spPr>
          <p:txBody>
            <a:bodyPr lIns="0" tIns="0" rIns="0" bIns="0" rtlCol="0" anchor="ctr"/>
            <a:lstStyle/>
            <a:p>
              <a:pPr algn="l">
                <a:lnSpc>
                  <a:spcPts val="7559"/>
                </a:lnSpc>
              </a:pPr>
              <a:r>
                <a:rPr lang="en-US" sz="6300" b="1">
                  <a:solidFill>
                    <a:srgbClr val="FFFFFF"/>
                  </a:solidFill>
                  <a:latin typeface="Aptos Bold"/>
                  <a:ea typeface="Aptos Bold"/>
                  <a:cs typeface="Aptos Bold"/>
                  <a:sym typeface="Aptos Bold"/>
                </a:rPr>
                <a:t>Customer Analysis</a:t>
              </a:r>
            </a:p>
            <a:p>
              <a:pPr algn="l">
                <a:lnSpc>
                  <a:spcPts val="7559"/>
                </a:lnSpc>
              </a:pPr>
              <a:r>
                <a:rPr lang="en-US" sz="6300" b="1">
                  <a:solidFill>
                    <a:srgbClr val="FFFFFF"/>
                  </a:solidFill>
                  <a:latin typeface="Aptos Bold"/>
                  <a:ea typeface="Aptos Bold"/>
                  <a:cs typeface="Aptos Bold"/>
                  <a:sym typeface="Aptos Bold"/>
                </a:rPr>
                <a:t>Demographics and Segments</a:t>
              </a:r>
            </a:p>
          </p:txBody>
        </p:sp>
      </p:grpSp>
      <p:sp>
        <p:nvSpPr>
          <p:cNvPr id="9" name="AutoShape 9"/>
          <p:cNvSpPr/>
          <p:nvPr/>
        </p:nvSpPr>
        <p:spPr>
          <a:xfrm rot="33780">
            <a:off x="999982" y="5883592"/>
            <a:ext cx="5818146" cy="0"/>
          </a:xfrm>
          <a:prstGeom prst="line">
            <a:avLst/>
          </a:prstGeom>
          <a:ln w="28575" cap="rnd">
            <a:solidFill>
              <a:srgbClr val="F2C94C"/>
            </a:solidFill>
            <a:prstDash val="solid"/>
            <a:headEnd type="none" w="sm" len="sm"/>
            <a:tailEnd type="none" w="sm" len="sm"/>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Customer Analysis Overview</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Designed to answer Objective 1 and Objective 4</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sp>
        <p:nvSpPr>
          <p:cNvPr id="12" name="Freeform 12"/>
          <p:cNvSpPr/>
          <p:nvPr/>
        </p:nvSpPr>
        <p:spPr>
          <a:xfrm>
            <a:off x="1555541" y="1867870"/>
            <a:ext cx="15176917" cy="7390430"/>
          </a:xfrm>
          <a:custGeom>
            <a:avLst/>
            <a:gdLst/>
            <a:ahLst/>
            <a:cxnLst/>
            <a:rect l="l" t="t" r="r" b="b"/>
            <a:pathLst>
              <a:path w="15176917" h="7390430">
                <a:moveTo>
                  <a:pt x="0" y="0"/>
                </a:moveTo>
                <a:lnTo>
                  <a:pt x="15176918" y="0"/>
                </a:lnTo>
                <a:lnTo>
                  <a:pt x="15176918" y="7390430"/>
                </a:lnTo>
                <a:lnTo>
                  <a:pt x="0" y="7390430"/>
                </a:lnTo>
                <a:lnTo>
                  <a:pt x="0" y="0"/>
                </a:lnTo>
                <a:close/>
              </a:path>
            </a:pathLst>
          </a:custGeom>
          <a:blipFill>
            <a:blip r:embed="rId3"/>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Customers by Gender</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Donut chart selected for a simple proportional comparison</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175166" y="2516886"/>
            <a:ext cx="6889899" cy="4937760"/>
            <a:chOff x="0" y="0"/>
            <a:chExt cx="9186532" cy="6583680"/>
          </a:xfrm>
        </p:grpSpPr>
        <p:sp>
          <p:nvSpPr>
            <p:cNvPr id="13" name="Freeform 13" descr="/mnt/data/cust_gender.png"/>
            <p:cNvSpPr/>
            <p:nvPr/>
          </p:nvSpPr>
          <p:spPr>
            <a:xfrm>
              <a:off x="0" y="0"/>
              <a:ext cx="9186545" cy="6583680"/>
            </a:xfrm>
            <a:custGeom>
              <a:avLst/>
              <a:gdLst/>
              <a:ahLst/>
              <a:cxnLst/>
              <a:rect l="l" t="t" r="r" b="b"/>
              <a:pathLst>
                <a:path w="9186545" h="6583680">
                  <a:moveTo>
                    <a:pt x="0" y="0"/>
                  </a:moveTo>
                  <a:lnTo>
                    <a:pt x="9186545" y="0"/>
                  </a:lnTo>
                  <a:lnTo>
                    <a:pt x="9186545" y="6583680"/>
                  </a:lnTo>
                  <a:lnTo>
                    <a:pt x="0" y="6583680"/>
                  </a:lnTo>
                  <a:lnTo>
                    <a:pt x="0" y="0"/>
                  </a:lnTo>
                  <a:close/>
                </a:path>
              </a:pathLst>
            </a:custGeom>
            <a:blipFill>
              <a:blip r:embed="rId3"/>
              <a:stretch>
                <a:fillRect/>
              </a:stretch>
            </a:blipFill>
          </p:spPr>
        </p:sp>
      </p:grpSp>
      <p:grpSp>
        <p:nvGrpSpPr>
          <p:cNvPr id="14" name="Group 14"/>
          <p:cNvGrpSpPr/>
          <p:nvPr/>
        </p:nvGrpSpPr>
        <p:grpSpPr>
          <a:xfrm>
            <a:off x="8722384" y="2442234"/>
            <a:ext cx="7955280" cy="5486400"/>
            <a:chOff x="0" y="0"/>
            <a:chExt cx="10607040" cy="7315200"/>
          </a:xfrm>
        </p:grpSpPr>
        <p:sp>
          <p:nvSpPr>
            <p:cNvPr id="15" name="Freeform 15"/>
            <p:cNvSpPr/>
            <p:nvPr/>
          </p:nvSpPr>
          <p:spPr>
            <a:xfrm>
              <a:off x="0" y="0"/>
              <a:ext cx="10607040" cy="7315200"/>
            </a:xfrm>
            <a:custGeom>
              <a:avLst/>
              <a:gdLst/>
              <a:ahLst/>
              <a:cxnLst/>
              <a:rect l="l" t="t" r="r" b="b"/>
              <a:pathLst>
                <a:path w="10607040" h="7315200">
                  <a:moveTo>
                    <a:pt x="0" y="0"/>
                  </a:moveTo>
                  <a:lnTo>
                    <a:pt x="10607040" y="0"/>
                  </a:lnTo>
                  <a:lnTo>
                    <a:pt x="10607040" y="7315200"/>
                  </a:lnTo>
                  <a:lnTo>
                    <a:pt x="0" y="7315200"/>
                  </a:lnTo>
                  <a:close/>
                </a:path>
              </a:pathLst>
            </a:custGeom>
            <a:blipFill>
              <a:blip r:embed="rId2">
                <a:alphaModFix amt="0"/>
              </a:blip>
              <a:stretch>
                <a:fillRect l="-38485" r="-38485"/>
              </a:stretch>
            </a:blipFill>
          </p:spPr>
        </p:sp>
        <p:sp>
          <p:nvSpPr>
            <p:cNvPr id="16" name="TextBox 16"/>
            <p:cNvSpPr txBox="1"/>
            <p:nvPr/>
          </p:nvSpPr>
          <p:spPr>
            <a:xfrm>
              <a:off x="0" y="0"/>
              <a:ext cx="10607040" cy="73152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Donut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Gender has few categories, so a donut chart clearly shows the share of each group</a:t>
              </a:r>
            </a:p>
            <a:p>
              <a:pPr algn="l">
                <a:lnSpc>
                  <a:spcPts val="3060"/>
                </a:lnSpc>
              </a:pPr>
              <a:endParaRPr lang="en-US" sz="2550">
                <a:solidFill>
                  <a:srgbClr val="1F2937"/>
                </a:solidFill>
                <a:latin typeface="Aptos"/>
                <a:ea typeface="Aptos"/>
                <a:cs typeface="Aptos"/>
                <a:sym typeface="Aptos"/>
              </a:endParaRP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Revenue by Income Group</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Column chart selected for segment comparison</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028700" y="2516886"/>
            <a:ext cx="7093372" cy="4869180"/>
            <a:chOff x="0" y="0"/>
            <a:chExt cx="9457830" cy="6492240"/>
          </a:xfrm>
        </p:grpSpPr>
        <p:sp>
          <p:nvSpPr>
            <p:cNvPr id="13" name="Freeform 13" descr="/mnt/data/cust_income.png"/>
            <p:cNvSpPr/>
            <p:nvPr/>
          </p:nvSpPr>
          <p:spPr>
            <a:xfrm>
              <a:off x="0" y="0"/>
              <a:ext cx="9457817" cy="6492240"/>
            </a:xfrm>
            <a:custGeom>
              <a:avLst/>
              <a:gdLst/>
              <a:ahLst/>
              <a:cxnLst/>
              <a:rect l="l" t="t" r="r" b="b"/>
              <a:pathLst>
                <a:path w="9457817" h="6492240">
                  <a:moveTo>
                    <a:pt x="0" y="0"/>
                  </a:moveTo>
                  <a:lnTo>
                    <a:pt x="9457817" y="0"/>
                  </a:lnTo>
                  <a:lnTo>
                    <a:pt x="9457817" y="6492240"/>
                  </a:lnTo>
                  <a:lnTo>
                    <a:pt x="0" y="6492240"/>
                  </a:lnTo>
                  <a:lnTo>
                    <a:pt x="0" y="0"/>
                  </a:lnTo>
                  <a:close/>
                </a:path>
              </a:pathLst>
            </a:custGeom>
            <a:blipFill>
              <a:blip r:embed="rId3"/>
              <a:stretch>
                <a:fillRect/>
              </a:stretch>
            </a:blipFill>
          </p:spPr>
        </p:sp>
      </p:grpSp>
      <p:grpSp>
        <p:nvGrpSpPr>
          <p:cNvPr id="14" name="Group 14"/>
          <p:cNvGrpSpPr/>
          <p:nvPr/>
        </p:nvGrpSpPr>
        <p:grpSpPr>
          <a:xfrm>
            <a:off x="9144000" y="2400300"/>
            <a:ext cx="7955280" cy="5486400"/>
            <a:chOff x="0" y="0"/>
            <a:chExt cx="10607040" cy="7315200"/>
          </a:xfrm>
        </p:grpSpPr>
        <p:sp>
          <p:nvSpPr>
            <p:cNvPr id="15" name="Freeform 15"/>
            <p:cNvSpPr/>
            <p:nvPr/>
          </p:nvSpPr>
          <p:spPr>
            <a:xfrm>
              <a:off x="0" y="0"/>
              <a:ext cx="10607040" cy="7315200"/>
            </a:xfrm>
            <a:custGeom>
              <a:avLst/>
              <a:gdLst/>
              <a:ahLst/>
              <a:cxnLst/>
              <a:rect l="l" t="t" r="r" b="b"/>
              <a:pathLst>
                <a:path w="10607040" h="7315200">
                  <a:moveTo>
                    <a:pt x="0" y="0"/>
                  </a:moveTo>
                  <a:lnTo>
                    <a:pt x="10607040" y="0"/>
                  </a:lnTo>
                  <a:lnTo>
                    <a:pt x="10607040" y="7315200"/>
                  </a:lnTo>
                  <a:lnTo>
                    <a:pt x="0" y="7315200"/>
                  </a:lnTo>
                  <a:close/>
                </a:path>
              </a:pathLst>
            </a:custGeom>
            <a:blipFill>
              <a:blip r:embed="rId2">
                <a:alphaModFix amt="0"/>
              </a:blip>
              <a:stretch>
                <a:fillRect l="-38485" r="-38485"/>
              </a:stretch>
            </a:blipFill>
          </p:spPr>
        </p:sp>
        <p:sp>
          <p:nvSpPr>
            <p:cNvPr id="16" name="TextBox 16"/>
            <p:cNvSpPr txBox="1"/>
            <p:nvPr/>
          </p:nvSpPr>
          <p:spPr>
            <a:xfrm>
              <a:off x="0" y="0"/>
              <a:ext cx="10607040" cy="73152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Column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It clearly compares revenue generated by Low, Middle and High Income groups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This chart </a:t>
              </a:r>
              <a:r>
                <a:rPr lang="en-US" sz="2550">
                  <a:solidFill>
                    <a:srgbClr val="1F2937"/>
                  </a:solidFill>
                  <a:latin typeface="Aptos"/>
                  <a:ea typeface="Aptos"/>
                  <a:cs typeface="Aptos"/>
                  <a:sym typeface="Aptos"/>
                </a:rPr>
                <a:t>supports premium targeting, loyalty strategy and segment-specific promotions</a:t>
              </a: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Revenue by Age Group</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Column chart selected for customer lifecycle comparison</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165860" y="2072773"/>
            <a:ext cx="7132320" cy="4426953"/>
            <a:chOff x="0" y="0"/>
            <a:chExt cx="9509760" cy="5902604"/>
          </a:xfrm>
        </p:grpSpPr>
        <p:sp>
          <p:nvSpPr>
            <p:cNvPr id="13" name="Freeform 13" descr="/mnt/data/cust_age.png"/>
            <p:cNvSpPr/>
            <p:nvPr/>
          </p:nvSpPr>
          <p:spPr>
            <a:xfrm>
              <a:off x="0" y="0"/>
              <a:ext cx="9509760" cy="5902579"/>
            </a:xfrm>
            <a:custGeom>
              <a:avLst/>
              <a:gdLst/>
              <a:ahLst/>
              <a:cxnLst/>
              <a:rect l="l" t="t" r="r" b="b"/>
              <a:pathLst>
                <a:path w="9509760" h="5902579">
                  <a:moveTo>
                    <a:pt x="0" y="0"/>
                  </a:moveTo>
                  <a:lnTo>
                    <a:pt x="9509760" y="0"/>
                  </a:lnTo>
                  <a:lnTo>
                    <a:pt x="9509760" y="5902579"/>
                  </a:lnTo>
                  <a:lnTo>
                    <a:pt x="0" y="5902579"/>
                  </a:lnTo>
                  <a:lnTo>
                    <a:pt x="0" y="0"/>
                  </a:lnTo>
                  <a:close/>
                </a:path>
              </a:pathLst>
            </a:custGeom>
            <a:blipFill>
              <a:blip r:embed="rId3"/>
              <a:stretch>
                <a:fillRect/>
              </a:stretch>
            </a:blipFill>
          </p:spPr>
        </p:sp>
      </p:grpSp>
      <p:grpSp>
        <p:nvGrpSpPr>
          <p:cNvPr id="14" name="Group 14"/>
          <p:cNvGrpSpPr/>
          <p:nvPr/>
        </p:nvGrpSpPr>
        <p:grpSpPr>
          <a:xfrm>
            <a:off x="8834293" y="2072773"/>
            <a:ext cx="7955280" cy="5486400"/>
            <a:chOff x="0" y="0"/>
            <a:chExt cx="10607040" cy="7315200"/>
          </a:xfrm>
        </p:grpSpPr>
        <p:sp>
          <p:nvSpPr>
            <p:cNvPr id="15" name="Freeform 15"/>
            <p:cNvSpPr/>
            <p:nvPr/>
          </p:nvSpPr>
          <p:spPr>
            <a:xfrm>
              <a:off x="0" y="0"/>
              <a:ext cx="10607040" cy="7315200"/>
            </a:xfrm>
            <a:custGeom>
              <a:avLst/>
              <a:gdLst/>
              <a:ahLst/>
              <a:cxnLst/>
              <a:rect l="l" t="t" r="r" b="b"/>
              <a:pathLst>
                <a:path w="10607040" h="7315200">
                  <a:moveTo>
                    <a:pt x="0" y="0"/>
                  </a:moveTo>
                  <a:lnTo>
                    <a:pt x="10607040" y="0"/>
                  </a:lnTo>
                  <a:lnTo>
                    <a:pt x="10607040" y="7315200"/>
                  </a:lnTo>
                  <a:lnTo>
                    <a:pt x="0" y="7315200"/>
                  </a:lnTo>
                  <a:close/>
                </a:path>
              </a:pathLst>
            </a:custGeom>
            <a:blipFill>
              <a:blip r:embed="rId2">
                <a:alphaModFix amt="0"/>
              </a:blip>
              <a:stretch>
                <a:fillRect l="-38485" r="-38485"/>
              </a:stretch>
            </a:blipFill>
          </p:spPr>
        </p:sp>
        <p:sp>
          <p:nvSpPr>
            <p:cNvPr id="16" name="TextBox 16"/>
            <p:cNvSpPr txBox="1"/>
            <p:nvPr/>
          </p:nvSpPr>
          <p:spPr>
            <a:xfrm>
              <a:off x="0" y="0"/>
              <a:ext cx="10607040" cy="73152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Column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Age groups are discrete categories that are easy to compare using vertical bars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Supports age-based marketing messages, product offers and customer retention campaigns</a:t>
              </a: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Total Customers by Country</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Horizontal bar chart selected for customer base comparison</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165860" y="2046351"/>
            <a:ext cx="7132320" cy="4479808"/>
            <a:chOff x="0" y="0"/>
            <a:chExt cx="9509760" cy="5973077"/>
          </a:xfrm>
        </p:grpSpPr>
        <p:sp>
          <p:nvSpPr>
            <p:cNvPr id="13" name="Freeform 13" descr="/mnt/data/cust_country.png"/>
            <p:cNvSpPr/>
            <p:nvPr/>
          </p:nvSpPr>
          <p:spPr>
            <a:xfrm>
              <a:off x="0" y="0"/>
              <a:ext cx="9509760" cy="5973064"/>
            </a:xfrm>
            <a:custGeom>
              <a:avLst/>
              <a:gdLst/>
              <a:ahLst/>
              <a:cxnLst/>
              <a:rect l="l" t="t" r="r" b="b"/>
              <a:pathLst>
                <a:path w="9509760" h="5973064">
                  <a:moveTo>
                    <a:pt x="0" y="0"/>
                  </a:moveTo>
                  <a:lnTo>
                    <a:pt x="9509760" y="0"/>
                  </a:lnTo>
                  <a:lnTo>
                    <a:pt x="9509760" y="5973064"/>
                  </a:lnTo>
                  <a:lnTo>
                    <a:pt x="0" y="5973064"/>
                  </a:lnTo>
                  <a:lnTo>
                    <a:pt x="0" y="0"/>
                  </a:lnTo>
                  <a:close/>
                </a:path>
              </a:pathLst>
            </a:custGeom>
            <a:blipFill>
              <a:blip r:embed="rId3"/>
              <a:stretch>
                <a:fillRect/>
              </a:stretch>
            </a:blipFill>
          </p:spPr>
        </p:sp>
      </p:grpSp>
      <p:grpSp>
        <p:nvGrpSpPr>
          <p:cNvPr id="14" name="Group 14"/>
          <p:cNvGrpSpPr/>
          <p:nvPr/>
        </p:nvGrpSpPr>
        <p:grpSpPr>
          <a:xfrm>
            <a:off x="8709660" y="2125980"/>
            <a:ext cx="7955280" cy="5486400"/>
            <a:chOff x="0" y="0"/>
            <a:chExt cx="10607040" cy="7315200"/>
          </a:xfrm>
        </p:grpSpPr>
        <p:sp>
          <p:nvSpPr>
            <p:cNvPr id="15" name="Freeform 15"/>
            <p:cNvSpPr/>
            <p:nvPr/>
          </p:nvSpPr>
          <p:spPr>
            <a:xfrm>
              <a:off x="0" y="0"/>
              <a:ext cx="10607040" cy="7315200"/>
            </a:xfrm>
            <a:custGeom>
              <a:avLst/>
              <a:gdLst/>
              <a:ahLst/>
              <a:cxnLst/>
              <a:rect l="l" t="t" r="r" b="b"/>
              <a:pathLst>
                <a:path w="10607040" h="7315200">
                  <a:moveTo>
                    <a:pt x="0" y="0"/>
                  </a:moveTo>
                  <a:lnTo>
                    <a:pt x="10607040" y="0"/>
                  </a:lnTo>
                  <a:lnTo>
                    <a:pt x="10607040" y="7315200"/>
                  </a:lnTo>
                  <a:lnTo>
                    <a:pt x="0" y="7315200"/>
                  </a:lnTo>
                  <a:close/>
                </a:path>
              </a:pathLst>
            </a:custGeom>
            <a:blipFill>
              <a:blip r:embed="rId2">
                <a:alphaModFix amt="0"/>
              </a:blip>
              <a:stretch>
                <a:fillRect l="-38485" r="-38485"/>
              </a:stretch>
            </a:blipFill>
          </p:spPr>
        </p:sp>
        <p:sp>
          <p:nvSpPr>
            <p:cNvPr id="16" name="TextBox 16"/>
            <p:cNvSpPr txBox="1"/>
            <p:nvPr/>
          </p:nvSpPr>
          <p:spPr>
            <a:xfrm>
              <a:off x="0" y="0"/>
              <a:ext cx="10607040" cy="731520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Bar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Horizontal bars are better for country labels and ranking countries by customer count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Helps management decide where to focus marketing, service and expansion efforts</a:t>
              </a: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2447"/>
        </a:solidFill>
        <a:effectLst/>
      </p:bgPr>
    </p:bg>
    <p:spTree>
      <p:nvGrpSpPr>
        <p:cNvPr id="1" name=""/>
        <p:cNvGrpSpPr/>
        <p:nvPr/>
      </p:nvGrpSpPr>
      <p:grpSpPr>
        <a:xfrm>
          <a:off x="0" y="0"/>
          <a:ext cx="0" cy="0"/>
          <a:chOff x="0" y="0"/>
          <a:chExt cx="0" cy="0"/>
        </a:xfrm>
      </p:grpSpPr>
      <p:sp>
        <p:nvSpPr>
          <p:cNvPr id="2" name="Freeform 2"/>
          <p:cNvSpPr/>
          <p:nvPr/>
        </p:nvSpPr>
        <p:spPr>
          <a:xfrm>
            <a:off x="-117344" y="-1739108"/>
            <a:ext cx="19320553" cy="12848168"/>
          </a:xfrm>
          <a:custGeom>
            <a:avLst/>
            <a:gdLst/>
            <a:ahLst/>
            <a:cxnLst/>
            <a:rect l="l" t="t" r="r" b="b"/>
            <a:pathLst>
              <a:path w="19320553" h="12848168">
                <a:moveTo>
                  <a:pt x="0" y="0"/>
                </a:moveTo>
                <a:lnTo>
                  <a:pt x="19320553" y="0"/>
                </a:lnTo>
                <a:lnTo>
                  <a:pt x="19320553" y="12848168"/>
                </a:lnTo>
                <a:lnTo>
                  <a:pt x="0" y="12848168"/>
                </a:lnTo>
                <a:lnTo>
                  <a:pt x="0" y="0"/>
                </a:lnTo>
                <a:close/>
              </a:path>
            </a:pathLst>
          </a:custGeom>
          <a:blipFill>
            <a:blip r:embed="rId2">
              <a:alphaModFix amt="14000"/>
            </a:blip>
            <a:stretch>
              <a:fillRect/>
            </a:stretch>
          </a:blipFill>
        </p:spPr>
      </p:sp>
      <p:grpSp>
        <p:nvGrpSpPr>
          <p:cNvPr id="3" name="Group 3"/>
          <p:cNvGrpSpPr/>
          <p:nvPr/>
        </p:nvGrpSpPr>
        <p:grpSpPr>
          <a:xfrm>
            <a:off x="1028700" y="2811780"/>
            <a:ext cx="13030200" cy="384048"/>
            <a:chOff x="0" y="0"/>
            <a:chExt cx="17373600" cy="512064"/>
          </a:xfrm>
        </p:grpSpPr>
        <p:sp>
          <p:nvSpPr>
            <p:cNvPr id="4" name="Freeform 4"/>
            <p:cNvSpPr/>
            <p:nvPr/>
          </p:nvSpPr>
          <p:spPr>
            <a:xfrm>
              <a:off x="0" y="0"/>
              <a:ext cx="17373600" cy="512064"/>
            </a:xfrm>
            <a:custGeom>
              <a:avLst/>
              <a:gdLst/>
              <a:ahLst/>
              <a:cxnLst/>
              <a:rect l="l" t="t" r="r" b="b"/>
              <a:pathLst>
                <a:path w="17373600" h="512064">
                  <a:moveTo>
                    <a:pt x="0" y="0"/>
                  </a:moveTo>
                  <a:lnTo>
                    <a:pt x="17373600" y="0"/>
                  </a:lnTo>
                  <a:lnTo>
                    <a:pt x="17373600" y="512064"/>
                  </a:lnTo>
                  <a:lnTo>
                    <a:pt x="0" y="512064"/>
                  </a:lnTo>
                  <a:close/>
                </a:path>
              </a:pathLst>
            </a:custGeom>
            <a:blipFill>
              <a:blip r:embed="rId3">
                <a:alphaModFix amt="0"/>
              </a:blip>
              <a:stretch>
                <a:fillRect t="-611099" b="-611099"/>
              </a:stretch>
            </a:blipFill>
          </p:spPr>
        </p:sp>
        <p:sp>
          <p:nvSpPr>
            <p:cNvPr id="5" name="TextBox 5"/>
            <p:cNvSpPr txBox="1"/>
            <p:nvPr/>
          </p:nvSpPr>
          <p:spPr>
            <a:xfrm>
              <a:off x="0" y="0"/>
              <a:ext cx="17373600" cy="512064"/>
            </a:xfrm>
            <a:prstGeom prst="rect">
              <a:avLst/>
            </a:prstGeom>
          </p:spPr>
          <p:txBody>
            <a:bodyPr lIns="0" tIns="0" rIns="0" bIns="0" rtlCol="0" anchor="ctr"/>
            <a:lstStyle/>
            <a:p>
              <a:pPr algn="l">
                <a:lnSpc>
                  <a:spcPts val="2160"/>
                </a:lnSpc>
              </a:pPr>
              <a:r>
                <a:rPr lang="en-US" sz="1800" b="1">
                  <a:solidFill>
                    <a:srgbClr val="F2C94C"/>
                  </a:solidFill>
                  <a:latin typeface="Aptos Bold"/>
                  <a:ea typeface="Aptos Bold"/>
                  <a:cs typeface="Aptos Bold"/>
                  <a:sym typeface="Aptos Bold"/>
                </a:rPr>
                <a:t>DASHBOARD PAGE 3</a:t>
              </a:r>
            </a:p>
          </p:txBody>
        </p:sp>
      </p:grpSp>
      <p:grpSp>
        <p:nvGrpSpPr>
          <p:cNvPr id="6" name="Group 6"/>
          <p:cNvGrpSpPr/>
          <p:nvPr/>
        </p:nvGrpSpPr>
        <p:grpSpPr>
          <a:xfrm>
            <a:off x="987552" y="3401568"/>
            <a:ext cx="15910560" cy="1920240"/>
            <a:chOff x="0" y="0"/>
            <a:chExt cx="21214080" cy="2560320"/>
          </a:xfrm>
        </p:grpSpPr>
        <p:sp>
          <p:nvSpPr>
            <p:cNvPr id="7" name="Freeform 7"/>
            <p:cNvSpPr/>
            <p:nvPr/>
          </p:nvSpPr>
          <p:spPr>
            <a:xfrm>
              <a:off x="0" y="0"/>
              <a:ext cx="21214080" cy="2560320"/>
            </a:xfrm>
            <a:custGeom>
              <a:avLst/>
              <a:gdLst/>
              <a:ahLst/>
              <a:cxnLst/>
              <a:rect l="l" t="t" r="r" b="b"/>
              <a:pathLst>
                <a:path w="21214080" h="2560320">
                  <a:moveTo>
                    <a:pt x="0" y="0"/>
                  </a:moveTo>
                  <a:lnTo>
                    <a:pt x="21214080" y="0"/>
                  </a:lnTo>
                  <a:lnTo>
                    <a:pt x="21214080" y="2560320"/>
                  </a:lnTo>
                  <a:lnTo>
                    <a:pt x="0" y="2560320"/>
                  </a:lnTo>
                  <a:close/>
                </a:path>
              </a:pathLst>
            </a:custGeom>
            <a:blipFill>
              <a:blip r:embed="rId3">
                <a:alphaModFix amt="0"/>
              </a:blip>
              <a:stretch>
                <a:fillRect t="-111447" b="-111447"/>
              </a:stretch>
            </a:blipFill>
          </p:spPr>
        </p:sp>
        <p:sp>
          <p:nvSpPr>
            <p:cNvPr id="8" name="TextBox 8"/>
            <p:cNvSpPr txBox="1"/>
            <p:nvPr/>
          </p:nvSpPr>
          <p:spPr>
            <a:xfrm>
              <a:off x="0" y="0"/>
              <a:ext cx="21214080" cy="2560320"/>
            </a:xfrm>
            <a:prstGeom prst="rect">
              <a:avLst/>
            </a:prstGeom>
          </p:spPr>
          <p:txBody>
            <a:bodyPr lIns="0" tIns="0" rIns="0" bIns="0" rtlCol="0" anchor="ctr"/>
            <a:lstStyle/>
            <a:p>
              <a:pPr algn="l">
                <a:lnSpc>
                  <a:spcPts val="7559"/>
                </a:lnSpc>
              </a:pPr>
              <a:r>
                <a:rPr lang="en-US" sz="6300" b="1">
                  <a:solidFill>
                    <a:srgbClr val="FFFFFF"/>
                  </a:solidFill>
                  <a:latin typeface="Aptos Bold"/>
                  <a:ea typeface="Aptos Bold"/>
                  <a:cs typeface="Aptos Bold"/>
                  <a:sym typeface="Aptos Bold"/>
                </a:rPr>
                <a:t>Product Analysis</a:t>
              </a:r>
            </a:p>
            <a:p>
              <a:pPr algn="l">
                <a:lnSpc>
                  <a:spcPts val="7559"/>
                </a:lnSpc>
              </a:pPr>
              <a:r>
                <a:rPr lang="en-US" sz="6300" b="1">
                  <a:solidFill>
                    <a:srgbClr val="FFFFFF"/>
                  </a:solidFill>
                  <a:latin typeface="Aptos Bold"/>
                  <a:ea typeface="Aptos Bold"/>
                  <a:cs typeface="Aptos Bold"/>
                  <a:sym typeface="Aptos Bold"/>
                </a:rPr>
                <a:t>Revenue and Purchase Volume</a:t>
              </a:r>
            </a:p>
          </p:txBody>
        </p:sp>
      </p:grpSp>
      <p:sp>
        <p:nvSpPr>
          <p:cNvPr id="9" name="AutoShape 9"/>
          <p:cNvSpPr/>
          <p:nvPr/>
        </p:nvSpPr>
        <p:spPr>
          <a:xfrm rot="33780">
            <a:off x="999982" y="5883592"/>
            <a:ext cx="5818146" cy="0"/>
          </a:xfrm>
          <a:prstGeom prst="line">
            <a:avLst/>
          </a:prstGeom>
          <a:ln w="28575" cap="rnd">
            <a:solidFill>
              <a:srgbClr val="F2C94C"/>
            </a:solidFill>
            <a:prstDash val="solid"/>
            <a:headEnd type="none" w="sm" len="sm"/>
            <a:tailEnd type="none" w="sm" len="sm"/>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Product Analysis Overview</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Designed to answer Objective 2</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sp>
        <p:nvSpPr>
          <p:cNvPr id="12" name="Freeform 12"/>
          <p:cNvSpPr/>
          <p:nvPr/>
        </p:nvSpPr>
        <p:spPr>
          <a:xfrm>
            <a:off x="1120140" y="2185191"/>
            <a:ext cx="16047720" cy="6440922"/>
          </a:xfrm>
          <a:custGeom>
            <a:avLst/>
            <a:gdLst/>
            <a:ahLst/>
            <a:cxnLst/>
            <a:rect l="l" t="t" r="r" b="b"/>
            <a:pathLst>
              <a:path w="16047720" h="6440922">
                <a:moveTo>
                  <a:pt x="0" y="0"/>
                </a:moveTo>
                <a:lnTo>
                  <a:pt x="16047720" y="0"/>
                </a:lnTo>
                <a:lnTo>
                  <a:pt x="16047720" y="6440922"/>
                </a:lnTo>
                <a:lnTo>
                  <a:pt x="0" y="6440922"/>
                </a:lnTo>
                <a:lnTo>
                  <a:pt x="0" y="0"/>
                </a:lnTo>
                <a:close/>
              </a:path>
            </a:pathLst>
          </a:custGeom>
          <a:blipFill>
            <a:blip r:embed="rId3"/>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Top Products by Revenue</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Horizontal bar chart selected for ranking revenue-generating products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669780" y="2125980"/>
            <a:ext cx="7475220" cy="5760720"/>
            <a:chOff x="0" y="0"/>
            <a:chExt cx="9966960" cy="7680960"/>
          </a:xfrm>
        </p:grpSpPr>
        <p:sp>
          <p:nvSpPr>
            <p:cNvPr id="13" name="Freeform 13"/>
            <p:cNvSpPr/>
            <p:nvPr/>
          </p:nvSpPr>
          <p:spPr>
            <a:xfrm>
              <a:off x="0" y="0"/>
              <a:ext cx="9966960" cy="7680960"/>
            </a:xfrm>
            <a:custGeom>
              <a:avLst/>
              <a:gdLst/>
              <a:ahLst/>
              <a:cxnLst/>
              <a:rect l="l" t="t" r="r" b="b"/>
              <a:pathLst>
                <a:path w="9966960" h="7680960">
                  <a:moveTo>
                    <a:pt x="0" y="0"/>
                  </a:moveTo>
                  <a:lnTo>
                    <a:pt x="9966960" y="0"/>
                  </a:lnTo>
                  <a:lnTo>
                    <a:pt x="9966960" y="7680960"/>
                  </a:lnTo>
                  <a:lnTo>
                    <a:pt x="0" y="7680960"/>
                  </a:lnTo>
                  <a:close/>
                </a:path>
              </a:pathLst>
            </a:custGeom>
            <a:blipFill>
              <a:blip r:embed="rId2">
                <a:alphaModFix amt="0"/>
              </a:blip>
              <a:stretch>
                <a:fillRect l="-48876" r="-48876"/>
              </a:stretch>
            </a:blipFill>
          </p:spPr>
        </p:sp>
        <p:sp>
          <p:nvSpPr>
            <p:cNvPr id="14" name="TextBox 14"/>
            <p:cNvSpPr txBox="1"/>
            <p:nvPr/>
          </p:nvSpPr>
          <p:spPr>
            <a:xfrm>
              <a:off x="0" y="0"/>
              <a:ext cx="9966960" cy="768096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Bar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Product names are easier to read horizontally and bars support ranking from highest to lowest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Helps prioritise product promotion, inventory allocation and pricing strategy</a:t>
              </a:r>
            </a:p>
            <a:p>
              <a:pPr algn="l">
                <a:lnSpc>
                  <a:spcPts val="3060"/>
                </a:lnSpc>
              </a:pPr>
              <a:endParaRPr lang="en-US" sz="2550">
                <a:solidFill>
                  <a:srgbClr val="1F2937"/>
                </a:solidFill>
                <a:latin typeface="Aptos"/>
                <a:ea typeface="Aptos"/>
                <a:cs typeface="Aptos"/>
                <a:sym typeface="Aptos"/>
              </a:endParaRPr>
            </a:p>
          </p:txBody>
        </p:sp>
      </p:grpSp>
      <p:sp>
        <p:nvSpPr>
          <p:cNvPr id="15" name="Freeform 15"/>
          <p:cNvSpPr/>
          <p:nvPr/>
        </p:nvSpPr>
        <p:spPr>
          <a:xfrm>
            <a:off x="905256" y="2125980"/>
            <a:ext cx="8044009" cy="6614177"/>
          </a:xfrm>
          <a:custGeom>
            <a:avLst/>
            <a:gdLst/>
            <a:ahLst/>
            <a:cxnLst/>
            <a:rect l="l" t="t" r="r" b="b"/>
            <a:pathLst>
              <a:path w="8044009" h="6614177">
                <a:moveTo>
                  <a:pt x="0" y="0"/>
                </a:moveTo>
                <a:lnTo>
                  <a:pt x="8044009" y="0"/>
                </a:lnTo>
                <a:lnTo>
                  <a:pt x="8044009" y="6614177"/>
                </a:lnTo>
                <a:lnTo>
                  <a:pt x="0" y="6614177"/>
                </a:lnTo>
                <a:lnTo>
                  <a:pt x="0" y="0"/>
                </a:lnTo>
                <a:close/>
              </a:path>
            </a:pathLst>
          </a:custGeom>
          <a:blipFill>
            <a:blip r:embed="rId3"/>
            <a:stretch>
              <a:fillRect r="-176142" b="-34792"/>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Top Products by Quantity Sold</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Horizontal bar chart selected for ranking product demand</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601200" y="2365723"/>
            <a:ext cx="7475220" cy="5555554"/>
            <a:chOff x="0" y="0"/>
            <a:chExt cx="9966960" cy="7407405"/>
          </a:xfrm>
        </p:grpSpPr>
        <p:sp>
          <p:nvSpPr>
            <p:cNvPr id="13" name="Freeform 13"/>
            <p:cNvSpPr/>
            <p:nvPr/>
          </p:nvSpPr>
          <p:spPr>
            <a:xfrm>
              <a:off x="0" y="0"/>
              <a:ext cx="9966960" cy="7407405"/>
            </a:xfrm>
            <a:custGeom>
              <a:avLst/>
              <a:gdLst/>
              <a:ahLst/>
              <a:cxnLst/>
              <a:rect l="l" t="t" r="r" b="b"/>
              <a:pathLst>
                <a:path w="9966960" h="7407405">
                  <a:moveTo>
                    <a:pt x="0" y="0"/>
                  </a:moveTo>
                  <a:lnTo>
                    <a:pt x="9966960" y="0"/>
                  </a:lnTo>
                  <a:lnTo>
                    <a:pt x="9966960" y="7407405"/>
                  </a:lnTo>
                  <a:lnTo>
                    <a:pt x="0" y="7407405"/>
                  </a:lnTo>
                  <a:close/>
                </a:path>
              </a:pathLst>
            </a:custGeom>
            <a:blipFill>
              <a:blip r:embed="rId2">
                <a:alphaModFix amt="0"/>
              </a:blip>
              <a:stretch>
                <a:fillRect l="-48876" r="-48876" b="-3692"/>
              </a:stretch>
            </a:blipFill>
          </p:spPr>
        </p:sp>
        <p:sp>
          <p:nvSpPr>
            <p:cNvPr id="14" name="TextBox 14"/>
            <p:cNvSpPr txBox="1"/>
            <p:nvPr/>
          </p:nvSpPr>
          <p:spPr>
            <a:xfrm>
              <a:off x="0" y="0"/>
              <a:ext cx="9966960" cy="7407405"/>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Clustered Bar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Quantity sold is a ranking metric; horizontal bars clearly compare product demand</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Supports stock planning and demand forecasting</a:t>
              </a:r>
            </a:p>
            <a:p>
              <a:pPr algn="l">
                <a:lnSpc>
                  <a:spcPts val="3060"/>
                </a:lnSpc>
              </a:pPr>
              <a:endParaRPr lang="en-US" sz="2550">
                <a:solidFill>
                  <a:srgbClr val="1F2937"/>
                </a:solidFill>
                <a:latin typeface="Aptos"/>
                <a:ea typeface="Aptos"/>
                <a:cs typeface="Aptos"/>
                <a:sym typeface="Aptos"/>
              </a:endParaRPr>
            </a:p>
          </p:txBody>
        </p:sp>
      </p:grpSp>
      <p:sp>
        <p:nvSpPr>
          <p:cNvPr id="15" name="Freeform 15"/>
          <p:cNvSpPr/>
          <p:nvPr/>
        </p:nvSpPr>
        <p:spPr>
          <a:xfrm>
            <a:off x="1028700" y="2365723"/>
            <a:ext cx="7551974" cy="6148067"/>
          </a:xfrm>
          <a:custGeom>
            <a:avLst/>
            <a:gdLst/>
            <a:ahLst/>
            <a:cxnLst/>
            <a:rect l="l" t="t" r="r" b="b"/>
            <a:pathLst>
              <a:path w="7551974" h="6148067">
                <a:moveTo>
                  <a:pt x="0" y="0"/>
                </a:moveTo>
                <a:lnTo>
                  <a:pt x="7551974" y="0"/>
                </a:lnTo>
                <a:lnTo>
                  <a:pt x="7551974" y="6148067"/>
                </a:lnTo>
                <a:lnTo>
                  <a:pt x="0" y="6148067"/>
                </a:lnTo>
                <a:lnTo>
                  <a:pt x="0" y="0"/>
                </a:lnTo>
                <a:close/>
              </a:path>
            </a:pathLst>
          </a:custGeom>
          <a:blipFill>
            <a:blip r:embed="rId3"/>
            <a:stretch>
              <a:fillRect l="-106098" r="-74275" b="-38227"/>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Product Dashboard Slicers</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Interactive filters make product analysis flexible</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303020" y="4732020"/>
            <a:ext cx="15636240" cy="3703320"/>
            <a:chOff x="0" y="0"/>
            <a:chExt cx="20848320" cy="4937760"/>
          </a:xfrm>
        </p:grpSpPr>
        <p:sp>
          <p:nvSpPr>
            <p:cNvPr id="13" name="Freeform 13"/>
            <p:cNvSpPr/>
            <p:nvPr/>
          </p:nvSpPr>
          <p:spPr>
            <a:xfrm>
              <a:off x="0" y="0"/>
              <a:ext cx="20848320" cy="4937760"/>
            </a:xfrm>
            <a:custGeom>
              <a:avLst/>
              <a:gdLst/>
              <a:ahLst/>
              <a:cxnLst/>
              <a:rect l="l" t="t" r="r" b="b"/>
              <a:pathLst>
                <a:path w="20848320" h="4937760">
                  <a:moveTo>
                    <a:pt x="0" y="0"/>
                  </a:moveTo>
                  <a:lnTo>
                    <a:pt x="20848320" y="0"/>
                  </a:lnTo>
                  <a:lnTo>
                    <a:pt x="20848320" y="4937760"/>
                  </a:lnTo>
                  <a:lnTo>
                    <a:pt x="0" y="4937760"/>
                  </a:lnTo>
                  <a:close/>
                </a:path>
              </a:pathLst>
            </a:custGeom>
            <a:blipFill>
              <a:blip r:embed="rId2">
                <a:alphaModFix amt="0"/>
              </a:blip>
              <a:stretch>
                <a:fillRect t="-32270" b="-32270"/>
              </a:stretch>
            </a:blipFill>
          </p:spPr>
        </p:sp>
        <p:sp>
          <p:nvSpPr>
            <p:cNvPr id="14" name="TextBox 14"/>
            <p:cNvSpPr txBox="1"/>
            <p:nvPr/>
          </p:nvSpPr>
          <p:spPr>
            <a:xfrm>
              <a:off x="0" y="0"/>
              <a:ext cx="20848320" cy="4937760"/>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Slicers used: </a:t>
              </a:r>
              <a:r>
                <a:rPr lang="en-US" sz="2700">
                  <a:solidFill>
                    <a:srgbClr val="1F2937"/>
                  </a:solidFill>
                  <a:latin typeface="Aptos"/>
                  <a:ea typeface="Aptos"/>
                  <a:cs typeface="Aptos"/>
                  <a:sym typeface="Aptos"/>
                </a:rPr>
                <a:t>Year, Country, Gender and Age Group</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Reason: </a:t>
              </a:r>
              <a:r>
                <a:rPr lang="en-US" sz="2700">
                  <a:solidFill>
                    <a:srgbClr val="1F2937"/>
                  </a:solidFill>
                  <a:latin typeface="Aptos"/>
                  <a:ea typeface="Aptos"/>
                  <a:cs typeface="Aptos"/>
                  <a:sym typeface="Aptos"/>
                </a:rPr>
                <a:t>Users can analyse product performance for a selected market, customer profile or time period</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Professional value: </a:t>
              </a:r>
              <a:r>
                <a:rPr lang="en-US" sz="2700">
                  <a:solidFill>
                    <a:srgbClr val="1F2937"/>
                  </a:solidFill>
                  <a:latin typeface="Aptos"/>
                  <a:ea typeface="Aptos"/>
                  <a:cs typeface="Aptos"/>
                  <a:sym typeface="Aptos"/>
                </a:rPr>
                <a:t>Reduces the need for separate static reports and supports self-service analytic</a:t>
              </a: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1160528" y="2369220"/>
            <a:ext cx="15983473" cy="2390385"/>
          </a:xfrm>
          <a:custGeom>
            <a:avLst/>
            <a:gdLst/>
            <a:ahLst/>
            <a:cxnLst/>
            <a:rect l="l" t="t" r="r" b="b"/>
            <a:pathLst>
              <a:path w="15983473" h="2390385">
                <a:moveTo>
                  <a:pt x="0" y="0"/>
                </a:moveTo>
                <a:lnTo>
                  <a:pt x="15983473" y="0"/>
                </a:lnTo>
                <a:lnTo>
                  <a:pt x="15983473" y="2390385"/>
                </a:lnTo>
                <a:lnTo>
                  <a:pt x="0" y="2390385"/>
                </a:lnTo>
                <a:lnTo>
                  <a:pt x="0" y="0"/>
                </a:lnTo>
                <a:close/>
              </a:path>
            </a:pathLst>
          </a:custGeom>
          <a:blipFill>
            <a:blip r:embed="rId3"/>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2447"/>
        </a:solidFill>
        <a:effectLst/>
      </p:bgPr>
    </p:bg>
    <p:spTree>
      <p:nvGrpSpPr>
        <p:cNvPr id="1" name=""/>
        <p:cNvGrpSpPr/>
        <p:nvPr/>
      </p:nvGrpSpPr>
      <p:grpSpPr>
        <a:xfrm>
          <a:off x="0" y="0"/>
          <a:ext cx="0" cy="0"/>
          <a:chOff x="0" y="0"/>
          <a:chExt cx="0" cy="0"/>
        </a:xfrm>
      </p:grpSpPr>
      <p:sp>
        <p:nvSpPr>
          <p:cNvPr id="2" name="Freeform 2"/>
          <p:cNvSpPr/>
          <p:nvPr/>
        </p:nvSpPr>
        <p:spPr>
          <a:xfrm>
            <a:off x="-117344" y="-1739108"/>
            <a:ext cx="19320553" cy="12848168"/>
          </a:xfrm>
          <a:custGeom>
            <a:avLst/>
            <a:gdLst/>
            <a:ahLst/>
            <a:cxnLst/>
            <a:rect l="l" t="t" r="r" b="b"/>
            <a:pathLst>
              <a:path w="19320553" h="12848168">
                <a:moveTo>
                  <a:pt x="0" y="0"/>
                </a:moveTo>
                <a:lnTo>
                  <a:pt x="19320553" y="0"/>
                </a:lnTo>
                <a:lnTo>
                  <a:pt x="19320553" y="12848168"/>
                </a:lnTo>
                <a:lnTo>
                  <a:pt x="0" y="12848168"/>
                </a:lnTo>
                <a:lnTo>
                  <a:pt x="0" y="0"/>
                </a:lnTo>
                <a:close/>
              </a:path>
            </a:pathLst>
          </a:custGeom>
          <a:blipFill>
            <a:blip r:embed="rId2">
              <a:alphaModFix amt="14000"/>
            </a:blip>
            <a:stretch>
              <a:fillRect/>
            </a:stretch>
          </a:blipFill>
        </p:spPr>
      </p:sp>
      <p:grpSp>
        <p:nvGrpSpPr>
          <p:cNvPr id="3" name="Group 3"/>
          <p:cNvGrpSpPr/>
          <p:nvPr/>
        </p:nvGrpSpPr>
        <p:grpSpPr>
          <a:xfrm>
            <a:off x="1028700" y="2811780"/>
            <a:ext cx="13030200" cy="384048"/>
            <a:chOff x="0" y="0"/>
            <a:chExt cx="17373600" cy="512064"/>
          </a:xfrm>
        </p:grpSpPr>
        <p:sp>
          <p:nvSpPr>
            <p:cNvPr id="4" name="Freeform 4"/>
            <p:cNvSpPr/>
            <p:nvPr/>
          </p:nvSpPr>
          <p:spPr>
            <a:xfrm>
              <a:off x="0" y="0"/>
              <a:ext cx="17373600" cy="512064"/>
            </a:xfrm>
            <a:custGeom>
              <a:avLst/>
              <a:gdLst/>
              <a:ahLst/>
              <a:cxnLst/>
              <a:rect l="l" t="t" r="r" b="b"/>
              <a:pathLst>
                <a:path w="17373600" h="512064">
                  <a:moveTo>
                    <a:pt x="0" y="0"/>
                  </a:moveTo>
                  <a:lnTo>
                    <a:pt x="17373600" y="0"/>
                  </a:lnTo>
                  <a:lnTo>
                    <a:pt x="17373600" y="512064"/>
                  </a:lnTo>
                  <a:lnTo>
                    <a:pt x="0" y="512064"/>
                  </a:lnTo>
                  <a:close/>
                </a:path>
              </a:pathLst>
            </a:custGeom>
            <a:blipFill>
              <a:blip r:embed="rId3">
                <a:alphaModFix amt="0"/>
              </a:blip>
              <a:stretch>
                <a:fillRect t="-611099" b="-611099"/>
              </a:stretch>
            </a:blipFill>
          </p:spPr>
        </p:sp>
        <p:sp>
          <p:nvSpPr>
            <p:cNvPr id="5" name="TextBox 5"/>
            <p:cNvSpPr txBox="1"/>
            <p:nvPr/>
          </p:nvSpPr>
          <p:spPr>
            <a:xfrm>
              <a:off x="0" y="0"/>
              <a:ext cx="17373600" cy="512064"/>
            </a:xfrm>
            <a:prstGeom prst="rect">
              <a:avLst/>
            </a:prstGeom>
          </p:spPr>
          <p:txBody>
            <a:bodyPr lIns="0" tIns="0" rIns="0" bIns="0" rtlCol="0" anchor="ctr"/>
            <a:lstStyle/>
            <a:p>
              <a:pPr algn="l">
                <a:lnSpc>
                  <a:spcPts val="2160"/>
                </a:lnSpc>
              </a:pPr>
              <a:r>
                <a:rPr lang="en-US" sz="1800" b="1">
                  <a:solidFill>
                    <a:srgbClr val="F2C94C"/>
                  </a:solidFill>
                  <a:latin typeface="Aptos Bold"/>
                  <a:ea typeface="Aptos Bold"/>
                  <a:cs typeface="Aptos Bold"/>
                  <a:sym typeface="Aptos Bold"/>
                </a:rPr>
                <a:t>DASHBOARD PAGE 4</a:t>
              </a:r>
            </a:p>
          </p:txBody>
        </p:sp>
      </p:grpSp>
      <p:grpSp>
        <p:nvGrpSpPr>
          <p:cNvPr id="6" name="Group 6"/>
          <p:cNvGrpSpPr/>
          <p:nvPr/>
        </p:nvGrpSpPr>
        <p:grpSpPr>
          <a:xfrm>
            <a:off x="987552" y="3401568"/>
            <a:ext cx="15910560" cy="1920240"/>
            <a:chOff x="0" y="0"/>
            <a:chExt cx="21214080" cy="2560320"/>
          </a:xfrm>
        </p:grpSpPr>
        <p:sp>
          <p:nvSpPr>
            <p:cNvPr id="7" name="Freeform 7"/>
            <p:cNvSpPr/>
            <p:nvPr/>
          </p:nvSpPr>
          <p:spPr>
            <a:xfrm>
              <a:off x="0" y="0"/>
              <a:ext cx="21214080" cy="2560320"/>
            </a:xfrm>
            <a:custGeom>
              <a:avLst/>
              <a:gdLst/>
              <a:ahLst/>
              <a:cxnLst/>
              <a:rect l="l" t="t" r="r" b="b"/>
              <a:pathLst>
                <a:path w="21214080" h="2560320">
                  <a:moveTo>
                    <a:pt x="0" y="0"/>
                  </a:moveTo>
                  <a:lnTo>
                    <a:pt x="21214080" y="0"/>
                  </a:lnTo>
                  <a:lnTo>
                    <a:pt x="21214080" y="2560320"/>
                  </a:lnTo>
                  <a:lnTo>
                    <a:pt x="0" y="2560320"/>
                  </a:lnTo>
                  <a:close/>
                </a:path>
              </a:pathLst>
            </a:custGeom>
            <a:blipFill>
              <a:blip r:embed="rId3">
                <a:alphaModFix amt="0"/>
              </a:blip>
              <a:stretch>
                <a:fillRect t="-111447" b="-111447"/>
              </a:stretch>
            </a:blipFill>
          </p:spPr>
        </p:sp>
        <p:sp>
          <p:nvSpPr>
            <p:cNvPr id="8" name="TextBox 8"/>
            <p:cNvSpPr txBox="1"/>
            <p:nvPr/>
          </p:nvSpPr>
          <p:spPr>
            <a:xfrm>
              <a:off x="0" y="0"/>
              <a:ext cx="21214080" cy="2560320"/>
            </a:xfrm>
            <a:prstGeom prst="rect">
              <a:avLst/>
            </a:prstGeom>
          </p:spPr>
          <p:txBody>
            <a:bodyPr lIns="0" tIns="0" rIns="0" bIns="0" rtlCol="0" anchor="ctr"/>
            <a:lstStyle/>
            <a:p>
              <a:pPr algn="l">
                <a:lnSpc>
                  <a:spcPts val="7559"/>
                </a:lnSpc>
              </a:pPr>
              <a:r>
                <a:rPr lang="en-US" sz="6300" b="1">
                  <a:solidFill>
                    <a:srgbClr val="FFFFFF"/>
                  </a:solidFill>
                  <a:latin typeface="Aptos Bold"/>
                  <a:ea typeface="Aptos Bold"/>
                  <a:cs typeface="Aptos Bold"/>
                  <a:sym typeface="Aptos Bold"/>
                </a:rPr>
                <a:t>Sales Trend</a:t>
              </a:r>
            </a:p>
            <a:p>
              <a:pPr algn="l">
                <a:lnSpc>
                  <a:spcPts val="7559"/>
                </a:lnSpc>
              </a:pPr>
              <a:r>
                <a:rPr lang="en-US" sz="6300" b="1">
                  <a:solidFill>
                    <a:srgbClr val="FFFFFF"/>
                  </a:solidFill>
                  <a:latin typeface="Aptos Bold"/>
                  <a:ea typeface="Aptos Bold"/>
                  <a:cs typeface="Aptos Bold"/>
                  <a:sym typeface="Aptos Bold"/>
                </a:rPr>
                <a:t>Orders and Revenue Over Time</a:t>
              </a:r>
            </a:p>
          </p:txBody>
        </p:sp>
      </p:grpSp>
      <p:sp>
        <p:nvSpPr>
          <p:cNvPr id="9" name="AutoShape 9"/>
          <p:cNvSpPr/>
          <p:nvPr/>
        </p:nvSpPr>
        <p:spPr>
          <a:xfrm rot="33780">
            <a:off x="999982" y="5883592"/>
            <a:ext cx="5818146" cy="0"/>
          </a:xfrm>
          <a:prstGeom prst="line">
            <a:avLst/>
          </a:prstGeom>
          <a:ln w="28575" cap="rnd">
            <a:solidFill>
              <a:srgbClr val="F2C94C"/>
            </a:solidFill>
            <a:prstDash val="solid"/>
            <a:headEnd type="none" w="sm" len="sm"/>
            <a:tailEnd type="none" w="sm" len="sm"/>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Sales Trend Overview</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Designed to answer Objective 3</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sp>
        <p:nvSpPr>
          <p:cNvPr id="12" name="Freeform 12"/>
          <p:cNvSpPr/>
          <p:nvPr/>
        </p:nvSpPr>
        <p:spPr>
          <a:xfrm>
            <a:off x="2196854" y="2185191"/>
            <a:ext cx="13894291" cy="6849196"/>
          </a:xfrm>
          <a:custGeom>
            <a:avLst/>
            <a:gdLst/>
            <a:ahLst/>
            <a:cxnLst/>
            <a:rect l="l" t="t" r="r" b="b"/>
            <a:pathLst>
              <a:path w="13894291" h="6849196">
                <a:moveTo>
                  <a:pt x="0" y="0"/>
                </a:moveTo>
                <a:lnTo>
                  <a:pt x="13894292" y="0"/>
                </a:lnTo>
                <a:lnTo>
                  <a:pt x="13894292" y="6849197"/>
                </a:lnTo>
                <a:lnTo>
                  <a:pt x="0" y="6849197"/>
                </a:lnTo>
                <a:lnTo>
                  <a:pt x="0" y="0"/>
                </a:lnTo>
                <a:close/>
              </a:path>
            </a:pathLst>
          </a:custGeom>
          <a:blipFill>
            <a:blip r:embed="rId3"/>
            <a:stretch>
              <a:fillRect/>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Orders by Month</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Line chart selected for order trend analysis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193303" y="2125980"/>
            <a:ext cx="7713878" cy="6515100"/>
            <a:chOff x="0" y="0"/>
            <a:chExt cx="10285171" cy="8686800"/>
          </a:xfrm>
        </p:grpSpPr>
        <p:sp>
          <p:nvSpPr>
            <p:cNvPr id="13" name="Freeform 13" descr="/mnt/data/sales_orders.png"/>
            <p:cNvSpPr/>
            <p:nvPr/>
          </p:nvSpPr>
          <p:spPr>
            <a:xfrm>
              <a:off x="0" y="0"/>
              <a:ext cx="10285222" cy="8686800"/>
            </a:xfrm>
            <a:custGeom>
              <a:avLst/>
              <a:gdLst/>
              <a:ahLst/>
              <a:cxnLst/>
              <a:rect l="l" t="t" r="r" b="b"/>
              <a:pathLst>
                <a:path w="10285222" h="8686800">
                  <a:moveTo>
                    <a:pt x="0" y="0"/>
                  </a:moveTo>
                  <a:lnTo>
                    <a:pt x="10285222" y="0"/>
                  </a:lnTo>
                  <a:lnTo>
                    <a:pt x="10285222" y="8686800"/>
                  </a:lnTo>
                  <a:lnTo>
                    <a:pt x="0" y="8686800"/>
                  </a:lnTo>
                  <a:lnTo>
                    <a:pt x="0" y="0"/>
                  </a:lnTo>
                  <a:close/>
                </a:path>
              </a:pathLst>
            </a:custGeom>
            <a:blipFill>
              <a:blip r:embed="rId3"/>
              <a:stretch>
                <a:fillRect/>
              </a:stretch>
            </a:blipFill>
          </p:spPr>
        </p:sp>
      </p:grpSp>
      <p:grpSp>
        <p:nvGrpSpPr>
          <p:cNvPr id="14" name="Group 14"/>
          <p:cNvGrpSpPr/>
          <p:nvPr/>
        </p:nvGrpSpPr>
        <p:grpSpPr>
          <a:xfrm>
            <a:off x="9669780" y="2125980"/>
            <a:ext cx="7475220" cy="5760720"/>
            <a:chOff x="0" y="0"/>
            <a:chExt cx="9966960" cy="7680960"/>
          </a:xfrm>
        </p:grpSpPr>
        <p:sp>
          <p:nvSpPr>
            <p:cNvPr id="15" name="Freeform 15"/>
            <p:cNvSpPr/>
            <p:nvPr/>
          </p:nvSpPr>
          <p:spPr>
            <a:xfrm>
              <a:off x="0" y="0"/>
              <a:ext cx="9966960" cy="7680960"/>
            </a:xfrm>
            <a:custGeom>
              <a:avLst/>
              <a:gdLst/>
              <a:ahLst/>
              <a:cxnLst/>
              <a:rect l="l" t="t" r="r" b="b"/>
              <a:pathLst>
                <a:path w="9966960" h="7680960">
                  <a:moveTo>
                    <a:pt x="0" y="0"/>
                  </a:moveTo>
                  <a:lnTo>
                    <a:pt x="9966960" y="0"/>
                  </a:lnTo>
                  <a:lnTo>
                    <a:pt x="9966960" y="7680960"/>
                  </a:lnTo>
                  <a:lnTo>
                    <a:pt x="0" y="7680960"/>
                  </a:lnTo>
                  <a:close/>
                </a:path>
              </a:pathLst>
            </a:custGeom>
            <a:blipFill>
              <a:blip r:embed="rId2">
                <a:alphaModFix amt="0"/>
              </a:blip>
              <a:stretch>
                <a:fillRect l="-48876" r="-48876"/>
              </a:stretch>
            </a:blipFill>
          </p:spPr>
        </p:sp>
        <p:sp>
          <p:nvSpPr>
            <p:cNvPr id="16" name="TextBox 16"/>
            <p:cNvSpPr txBox="1"/>
            <p:nvPr/>
          </p:nvSpPr>
          <p:spPr>
            <a:xfrm>
              <a:off x="0" y="0"/>
              <a:ext cx="9966960" cy="768096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Line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Order volume is time-based, and line charts are best for showing movement across months</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Supports campaign scheduling, staffing and demand planning</a:t>
              </a: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Revenue by Month</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Line chart selected for revenue trend and seasonality analysis</a:t>
              </a:r>
            </a:p>
          </p:txBody>
        </p:sp>
      </p:grpSp>
      <p:sp>
        <p:nvSpPr>
          <p:cNvPr id="8" name="AutoShape 8"/>
          <p:cNvSpPr/>
          <p:nvPr/>
        </p:nvSpPr>
        <p:spPr>
          <a:xfrm rot="3960">
            <a:off x="882005" y="1613726"/>
            <a:ext cx="16478260" cy="0"/>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1308529" y="2125980"/>
            <a:ext cx="7296912" cy="6515100"/>
            <a:chOff x="0" y="0"/>
            <a:chExt cx="9729216" cy="8686800"/>
          </a:xfrm>
        </p:grpSpPr>
        <p:sp>
          <p:nvSpPr>
            <p:cNvPr id="13" name="Freeform 13" descr="/mnt/data/sales_revenue.png"/>
            <p:cNvSpPr/>
            <p:nvPr/>
          </p:nvSpPr>
          <p:spPr>
            <a:xfrm>
              <a:off x="0" y="0"/>
              <a:ext cx="9729216" cy="8686800"/>
            </a:xfrm>
            <a:custGeom>
              <a:avLst/>
              <a:gdLst/>
              <a:ahLst/>
              <a:cxnLst/>
              <a:rect l="l" t="t" r="r" b="b"/>
              <a:pathLst>
                <a:path w="9729216" h="8686800">
                  <a:moveTo>
                    <a:pt x="0" y="0"/>
                  </a:moveTo>
                  <a:lnTo>
                    <a:pt x="9729216" y="0"/>
                  </a:lnTo>
                  <a:lnTo>
                    <a:pt x="9729216" y="8686800"/>
                  </a:lnTo>
                  <a:lnTo>
                    <a:pt x="0" y="8686800"/>
                  </a:lnTo>
                  <a:lnTo>
                    <a:pt x="0" y="0"/>
                  </a:lnTo>
                  <a:close/>
                </a:path>
              </a:pathLst>
            </a:custGeom>
            <a:blipFill>
              <a:blip r:embed="rId3"/>
              <a:stretch>
                <a:fillRect/>
              </a:stretch>
            </a:blipFill>
          </p:spPr>
        </p:sp>
      </p:grpSp>
      <p:grpSp>
        <p:nvGrpSpPr>
          <p:cNvPr id="14" name="Group 14"/>
          <p:cNvGrpSpPr/>
          <p:nvPr/>
        </p:nvGrpSpPr>
        <p:grpSpPr>
          <a:xfrm>
            <a:off x="9601200" y="2263140"/>
            <a:ext cx="7475220" cy="5760720"/>
            <a:chOff x="0" y="0"/>
            <a:chExt cx="9966960" cy="7680960"/>
          </a:xfrm>
        </p:grpSpPr>
        <p:sp>
          <p:nvSpPr>
            <p:cNvPr id="15" name="Freeform 15"/>
            <p:cNvSpPr/>
            <p:nvPr/>
          </p:nvSpPr>
          <p:spPr>
            <a:xfrm>
              <a:off x="0" y="0"/>
              <a:ext cx="9966960" cy="7680960"/>
            </a:xfrm>
            <a:custGeom>
              <a:avLst/>
              <a:gdLst/>
              <a:ahLst/>
              <a:cxnLst/>
              <a:rect l="l" t="t" r="r" b="b"/>
              <a:pathLst>
                <a:path w="9966960" h="7680960">
                  <a:moveTo>
                    <a:pt x="0" y="0"/>
                  </a:moveTo>
                  <a:lnTo>
                    <a:pt x="9966960" y="0"/>
                  </a:lnTo>
                  <a:lnTo>
                    <a:pt x="9966960" y="7680960"/>
                  </a:lnTo>
                  <a:lnTo>
                    <a:pt x="0" y="7680960"/>
                  </a:lnTo>
                  <a:close/>
                </a:path>
              </a:pathLst>
            </a:custGeom>
            <a:blipFill>
              <a:blip r:embed="rId2">
                <a:alphaModFix amt="0"/>
              </a:blip>
              <a:stretch>
                <a:fillRect l="-48876" r="-48876"/>
              </a:stretch>
            </a:blipFill>
          </p:spPr>
        </p:sp>
        <p:sp>
          <p:nvSpPr>
            <p:cNvPr id="16" name="TextBox 16"/>
            <p:cNvSpPr txBox="1"/>
            <p:nvPr/>
          </p:nvSpPr>
          <p:spPr>
            <a:xfrm>
              <a:off x="0" y="0"/>
              <a:ext cx="9966960" cy="7680960"/>
            </a:xfrm>
            <a:prstGeom prst="rect">
              <a:avLst/>
            </a:prstGeom>
          </p:spPr>
          <p:txBody>
            <a:bodyPr lIns="0" tIns="0" rIns="0" bIns="0" rtlCol="0" anchor="ctr"/>
            <a:lstStyle/>
            <a:p>
              <a:pPr algn="l">
                <a:lnSpc>
                  <a:spcPts val="3060"/>
                </a:lnSpc>
              </a:pPr>
              <a:r>
                <a:rPr lang="en-US" sz="2550" b="1">
                  <a:solidFill>
                    <a:srgbClr val="1F2937"/>
                  </a:solidFill>
                  <a:latin typeface="Aptos Bold"/>
                  <a:ea typeface="Aptos Bold"/>
                  <a:cs typeface="Aptos Bold"/>
                  <a:sym typeface="Aptos Bold"/>
                </a:rPr>
                <a:t>Chart type: </a:t>
              </a:r>
              <a:r>
                <a:rPr lang="en-US" sz="2550">
                  <a:solidFill>
                    <a:srgbClr val="1F2937"/>
                  </a:solidFill>
                  <a:latin typeface="Aptos"/>
                  <a:ea typeface="Aptos"/>
                  <a:cs typeface="Aptos"/>
                  <a:sym typeface="Aptos"/>
                </a:rPr>
                <a:t>Line Chart</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Reason: </a:t>
              </a:r>
              <a:r>
                <a:rPr lang="en-US" sz="2550">
                  <a:solidFill>
                    <a:srgbClr val="1F2937"/>
                  </a:solidFill>
                  <a:latin typeface="Aptos"/>
                  <a:ea typeface="Aptos"/>
                  <a:cs typeface="Aptos"/>
                  <a:sym typeface="Aptos"/>
                </a:rPr>
                <a:t>Monthly revenue is a time-series metric; a line chart reveals peaks, dips and patterns clearly</a:t>
              </a:r>
            </a:p>
            <a:p>
              <a:pPr algn="l">
                <a:lnSpc>
                  <a:spcPts val="3060"/>
                </a:lnSpc>
              </a:pPr>
              <a:endParaRPr lang="en-US" sz="2550">
                <a:solidFill>
                  <a:srgbClr val="1F2937"/>
                </a:solidFill>
                <a:latin typeface="Aptos"/>
                <a:ea typeface="Aptos"/>
                <a:cs typeface="Aptos"/>
                <a:sym typeface="Aptos"/>
              </a:endParaRPr>
            </a:p>
            <a:p>
              <a:pPr algn="l">
                <a:lnSpc>
                  <a:spcPts val="3060"/>
                </a:lnSpc>
              </a:pPr>
              <a:r>
                <a:rPr lang="en-US" sz="2550" b="1">
                  <a:solidFill>
                    <a:srgbClr val="1F2937"/>
                  </a:solidFill>
                  <a:latin typeface="Aptos Bold"/>
                  <a:ea typeface="Aptos Bold"/>
                  <a:cs typeface="Aptos Bold"/>
                  <a:sym typeface="Aptos Bold"/>
                </a:rPr>
                <a:t>Business value: </a:t>
              </a:r>
              <a:r>
                <a:rPr lang="en-US" sz="2550">
                  <a:solidFill>
                    <a:srgbClr val="1F2937"/>
                  </a:solidFill>
                  <a:latin typeface="Aptos"/>
                  <a:ea typeface="Aptos"/>
                  <a:cs typeface="Aptos"/>
                  <a:sym typeface="Aptos"/>
                </a:rPr>
                <a:t>Supports forecasting, seasonal promotion planning and revenue monitoring</a:t>
              </a:r>
            </a:p>
            <a:p>
              <a:pPr algn="l">
                <a:lnSpc>
                  <a:spcPts val="3060"/>
                </a:lnSpc>
              </a:pPr>
              <a:endParaRPr lang="en-US" sz="2550">
                <a:solidFill>
                  <a:srgbClr val="1F2937"/>
                </a:solidFill>
                <a:latin typeface="Aptos"/>
                <a:ea typeface="Aptos"/>
                <a:cs typeface="Aptos"/>
                <a:sym typeface="Apto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Recommendations and Conclusion</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Turning dashboard insights into management actions</a:t>
              </a:r>
            </a:p>
          </p:txBody>
        </p:sp>
      </p:grpSp>
      <p:sp>
        <p:nvSpPr>
          <p:cNvPr id="8" name="AutoShape 8"/>
          <p:cNvSpPr/>
          <p:nvPr/>
        </p:nvSpPr>
        <p:spPr>
          <a:xfrm>
            <a:off x="882011" y="1608997"/>
            <a:ext cx="16478249" cy="18982"/>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1971089"/>
            <a:ext cx="9106324" cy="5686454"/>
            <a:chOff x="0" y="0"/>
            <a:chExt cx="11638826" cy="7267877"/>
          </a:xfrm>
        </p:grpSpPr>
        <p:sp>
          <p:nvSpPr>
            <p:cNvPr id="13" name="Freeform 13"/>
            <p:cNvSpPr/>
            <p:nvPr/>
          </p:nvSpPr>
          <p:spPr>
            <a:xfrm>
              <a:off x="0" y="0"/>
              <a:ext cx="11638826" cy="7267877"/>
            </a:xfrm>
            <a:custGeom>
              <a:avLst/>
              <a:gdLst/>
              <a:ahLst/>
              <a:cxnLst/>
              <a:rect l="l" t="t" r="r" b="b"/>
              <a:pathLst>
                <a:path w="11638826" h="7267877">
                  <a:moveTo>
                    <a:pt x="0" y="0"/>
                  </a:moveTo>
                  <a:lnTo>
                    <a:pt x="11638826" y="0"/>
                  </a:lnTo>
                  <a:lnTo>
                    <a:pt x="11638826" y="7267877"/>
                  </a:lnTo>
                  <a:lnTo>
                    <a:pt x="0" y="7267877"/>
                  </a:lnTo>
                  <a:close/>
                </a:path>
              </a:pathLst>
            </a:custGeom>
            <a:blipFill>
              <a:blip r:embed="rId2">
                <a:alphaModFix amt="0"/>
              </a:blip>
              <a:stretch>
                <a:fillRect t="-2284" r="-80698" b="-10484"/>
              </a:stretch>
            </a:blipFill>
          </p:spPr>
        </p:sp>
        <p:sp>
          <p:nvSpPr>
            <p:cNvPr id="14" name="TextBox 14"/>
            <p:cNvSpPr txBox="1"/>
            <p:nvPr/>
          </p:nvSpPr>
          <p:spPr>
            <a:xfrm>
              <a:off x="0" y="0"/>
              <a:ext cx="11638826" cy="7267877"/>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1. Customer targeting</a:t>
              </a:r>
            </a:p>
            <a:p>
              <a:pPr algn="l">
                <a:lnSpc>
                  <a:spcPts val="3240"/>
                </a:lnSpc>
              </a:pPr>
              <a:endParaRPr lang="en-US" sz="2700" b="1">
                <a:solidFill>
                  <a:srgbClr val="1F2937"/>
                </a:solidFill>
                <a:latin typeface="Aptos Bold"/>
                <a:ea typeface="Aptos Bold"/>
                <a:cs typeface="Aptos Bold"/>
                <a:sym typeface="Aptos Bold"/>
              </a:endParaRPr>
            </a:p>
            <a:p>
              <a:pPr algn="l">
                <a:lnSpc>
                  <a:spcPts val="3240"/>
                </a:lnSpc>
              </a:pPr>
              <a:r>
                <a:rPr lang="en-US" sz="2700" b="1">
                  <a:solidFill>
                    <a:srgbClr val="1F2937"/>
                  </a:solidFill>
                  <a:latin typeface="Aptos Bold"/>
                  <a:ea typeface="Aptos Bold"/>
                  <a:cs typeface="Aptos Bold"/>
                  <a:sym typeface="Aptos Bold"/>
                </a:rPr>
                <a:t>Evidence:</a:t>
              </a:r>
            </a:p>
            <a:p>
              <a:pPr algn="l">
                <a:lnSpc>
                  <a:spcPts val="3240"/>
                </a:lnSpc>
              </a:pPr>
              <a:r>
                <a:rPr lang="en-US" sz="2700">
                  <a:solidFill>
                    <a:srgbClr val="1F2937"/>
                  </a:solidFill>
                  <a:latin typeface="Aptos"/>
                  <a:ea typeface="Aptos"/>
                  <a:cs typeface="Aptos"/>
                  <a:sym typeface="Aptos"/>
                </a:rPr>
                <a:t>The High Income segment generates the highest revenue. Your age-group chart also identifies the strongest-performing age segment.</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Recommendation:</a:t>
              </a:r>
            </a:p>
            <a:p>
              <a:pPr algn="l">
                <a:lnSpc>
                  <a:spcPts val="3240"/>
                </a:lnSpc>
              </a:pPr>
              <a:r>
                <a:rPr lang="en-US" sz="2700">
                  <a:solidFill>
                    <a:srgbClr val="1F2937"/>
                  </a:solidFill>
                  <a:latin typeface="Aptos"/>
                  <a:ea typeface="Aptos"/>
                  <a:cs typeface="Aptos"/>
                  <a:sym typeface="Aptos"/>
                </a:rPr>
                <a:t>Prioritise targeted campaigns, loyalty benefits and personalised offers for the highest-value income and age segments.</a:t>
              </a:r>
            </a:p>
            <a:p>
              <a:pPr algn="l">
                <a:lnSpc>
                  <a:spcPts val="3240"/>
                </a:lnSpc>
              </a:pPr>
              <a:endParaRPr lang="en-US" sz="2700">
                <a:solidFill>
                  <a:srgbClr val="1F2937"/>
                </a:solidFill>
                <a:latin typeface="Aptos"/>
                <a:ea typeface="Aptos"/>
                <a:cs typeface="Aptos"/>
                <a:sym typeface="Aptos"/>
              </a:endParaRP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11342851" y="1971089"/>
            <a:ext cx="4361969" cy="2866994"/>
          </a:xfrm>
          <a:custGeom>
            <a:avLst/>
            <a:gdLst/>
            <a:ahLst/>
            <a:cxnLst/>
            <a:rect l="l" t="t" r="r" b="b"/>
            <a:pathLst>
              <a:path w="4361969" h="2866994">
                <a:moveTo>
                  <a:pt x="0" y="0"/>
                </a:moveTo>
                <a:lnTo>
                  <a:pt x="4361969" y="0"/>
                </a:lnTo>
                <a:lnTo>
                  <a:pt x="4361969" y="2866994"/>
                </a:lnTo>
                <a:lnTo>
                  <a:pt x="0" y="2866994"/>
                </a:lnTo>
                <a:lnTo>
                  <a:pt x="0" y="0"/>
                </a:lnTo>
                <a:close/>
              </a:path>
            </a:pathLst>
          </a:custGeom>
          <a:blipFill>
            <a:blip r:embed="rId3"/>
            <a:stretch>
              <a:fillRect l="-143380" t="-5445" r="-55528" b="-116007"/>
            </a:stretch>
          </a:blipFill>
        </p:spPr>
      </p:sp>
      <p:sp>
        <p:nvSpPr>
          <p:cNvPr id="16" name="Freeform 16"/>
          <p:cNvSpPr/>
          <p:nvPr/>
        </p:nvSpPr>
        <p:spPr>
          <a:xfrm>
            <a:off x="11579674" y="5205735"/>
            <a:ext cx="4125146" cy="2587746"/>
          </a:xfrm>
          <a:custGeom>
            <a:avLst/>
            <a:gdLst/>
            <a:ahLst/>
            <a:cxnLst/>
            <a:rect l="l" t="t" r="r" b="b"/>
            <a:pathLst>
              <a:path w="4125146" h="2587746">
                <a:moveTo>
                  <a:pt x="0" y="0"/>
                </a:moveTo>
                <a:lnTo>
                  <a:pt x="4125146" y="0"/>
                </a:lnTo>
                <a:lnTo>
                  <a:pt x="4125146" y="2587747"/>
                </a:lnTo>
                <a:lnTo>
                  <a:pt x="0" y="2587747"/>
                </a:lnTo>
                <a:lnTo>
                  <a:pt x="0" y="0"/>
                </a:lnTo>
                <a:close/>
              </a:path>
            </a:pathLst>
          </a:custGeom>
          <a:blipFill>
            <a:blip r:embed="rId3"/>
            <a:stretch>
              <a:fillRect l="-31941" t="-120930" r="-173459" b="-16137"/>
            </a:stretch>
          </a:blipFill>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Recommendations and Conclusion</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Turning dashboard insights into management actions</a:t>
              </a:r>
            </a:p>
          </p:txBody>
        </p:sp>
      </p:grpSp>
      <p:sp>
        <p:nvSpPr>
          <p:cNvPr id="8" name="AutoShape 8"/>
          <p:cNvSpPr/>
          <p:nvPr/>
        </p:nvSpPr>
        <p:spPr>
          <a:xfrm>
            <a:off x="882011" y="1608997"/>
            <a:ext cx="16478249" cy="18982"/>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1949397"/>
            <a:ext cx="9106324" cy="7472307"/>
            <a:chOff x="0" y="0"/>
            <a:chExt cx="11638826" cy="9550382"/>
          </a:xfrm>
        </p:grpSpPr>
        <p:sp>
          <p:nvSpPr>
            <p:cNvPr id="13" name="Freeform 13"/>
            <p:cNvSpPr/>
            <p:nvPr/>
          </p:nvSpPr>
          <p:spPr>
            <a:xfrm>
              <a:off x="0" y="0"/>
              <a:ext cx="11638826" cy="9550383"/>
            </a:xfrm>
            <a:custGeom>
              <a:avLst/>
              <a:gdLst/>
              <a:ahLst/>
              <a:cxnLst/>
              <a:rect l="l" t="t" r="r" b="b"/>
              <a:pathLst>
                <a:path w="11638826" h="9550383">
                  <a:moveTo>
                    <a:pt x="0" y="0"/>
                  </a:moveTo>
                  <a:lnTo>
                    <a:pt x="11638826" y="0"/>
                  </a:lnTo>
                  <a:lnTo>
                    <a:pt x="11638826" y="9550383"/>
                  </a:lnTo>
                  <a:lnTo>
                    <a:pt x="0" y="9550383"/>
                  </a:lnTo>
                  <a:close/>
                </a:path>
              </a:pathLst>
            </a:custGeom>
            <a:blipFill>
              <a:blip r:embed="rId2">
                <a:alphaModFix amt="0"/>
              </a:blip>
              <a:stretch>
                <a:fillRect t="-1738" r="-80698" b="15921"/>
              </a:stretch>
            </a:blipFill>
          </p:spPr>
        </p:sp>
        <p:sp>
          <p:nvSpPr>
            <p:cNvPr id="14" name="TextBox 14"/>
            <p:cNvSpPr txBox="1"/>
            <p:nvPr/>
          </p:nvSpPr>
          <p:spPr>
            <a:xfrm>
              <a:off x="0" y="0"/>
              <a:ext cx="11638826" cy="9550382"/>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2. Product Strategy</a:t>
              </a:r>
            </a:p>
            <a:p>
              <a:pPr algn="l">
                <a:lnSpc>
                  <a:spcPts val="3240"/>
                </a:lnSpc>
              </a:pPr>
              <a:endParaRPr lang="en-US" sz="2700" b="1">
                <a:solidFill>
                  <a:srgbClr val="1F2937"/>
                </a:solidFill>
                <a:latin typeface="Aptos Bold"/>
                <a:ea typeface="Aptos Bold"/>
                <a:cs typeface="Aptos Bold"/>
                <a:sym typeface="Aptos Bold"/>
              </a:endParaRPr>
            </a:p>
            <a:p>
              <a:pPr algn="l">
                <a:lnSpc>
                  <a:spcPts val="3240"/>
                </a:lnSpc>
              </a:pPr>
              <a:r>
                <a:rPr lang="en-US" sz="2700" b="1">
                  <a:solidFill>
                    <a:srgbClr val="1F2937"/>
                  </a:solidFill>
                  <a:latin typeface="Aptos Bold"/>
                  <a:ea typeface="Aptos Bold"/>
                  <a:cs typeface="Aptos Bold"/>
                  <a:sym typeface="Aptos Bold"/>
                </a:rPr>
                <a:t>Evidence:</a:t>
              </a:r>
            </a:p>
            <a:p>
              <a:pPr algn="l">
                <a:lnSpc>
                  <a:spcPts val="3240"/>
                </a:lnSpc>
              </a:pPr>
              <a:r>
                <a:rPr lang="en-US" sz="2700">
                  <a:solidFill>
                    <a:srgbClr val="1F2937"/>
                  </a:solidFill>
                  <a:latin typeface="Aptos"/>
                  <a:ea typeface="Aptos"/>
                  <a:cs typeface="Aptos"/>
                  <a:sym typeface="Aptos"/>
                </a:rPr>
                <a:t>Curtains rank highest by total revenue, while Sports Shoes record the highest quantity sold. This shows that the product generating the most revenue is not necessarily the product purchased most frequently.</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Recommendation:</a:t>
              </a:r>
            </a:p>
            <a:p>
              <a:pPr algn="l">
                <a:lnSpc>
                  <a:spcPts val="3240"/>
                </a:lnSpc>
              </a:pPr>
              <a:r>
                <a:rPr lang="en-US" sz="2700">
                  <a:solidFill>
                    <a:srgbClr val="1F2937"/>
                  </a:solidFill>
                  <a:latin typeface="Aptos"/>
                  <a:ea typeface="Aptos"/>
                  <a:cs typeface="Aptos"/>
                  <a:sym typeface="Aptos"/>
                </a:rPr>
                <a:t>Manage products using two complementary strategies:</a:t>
              </a:r>
            </a:p>
            <a:p>
              <a:pPr marL="582930" lvl="1" indent="-291465" algn="l">
                <a:lnSpc>
                  <a:spcPts val="3240"/>
                </a:lnSpc>
                <a:buFont typeface="Arial"/>
                <a:buChar char="•"/>
              </a:pPr>
              <a:r>
                <a:rPr lang="en-US" sz="2700">
                  <a:solidFill>
                    <a:srgbClr val="1F2937"/>
                  </a:solidFill>
                  <a:latin typeface="Aptos"/>
                  <a:ea typeface="Aptos"/>
                  <a:cs typeface="Aptos"/>
                  <a:sym typeface="Aptos"/>
                </a:rPr>
                <a:t>Protect stock availability and profit margins for high-revenue products such as Curtains.</a:t>
              </a:r>
            </a:p>
            <a:p>
              <a:pPr marL="582930" lvl="1" indent="-291465" algn="l">
                <a:lnSpc>
                  <a:spcPts val="3240"/>
                </a:lnSpc>
                <a:buFont typeface="Arial"/>
                <a:buChar char="•"/>
              </a:pPr>
              <a:r>
                <a:rPr lang="en-US" sz="2700">
                  <a:solidFill>
                    <a:srgbClr val="1F2937"/>
                  </a:solidFill>
                  <a:latin typeface="Aptos"/>
                  <a:ea typeface="Aptos"/>
                  <a:cs typeface="Aptos"/>
                  <a:sym typeface="Aptos"/>
                </a:rPr>
                <a:t>Use promotions, bundles and repeat-purchase campaigns for high-volume products such as Sports Shoes.</a:t>
              </a:r>
            </a:p>
            <a:p>
              <a:pPr algn="l">
                <a:lnSpc>
                  <a:spcPts val="3240"/>
                </a:lnSpc>
              </a:pPr>
              <a:endParaRPr lang="en-US" sz="2700">
                <a:solidFill>
                  <a:srgbClr val="1F2937"/>
                </a:solidFill>
                <a:latin typeface="Aptos"/>
                <a:ea typeface="Aptos"/>
                <a:cs typeface="Aptos"/>
                <a:sym typeface="Aptos"/>
              </a:endParaRPr>
            </a:p>
            <a:p>
              <a:pPr algn="l">
                <a:lnSpc>
                  <a:spcPts val="3240"/>
                </a:lnSpc>
              </a:pPr>
              <a:endParaRPr lang="en-US" sz="2700">
                <a:solidFill>
                  <a:srgbClr val="1F2937"/>
                </a:solidFill>
                <a:latin typeface="Aptos"/>
                <a:ea typeface="Aptos"/>
                <a:cs typeface="Aptos"/>
                <a:sym typeface="Aptos"/>
              </a:endParaRPr>
            </a:p>
            <a:p>
              <a:pPr algn="l">
                <a:lnSpc>
                  <a:spcPts val="3240"/>
                </a:lnSpc>
              </a:pPr>
              <a:endParaRPr lang="en-US" sz="2700">
                <a:solidFill>
                  <a:srgbClr val="1F2937"/>
                </a:solidFill>
                <a:latin typeface="Aptos"/>
                <a:ea typeface="Aptos"/>
                <a:cs typeface="Aptos"/>
                <a:sym typeface="Aptos"/>
              </a:endParaRPr>
            </a:p>
          </p:txBody>
        </p:sp>
      </p:grpSp>
      <p:grpSp>
        <p:nvGrpSpPr>
          <p:cNvPr id="15" name="Group 15"/>
          <p:cNvGrpSpPr/>
          <p:nvPr/>
        </p:nvGrpSpPr>
        <p:grpSpPr>
          <a:xfrm>
            <a:off x="1028700" y="8150060"/>
            <a:ext cx="15695063" cy="1618404"/>
            <a:chOff x="0" y="0"/>
            <a:chExt cx="20926751" cy="2157871"/>
          </a:xfrm>
        </p:grpSpPr>
        <p:sp>
          <p:nvSpPr>
            <p:cNvPr id="16" name="Freeform 16"/>
            <p:cNvSpPr/>
            <p:nvPr/>
          </p:nvSpPr>
          <p:spPr>
            <a:xfrm>
              <a:off x="0" y="0"/>
              <a:ext cx="20926751" cy="2157871"/>
            </a:xfrm>
            <a:custGeom>
              <a:avLst/>
              <a:gdLst/>
              <a:ahLst/>
              <a:cxnLst/>
              <a:rect l="l" t="t" r="r" b="b"/>
              <a:pathLst>
                <a:path w="20926751" h="2157871">
                  <a:moveTo>
                    <a:pt x="0" y="0"/>
                  </a:moveTo>
                  <a:lnTo>
                    <a:pt x="20926751" y="0"/>
                  </a:lnTo>
                  <a:lnTo>
                    <a:pt x="20926751" y="2157871"/>
                  </a:lnTo>
                  <a:lnTo>
                    <a:pt x="0" y="2157871"/>
                  </a:lnTo>
                  <a:close/>
                </a:path>
              </a:pathLst>
            </a:custGeom>
            <a:blipFill>
              <a:blip r:embed="rId2">
                <a:alphaModFix amt="0"/>
              </a:blip>
              <a:stretch>
                <a:fillRect t="-162580" r="3870" b="-100718"/>
              </a:stretch>
            </a:blipFill>
          </p:spPr>
        </p:sp>
        <p:sp>
          <p:nvSpPr>
            <p:cNvPr id="17" name="TextBox 17"/>
            <p:cNvSpPr txBox="1"/>
            <p:nvPr/>
          </p:nvSpPr>
          <p:spPr>
            <a:xfrm>
              <a:off x="0" y="0"/>
              <a:ext cx="20926751" cy="2157871"/>
            </a:xfrm>
            <a:prstGeom prst="rect">
              <a:avLst/>
            </a:prstGeom>
          </p:spPr>
          <p:txBody>
            <a:bodyPr lIns="0" tIns="0" rIns="0" bIns="0" rtlCol="0" anchor="ctr"/>
            <a:lstStyle/>
            <a:p>
              <a:pPr algn="l">
                <a:lnSpc>
                  <a:spcPts val="2340"/>
                </a:lnSpc>
              </a:pPr>
              <a:r>
                <a:rPr lang="en-US" sz="1950" b="1">
                  <a:solidFill>
                    <a:srgbClr val="0B2447"/>
                  </a:solidFill>
                  <a:latin typeface="Aptos Bold"/>
                  <a:ea typeface="Aptos Bold"/>
                  <a:cs typeface="Aptos Bold"/>
                  <a:sym typeface="Aptos Bold"/>
                </a:rPr>
                <a:t>Why this insight is important:</a:t>
              </a:r>
            </a:p>
            <a:p>
              <a:pPr algn="l">
                <a:lnSpc>
                  <a:spcPts val="2340"/>
                </a:lnSpc>
              </a:pPr>
              <a:r>
                <a:rPr lang="en-US" sz="1950" b="1">
                  <a:solidFill>
                    <a:srgbClr val="0B2447"/>
                  </a:solidFill>
                  <a:latin typeface="Aptos Bold"/>
                  <a:ea typeface="Aptos Bold"/>
                  <a:cs typeface="Aptos Bold"/>
                  <a:sym typeface="Aptos Bold"/>
                </a:rPr>
                <a:t>This is one of the strongest findings in the dashboard because it compares product value and product demand. It helps management make better decisions about inventory, pricing and promotional planning.</a:t>
              </a:r>
            </a:p>
          </p:txBody>
        </p:sp>
      </p:grpSp>
      <p:sp>
        <p:nvSpPr>
          <p:cNvPr id="18" name="Freeform 18"/>
          <p:cNvSpPr/>
          <p:nvPr/>
        </p:nvSpPr>
        <p:spPr>
          <a:xfrm>
            <a:off x="12024011" y="1949397"/>
            <a:ext cx="3520995" cy="3038875"/>
          </a:xfrm>
          <a:custGeom>
            <a:avLst/>
            <a:gdLst/>
            <a:ahLst/>
            <a:cxnLst/>
            <a:rect l="l" t="t" r="r" b="b"/>
            <a:pathLst>
              <a:path w="3520995" h="3038875">
                <a:moveTo>
                  <a:pt x="0" y="0"/>
                </a:moveTo>
                <a:lnTo>
                  <a:pt x="3520995" y="0"/>
                </a:lnTo>
                <a:lnTo>
                  <a:pt x="3520995" y="3038876"/>
                </a:lnTo>
                <a:lnTo>
                  <a:pt x="0" y="3038876"/>
                </a:lnTo>
                <a:lnTo>
                  <a:pt x="0" y="0"/>
                </a:lnTo>
                <a:close/>
              </a:path>
            </a:pathLst>
          </a:custGeom>
          <a:blipFill>
            <a:blip r:embed="rId3"/>
            <a:stretch>
              <a:fillRect l="-7645" r="-179354" b="-33465"/>
            </a:stretch>
          </a:blipFill>
        </p:spPr>
      </p:sp>
      <p:sp>
        <p:nvSpPr>
          <p:cNvPr id="19" name="Freeform 19"/>
          <p:cNvSpPr/>
          <p:nvPr/>
        </p:nvSpPr>
        <p:spPr>
          <a:xfrm>
            <a:off x="12139068" y="5378798"/>
            <a:ext cx="3405938" cy="2771262"/>
          </a:xfrm>
          <a:custGeom>
            <a:avLst/>
            <a:gdLst/>
            <a:ahLst/>
            <a:cxnLst/>
            <a:rect l="l" t="t" r="r" b="b"/>
            <a:pathLst>
              <a:path w="3405938" h="2771262">
                <a:moveTo>
                  <a:pt x="0" y="0"/>
                </a:moveTo>
                <a:lnTo>
                  <a:pt x="3405938" y="0"/>
                </a:lnTo>
                <a:lnTo>
                  <a:pt x="3405938" y="2771262"/>
                </a:lnTo>
                <a:lnTo>
                  <a:pt x="0" y="2771262"/>
                </a:lnTo>
                <a:lnTo>
                  <a:pt x="0" y="0"/>
                </a:lnTo>
                <a:close/>
              </a:path>
            </a:pathLst>
          </a:custGeom>
          <a:blipFill>
            <a:blip r:embed="rId3"/>
            <a:stretch>
              <a:fillRect l="-99483" r="-71083" b="-33465"/>
            </a:stretch>
          </a:blipFill>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Recommendations and Conclusion</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Turning dashboard insights into management actions</a:t>
              </a:r>
            </a:p>
          </p:txBody>
        </p:sp>
      </p:grpSp>
      <p:sp>
        <p:nvSpPr>
          <p:cNvPr id="8" name="AutoShape 8"/>
          <p:cNvSpPr/>
          <p:nvPr/>
        </p:nvSpPr>
        <p:spPr>
          <a:xfrm>
            <a:off x="882011" y="1608997"/>
            <a:ext cx="16478249" cy="18982"/>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1949397"/>
            <a:ext cx="9106324" cy="5686454"/>
            <a:chOff x="0" y="0"/>
            <a:chExt cx="11638826" cy="7267877"/>
          </a:xfrm>
        </p:grpSpPr>
        <p:sp>
          <p:nvSpPr>
            <p:cNvPr id="13" name="Freeform 13"/>
            <p:cNvSpPr/>
            <p:nvPr/>
          </p:nvSpPr>
          <p:spPr>
            <a:xfrm>
              <a:off x="0" y="0"/>
              <a:ext cx="11638826" cy="7267877"/>
            </a:xfrm>
            <a:custGeom>
              <a:avLst/>
              <a:gdLst/>
              <a:ahLst/>
              <a:cxnLst/>
              <a:rect l="l" t="t" r="r" b="b"/>
              <a:pathLst>
                <a:path w="11638826" h="7267877">
                  <a:moveTo>
                    <a:pt x="0" y="0"/>
                  </a:moveTo>
                  <a:lnTo>
                    <a:pt x="11638826" y="0"/>
                  </a:lnTo>
                  <a:lnTo>
                    <a:pt x="11638826" y="7267877"/>
                  </a:lnTo>
                  <a:lnTo>
                    <a:pt x="0" y="7267877"/>
                  </a:lnTo>
                  <a:close/>
                </a:path>
              </a:pathLst>
            </a:custGeom>
            <a:blipFill>
              <a:blip r:embed="rId2">
                <a:alphaModFix amt="0"/>
              </a:blip>
              <a:stretch>
                <a:fillRect t="-2284" r="-80698" b="-10484"/>
              </a:stretch>
            </a:blipFill>
          </p:spPr>
        </p:sp>
        <p:sp>
          <p:nvSpPr>
            <p:cNvPr id="14" name="TextBox 14"/>
            <p:cNvSpPr txBox="1"/>
            <p:nvPr/>
          </p:nvSpPr>
          <p:spPr>
            <a:xfrm>
              <a:off x="0" y="0"/>
              <a:ext cx="11638826" cy="7267877"/>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3. Country Focus</a:t>
              </a:r>
            </a:p>
            <a:p>
              <a:pPr algn="l">
                <a:lnSpc>
                  <a:spcPts val="3240"/>
                </a:lnSpc>
              </a:pPr>
              <a:endParaRPr lang="en-US" sz="2700" b="1">
                <a:solidFill>
                  <a:srgbClr val="1F2937"/>
                </a:solidFill>
                <a:latin typeface="Aptos Bold"/>
                <a:ea typeface="Aptos Bold"/>
                <a:cs typeface="Aptos Bold"/>
                <a:sym typeface="Aptos Bold"/>
              </a:endParaRPr>
            </a:p>
            <a:p>
              <a:pPr algn="l">
                <a:lnSpc>
                  <a:spcPts val="3240"/>
                </a:lnSpc>
              </a:pPr>
              <a:r>
                <a:rPr lang="en-US" sz="2700" b="1">
                  <a:solidFill>
                    <a:srgbClr val="1F2937"/>
                  </a:solidFill>
                  <a:latin typeface="Aptos Bold"/>
                  <a:ea typeface="Aptos Bold"/>
                  <a:cs typeface="Aptos Bold"/>
                  <a:sym typeface="Aptos Bold"/>
                </a:rPr>
                <a:t>Evidence:</a:t>
              </a:r>
            </a:p>
            <a:p>
              <a:pPr algn="l">
                <a:lnSpc>
                  <a:spcPts val="3240"/>
                </a:lnSpc>
              </a:pPr>
              <a:r>
                <a:rPr lang="en-US" sz="2700">
                  <a:solidFill>
                    <a:srgbClr val="1F2937"/>
                  </a:solidFill>
                  <a:latin typeface="Aptos"/>
                  <a:ea typeface="Aptos"/>
                  <a:cs typeface="Aptos"/>
                  <a:sym typeface="Aptos"/>
                </a:rPr>
                <a:t>Colombia has the highest total revenue and the largest customer base in the dashboard.</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Recommendation:</a:t>
              </a:r>
            </a:p>
            <a:p>
              <a:pPr algn="l">
                <a:lnSpc>
                  <a:spcPts val="3240"/>
                </a:lnSpc>
              </a:pPr>
              <a:r>
                <a:rPr lang="en-US" sz="2700">
                  <a:solidFill>
                    <a:srgbClr val="1F2937"/>
                  </a:solidFill>
                  <a:latin typeface="Aptos"/>
                  <a:ea typeface="Aptos"/>
                  <a:cs typeface="Aptos"/>
                  <a:sym typeface="Aptos"/>
                </a:rPr>
                <a:t>Protect the company’s position in Colombia through retention campaigns, while using targeted promotions to develop opportunities in Chile, Mexico and Brazil.</a:t>
              </a:r>
            </a:p>
            <a:p>
              <a:pPr algn="l">
                <a:lnSpc>
                  <a:spcPts val="3240"/>
                </a:lnSpc>
              </a:pPr>
              <a:endParaRPr lang="en-US" sz="2700">
                <a:solidFill>
                  <a:srgbClr val="1F2937"/>
                </a:solidFill>
                <a:latin typeface="Aptos"/>
                <a:ea typeface="Aptos"/>
                <a:cs typeface="Aptos"/>
                <a:sym typeface="Aptos"/>
              </a:endParaRP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9896393" y="2331207"/>
            <a:ext cx="7105903" cy="5000779"/>
          </a:xfrm>
          <a:custGeom>
            <a:avLst/>
            <a:gdLst/>
            <a:ahLst/>
            <a:cxnLst/>
            <a:rect l="l" t="t" r="r" b="b"/>
            <a:pathLst>
              <a:path w="7105903" h="5000779">
                <a:moveTo>
                  <a:pt x="0" y="0"/>
                </a:moveTo>
                <a:lnTo>
                  <a:pt x="7105903" y="0"/>
                </a:lnTo>
                <a:lnTo>
                  <a:pt x="7105903" y="5000780"/>
                </a:lnTo>
                <a:lnTo>
                  <a:pt x="0" y="5000780"/>
                </a:lnTo>
                <a:lnTo>
                  <a:pt x="0" y="0"/>
                </a:lnTo>
                <a:close/>
              </a:path>
            </a:pathLst>
          </a:custGeom>
          <a:blipFill>
            <a:blip r:embed="rId3"/>
            <a:stretch>
              <a:fillRect/>
            </a:stretch>
          </a:blipFill>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Recommendations and Conclusion</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Turning dashboard insights into management actions</a:t>
              </a:r>
            </a:p>
          </p:txBody>
        </p:sp>
      </p:grpSp>
      <p:sp>
        <p:nvSpPr>
          <p:cNvPr id="8" name="AutoShape 8"/>
          <p:cNvSpPr/>
          <p:nvPr/>
        </p:nvSpPr>
        <p:spPr>
          <a:xfrm>
            <a:off x="882011" y="1608997"/>
            <a:ext cx="16478249" cy="18982"/>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05256" y="1827744"/>
            <a:ext cx="9106324" cy="5686454"/>
            <a:chOff x="0" y="0"/>
            <a:chExt cx="11638826" cy="7267877"/>
          </a:xfrm>
        </p:grpSpPr>
        <p:sp>
          <p:nvSpPr>
            <p:cNvPr id="13" name="Freeform 13"/>
            <p:cNvSpPr/>
            <p:nvPr/>
          </p:nvSpPr>
          <p:spPr>
            <a:xfrm>
              <a:off x="0" y="0"/>
              <a:ext cx="11638826" cy="7267877"/>
            </a:xfrm>
            <a:custGeom>
              <a:avLst/>
              <a:gdLst/>
              <a:ahLst/>
              <a:cxnLst/>
              <a:rect l="l" t="t" r="r" b="b"/>
              <a:pathLst>
                <a:path w="11638826" h="7267877">
                  <a:moveTo>
                    <a:pt x="0" y="0"/>
                  </a:moveTo>
                  <a:lnTo>
                    <a:pt x="11638826" y="0"/>
                  </a:lnTo>
                  <a:lnTo>
                    <a:pt x="11638826" y="7267877"/>
                  </a:lnTo>
                  <a:lnTo>
                    <a:pt x="0" y="7267877"/>
                  </a:lnTo>
                  <a:close/>
                </a:path>
              </a:pathLst>
            </a:custGeom>
            <a:blipFill>
              <a:blip r:embed="rId3">
                <a:alphaModFix amt="0"/>
              </a:blip>
              <a:stretch>
                <a:fillRect l="-31581" r="-42696" b="-37577"/>
              </a:stretch>
            </a:blipFill>
          </p:spPr>
        </p:sp>
        <p:sp>
          <p:nvSpPr>
            <p:cNvPr id="14" name="TextBox 14"/>
            <p:cNvSpPr txBox="1"/>
            <p:nvPr/>
          </p:nvSpPr>
          <p:spPr>
            <a:xfrm>
              <a:off x="0" y="0"/>
              <a:ext cx="11638826" cy="7267877"/>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4. Sales Planning</a:t>
              </a:r>
            </a:p>
            <a:p>
              <a:pPr algn="l">
                <a:lnSpc>
                  <a:spcPts val="3240"/>
                </a:lnSpc>
              </a:pPr>
              <a:endParaRPr lang="en-US" sz="2700" b="1">
                <a:solidFill>
                  <a:srgbClr val="1F2937"/>
                </a:solidFill>
                <a:latin typeface="Aptos Bold"/>
                <a:ea typeface="Aptos Bold"/>
                <a:cs typeface="Aptos Bold"/>
                <a:sym typeface="Aptos Bold"/>
              </a:endParaRPr>
            </a:p>
            <a:p>
              <a:pPr algn="l">
                <a:lnSpc>
                  <a:spcPts val="3240"/>
                </a:lnSpc>
              </a:pPr>
              <a:r>
                <a:rPr lang="en-US" sz="2700" b="1">
                  <a:solidFill>
                    <a:srgbClr val="1F2937"/>
                  </a:solidFill>
                  <a:latin typeface="Aptos Bold"/>
                  <a:ea typeface="Aptos Bold"/>
                  <a:cs typeface="Aptos Bold"/>
                  <a:sym typeface="Aptos Bold"/>
                </a:rPr>
                <a:t>Evidence:</a:t>
              </a:r>
            </a:p>
            <a:p>
              <a:pPr algn="l">
                <a:lnSpc>
                  <a:spcPts val="3240"/>
                </a:lnSpc>
              </a:pPr>
              <a:r>
                <a:rPr lang="en-US" sz="2700">
                  <a:solidFill>
                    <a:srgbClr val="1F2937"/>
                  </a:solidFill>
                  <a:latin typeface="Aptos"/>
                  <a:ea typeface="Aptos"/>
                  <a:cs typeface="Aptos"/>
                  <a:sym typeface="Aptos"/>
                </a:rPr>
                <a:t>The monthly charts show noticeable changes in both orders and revenue throughout the year.</a:t>
              </a:r>
            </a:p>
            <a:p>
              <a:pPr algn="l">
                <a:lnSpc>
                  <a:spcPts val="3240"/>
                </a:lnSpc>
              </a:pPr>
              <a:endParaRPr lang="en-US" sz="2700">
                <a:solidFill>
                  <a:srgbClr val="1F2937"/>
                </a:solidFill>
                <a:latin typeface="Aptos"/>
                <a:ea typeface="Aptos"/>
                <a:cs typeface="Aptos"/>
                <a:sym typeface="Aptos"/>
              </a:endParaRPr>
            </a:p>
            <a:p>
              <a:pPr algn="l">
                <a:lnSpc>
                  <a:spcPts val="3240"/>
                </a:lnSpc>
              </a:pPr>
              <a:r>
                <a:rPr lang="en-US" sz="2700" b="1">
                  <a:solidFill>
                    <a:srgbClr val="1F2937"/>
                  </a:solidFill>
                  <a:latin typeface="Aptos Bold"/>
                  <a:ea typeface="Aptos Bold"/>
                  <a:cs typeface="Aptos Bold"/>
                  <a:sym typeface="Aptos Bold"/>
                </a:rPr>
                <a:t>Recommendation:</a:t>
              </a:r>
            </a:p>
            <a:p>
              <a:pPr algn="l">
                <a:lnSpc>
                  <a:spcPts val="3240"/>
                </a:lnSpc>
              </a:pPr>
              <a:r>
                <a:rPr lang="en-US" sz="2700">
                  <a:solidFill>
                    <a:srgbClr val="1F2937"/>
                  </a:solidFill>
                  <a:latin typeface="Aptos"/>
                  <a:ea typeface="Aptos"/>
                  <a:cs typeface="Aptos"/>
                  <a:sym typeface="Aptos"/>
                </a:rPr>
                <a:t>Use monthly patterns to plan inventory, staffing and promotional campaigns before expected peak periods.</a:t>
              </a:r>
            </a:p>
            <a:p>
              <a:pPr algn="l">
                <a:lnSpc>
                  <a:spcPts val="3240"/>
                </a:lnSpc>
              </a:pPr>
              <a:endParaRPr lang="en-US" sz="2700">
                <a:solidFill>
                  <a:srgbClr val="1F2937"/>
                </a:solidFill>
                <a:latin typeface="Aptos"/>
                <a:ea typeface="Aptos"/>
                <a:cs typeface="Aptos"/>
                <a:sym typeface="Aptos"/>
              </a:endParaRPr>
            </a:p>
            <a:p>
              <a:pPr algn="l">
                <a:lnSpc>
                  <a:spcPts val="3240"/>
                </a:lnSpc>
              </a:pPr>
              <a:endParaRPr lang="en-US" sz="2700">
                <a:solidFill>
                  <a:srgbClr val="1F2937"/>
                </a:solidFill>
                <a:latin typeface="Aptos"/>
                <a:ea typeface="Aptos"/>
                <a:cs typeface="Aptos"/>
                <a:sym typeface="Aptos"/>
              </a:endParaRPr>
            </a:p>
          </p:txBody>
        </p:sp>
      </p:grpSp>
      <p:sp>
        <p:nvSpPr>
          <p:cNvPr id="15" name="Freeform 15"/>
          <p:cNvSpPr/>
          <p:nvPr/>
        </p:nvSpPr>
        <p:spPr>
          <a:xfrm>
            <a:off x="11482806" y="1827744"/>
            <a:ext cx="3902557" cy="3264662"/>
          </a:xfrm>
          <a:custGeom>
            <a:avLst/>
            <a:gdLst/>
            <a:ahLst/>
            <a:cxnLst/>
            <a:rect l="l" t="t" r="r" b="b"/>
            <a:pathLst>
              <a:path w="3902557" h="3264662">
                <a:moveTo>
                  <a:pt x="0" y="0"/>
                </a:moveTo>
                <a:lnTo>
                  <a:pt x="3902558" y="0"/>
                </a:lnTo>
                <a:lnTo>
                  <a:pt x="3902558" y="3264662"/>
                </a:lnTo>
                <a:lnTo>
                  <a:pt x="0" y="3264662"/>
                </a:lnTo>
                <a:lnTo>
                  <a:pt x="0" y="0"/>
                </a:lnTo>
                <a:close/>
              </a:path>
            </a:pathLst>
          </a:custGeom>
          <a:blipFill>
            <a:blip r:embed="rId3"/>
            <a:stretch>
              <a:fillRect l="-15163" t="-1686" r="-133652" b="-44933"/>
            </a:stretch>
          </a:blipFill>
        </p:spPr>
      </p:sp>
      <p:sp>
        <p:nvSpPr>
          <p:cNvPr id="16" name="Freeform 16"/>
          <p:cNvSpPr/>
          <p:nvPr/>
        </p:nvSpPr>
        <p:spPr>
          <a:xfrm>
            <a:off x="11482806" y="5282906"/>
            <a:ext cx="3902557" cy="3333869"/>
          </a:xfrm>
          <a:custGeom>
            <a:avLst/>
            <a:gdLst/>
            <a:ahLst/>
            <a:cxnLst/>
            <a:rect l="l" t="t" r="r" b="b"/>
            <a:pathLst>
              <a:path w="3902557" h="3333869">
                <a:moveTo>
                  <a:pt x="0" y="0"/>
                </a:moveTo>
                <a:lnTo>
                  <a:pt x="3902558" y="0"/>
                </a:lnTo>
                <a:lnTo>
                  <a:pt x="3902558" y="3333869"/>
                </a:lnTo>
                <a:lnTo>
                  <a:pt x="0" y="3333869"/>
                </a:lnTo>
                <a:lnTo>
                  <a:pt x="0" y="0"/>
                </a:lnTo>
                <a:close/>
              </a:path>
            </a:pathLst>
          </a:custGeom>
          <a:blipFill>
            <a:blip r:embed="rId3"/>
            <a:stretch>
              <a:fillRect l="-115503" t="-1633" r="-30707" b="-40439"/>
            </a:stretch>
          </a:blipFill>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891540" y="438912"/>
            <a:ext cx="14813280" cy="617220"/>
            <a:chOff x="0" y="0"/>
            <a:chExt cx="19751040" cy="822960"/>
          </a:xfrm>
        </p:grpSpPr>
        <p:sp>
          <p:nvSpPr>
            <p:cNvPr id="3" name="Freeform 3"/>
            <p:cNvSpPr/>
            <p:nvPr/>
          </p:nvSpPr>
          <p:spPr>
            <a:xfrm>
              <a:off x="0" y="0"/>
              <a:ext cx="19751039" cy="822960"/>
            </a:xfrm>
            <a:custGeom>
              <a:avLst/>
              <a:gdLst/>
              <a:ahLst/>
              <a:cxnLst/>
              <a:rect l="l" t="t" r="r" b="b"/>
              <a:pathLst>
                <a:path w="19751039" h="822960">
                  <a:moveTo>
                    <a:pt x="0" y="0"/>
                  </a:moveTo>
                  <a:lnTo>
                    <a:pt x="19751039" y="0"/>
                  </a:lnTo>
                  <a:lnTo>
                    <a:pt x="19751039" y="822960"/>
                  </a:lnTo>
                  <a:lnTo>
                    <a:pt x="0" y="822960"/>
                  </a:lnTo>
                  <a:close/>
                </a:path>
              </a:pathLst>
            </a:custGeom>
            <a:blipFill>
              <a:blip r:embed="rId2">
                <a:alphaModFix amt="0"/>
              </a:blip>
              <a:stretch>
                <a:fillRect t="-417640" b="-417640"/>
              </a:stretch>
            </a:blipFill>
          </p:spPr>
        </p:sp>
        <p:sp>
          <p:nvSpPr>
            <p:cNvPr id="4" name="TextBox 4"/>
            <p:cNvSpPr txBox="1"/>
            <p:nvPr/>
          </p:nvSpPr>
          <p:spPr>
            <a:xfrm>
              <a:off x="0" y="0"/>
              <a:ext cx="19751040" cy="822960"/>
            </a:xfrm>
            <a:prstGeom prst="rect">
              <a:avLst/>
            </a:prstGeom>
          </p:spPr>
          <p:txBody>
            <a:bodyPr lIns="0" tIns="0" rIns="0" bIns="0" rtlCol="0" anchor="ctr"/>
            <a:lstStyle/>
            <a:p>
              <a:pPr algn="l">
                <a:lnSpc>
                  <a:spcPts val="5040"/>
                </a:lnSpc>
              </a:pPr>
              <a:r>
                <a:rPr lang="en-US" sz="4200" b="1">
                  <a:solidFill>
                    <a:srgbClr val="0B2447"/>
                  </a:solidFill>
                  <a:latin typeface="Aptos Bold"/>
                  <a:ea typeface="Aptos Bold"/>
                  <a:cs typeface="Aptos Bold"/>
                  <a:sym typeface="Aptos Bold"/>
                </a:rPr>
                <a:t>Business Recommendations and Conclusion</a:t>
              </a:r>
            </a:p>
          </p:txBody>
        </p:sp>
      </p:grpSp>
      <p:grpSp>
        <p:nvGrpSpPr>
          <p:cNvPr id="5" name="Group 5"/>
          <p:cNvGrpSpPr/>
          <p:nvPr/>
        </p:nvGrpSpPr>
        <p:grpSpPr>
          <a:xfrm>
            <a:off x="905256" y="1179576"/>
            <a:ext cx="13167360" cy="384048"/>
            <a:chOff x="0" y="0"/>
            <a:chExt cx="17556480" cy="512064"/>
          </a:xfrm>
        </p:grpSpPr>
        <p:sp>
          <p:nvSpPr>
            <p:cNvPr id="6" name="Freeform 6"/>
            <p:cNvSpPr/>
            <p:nvPr/>
          </p:nvSpPr>
          <p:spPr>
            <a:xfrm>
              <a:off x="0" y="0"/>
              <a:ext cx="17556480" cy="512064"/>
            </a:xfrm>
            <a:custGeom>
              <a:avLst/>
              <a:gdLst/>
              <a:ahLst/>
              <a:cxnLst/>
              <a:rect l="l" t="t" r="r" b="b"/>
              <a:pathLst>
                <a:path w="17556480" h="512064">
                  <a:moveTo>
                    <a:pt x="0" y="0"/>
                  </a:moveTo>
                  <a:lnTo>
                    <a:pt x="17556480" y="0"/>
                  </a:lnTo>
                  <a:lnTo>
                    <a:pt x="17556480" y="512064"/>
                  </a:lnTo>
                  <a:lnTo>
                    <a:pt x="0" y="512064"/>
                  </a:lnTo>
                  <a:close/>
                </a:path>
              </a:pathLst>
            </a:custGeom>
            <a:blipFill>
              <a:blip r:embed="rId2">
                <a:alphaModFix amt="0"/>
              </a:blip>
              <a:stretch>
                <a:fillRect t="-618058" b="-618058"/>
              </a:stretch>
            </a:blipFill>
          </p:spPr>
        </p:sp>
        <p:sp>
          <p:nvSpPr>
            <p:cNvPr id="7" name="TextBox 7"/>
            <p:cNvSpPr txBox="1"/>
            <p:nvPr/>
          </p:nvSpPr>
          <p:spPr>
            <a:xfrm>
              <a:off x="0" y="0"/>
              <a:ext cx="17556480" cy="512064"/>
            </a:xfrm>
            <a:prstGeom prst="rect">
              <a:avLst/>
            </a:prstGeom>
          </p:spPr>
          <p:txBody>
            <a:bodyPr lIns="0" tIns="0" rIns="0" bIns="0" rtlCol="0" anchor="ctr"/>
            <a:lstStyle/>
            <a:p>
              <a:pPr algn="l">
                <a:lnSpc>
                  <a:spcPts val="2160"/>
                </a:lnSpc>
              </a:pPr>
              <a:r>
                <a:rPr lang="en-US" sz="1800">
                  <a:solidFill>
                    <a:srgbClr val="64748B"/>
                  </a:solidFill>
                  <a:latin typeface="Aptos"/>
                  <a:ea typeface="Aptos"/>
                  <a:cs typeface="Aptos"/>
                  <a:sym typeface="Aptos"/>
                </a:rPr>
                <a:t>Turning dashboard insights into management actions</a:t>
              </a:r>
            </a:p>
          </p:txBody>
        </p:sp>
      </p:grpSp>
      <p:sp>
        <p:nvSpPr>
          <p:cNvPr id="8" name="AutoShape 8"/>
          <p:cNvSpPr/>
          <p:nvPr/>
        </p:nvSpPr>
        <p:spPr>
          <a:xfrm>
            <a:off x="882011" y="1608997"/>
            <a:ext cx="16478249" cy="18982"/>
          </a:xfrm>
          <a:prstGeom prst="line">
            <a:avLst/>
          </a:prstGeom>
          <a:ln w="9525" cap="rnd">
            <a:solidFill>
              <a:srgbClr val="D6DEE8"/>
            </a:solidFill>
            <a:prstDash val="solid"/>
            <a:headEnd type="none" w="sm" len="sm"/>
            <a:tailEnd type="none" w="sm" len="sm"/>
          </a:ln>
        </p:spPr>
      </p:sp>
      <p:grpSp>
        <p:nvGrpSpPr>
          <p:cNvPr id="9" name="Group 9"/>
          <p:cNvGrpSpPr/>
          <p:nvPr/>
        </p:nvGrpSpPr>
        <p:grpSpPr>
          <a:xfrm>
            <a:off x="891540" y="9738360"/>
            <a:ext cx="8915400" cy="274320"/>
            <a:chOff x="0" y="0"/>
            <a:chExt cx="11887200" cy="365760"/>
          </a:xfrm>
        </p:grpSpPr>
        <p:sp>
          <p:nvSpPr>
            <p:cNvPr id="10" name="Freeform 10"/>
            <p:cNvSpPr/>
            <p:nvPr/>
          </p:nvSpPr>
          <p:spPr>
            <a:xfrm>
              <a:off x="0" y="0"/>
              <a:ext cx="11887200" cy="365760"/>
            </a:xfrm>
            <a:custGeom>
              <a:avLst/>
              <a:gdLst/>
              <a:ahLst/>
              <a:cxnLst/>
              <a:rect l="l" t="t" r="r" b="b"/>
              <a:pathLst>
                <a:path w="11887200" h="365760">
                  <a:moveTo>
                    <a:pt x="0" y="0"/>
                  </a:moveTo>
                  <a:lnTo>
                    <a:pt x="11887200" y="0"/>
                  </a:lnTo>
                  <a:lnTo>
                    <a:pt x="11887200" y="365760"/>
                  </a:lnTo>
                  <a:lnTo>
                    <a:pt x="0" y="365760"/>
                  </a:lnTo>
                  <a:close/>
                </a:path>
              </a:pathLst>
            </a:custGeom>
            <a:blipFill>
              <a:blip r:embed="rId2">
                <a:alphaModFix amt="0"/>
              </a:blip>
              <a:stretch>
                <a:fillRect t="-583263" b="-583263"/>
              </a:stretch>
            </a:blipFill>
          </p:spPr>
        </p:sp>
        <p:sp>
          <p:nvSpPr>
            <p:cNvPr id="11" name="TextBox 11"/>
            <p:cNvSpPr txBox="1"/>
            <p:nvPr/>
          </p:nvSpPr>
          <p:spPr>
            <a:xfrm>
              <a:off x="0" y="-9525"/>
              <a:ext cx="11887200" cy="375285"/>
            </a:xfrm>
            <a:prstGeom prst="rect">
              <a:avLst/>
            </a:prstGeom>
          </p:spPr>
          <p:txBody>
            <a:bodyPr lIns="0" tIns="0" rIns="0" bIns="0" rtlCol="0" anchor="ctr"/>
            <a:lstStyle/>
            <a:p>
              <a:pPr algn="l">
                <a:lnSpc>
                  <a:spcPts val="1530"/>
                </a:lnSpc>
              </a:pPr>
              <a:r>
                <a:rPr lang="en-US" sz="1275">
                  <a:solidFill>
                    <a:srgbClr val="64748B"/>
                  </a:solidFill>
                  <a:latin typeface="Aptos"/>
                  <a:ea typeface="Aptos"/>
                  <a:cs typeface="Aptos"/>
                  <a:sym typeface="Aptos"/>
                </a:rPr>
                <a:t>Mohamed Heriyanto Bin Jamal Mohamed - Power BI Business Analytics Capstone Project</a:t>
              </a:r>
            </a:p>
          </p:txBody>
        </p:sp>
      </p:grpSp>
      <p:grpSp>
        <p:nvGrpSpPr>
          <p:cNvPr id="12" name="Group 12"/>
          <p:cNvGrpSpPr/>
          <p:nvPr/>
        </p:nvGrpSpPr>
        <p:grpSpPr>
          <a:xfrm>
            <a:off x="916498" y="-337955"/>
            <a:ext cx="16455004" cy="8082297"/>
            <a:chOff x="0" y="0"/>
            <a:chExt cx="14796900" cy="7267877"/>
          </a:xfrm>
        </p:grpSpPr>
        <p:sp>
          <p:nvSpPr>
            <p:cNvPr id="13" name="Freeform 13"/>
            <p:cNvSpPr/>
            <p:nvPr/>
          </p:nvSpPr>
          <p:spPr>
            <a:xfrm>
              <a:off x="0" y="0"/>
              <a:ext cx="14796900" cy="7267877"/>
            </a:xfrm>
            <a:custGeom>
              <a:avLst/>
              <a:gdLst/>
              <a:ahLst/>
              <a:cxnLst/>
              <a:rect l="l" t="t" r="r" b="b"/>
              <a:pathLst>
                <a:path w="14796900" h="7267877">
                  <a:moveTo>
                    <a:pt x="0" y="0"/>
                  </a:moveTo>
                  <a:lnTo>
                    <a:pt x="14796900" y="0"/>
                  </a:lnTo>
                  <a:lnTo>
                    <a:pt x="14796900" y="7267877"/>
                  </a:lnTo>
                  <a:lnTo>
                    <a:pt x="0" y="7267877"/>
                  </a:lnTo>
                  <a:close/>
                </a:path>
              </a:pathLst>
            </a:custGeom>
            <a:blipFill>
              <a:blip r:embed="rId2">
                <a:alphaModFix amt="0"/>
              </a:blip>
              <a:stretch>
                <a:fillRect t="-2284" r="-42132" b="-10484"/>
              </a:stretch>
            </a:blipFill>
          </p:spPr>
        </p:sp>
        <p:sp>
          <p:nvSpPr>
            <p:cNvPr id="14" name="TextBox 14"/>
            <p:cNvSpPr txBox="1"/>
            <p:nvPr/>
          </p:nvSpPr>
          <p:spPr>
            <a:xfrm>
              <a:off x="0" y="0"/>
              <a:ext cx="14796900" cy="7267877"/>
            </a:xfrm>
            <a:prstGeom prst="rect">
              <a:avLst/>
            </a:prstGeom>
          </p:spPr>
          <p:txBody>
            <a:bodyPr lIns="0" tIns="0" rIns="0" bIns="0" rtlCol="0" anchor="ctr"/>
            <a:lstStyle/>
            <a:p>
              <a:pPr algn="l">
                <a:lnSpc>
                  <a:spcPts val="3240"/>
                </a:lnSpc>
              </a:pPr>
              <a:r>
                <a:rPr lang="en-US" sz="2700" b="1">
                  <a:solidFill>
                    <a:srgbClr val="1F2937"/>
                  </a:solidFill>
                  <a:latin typeface="Aptos Bold"/>
                  <a:ea typeface="Aptos Bold"/>
                  <a:cs typeface="Aptos Bold"/>
                  <a:sym typeface="Aptos Bold"/>
                </a:rPr>
                <a:t>5. Dashboard Monitoring</a:t>
              </a:r>
            </a:p>
            <a:p>
              <a:pPr algn="l">
                <a:lnSpc>
                  <a:spcPts val="3240"/>
                </a:lnSpc>
              </a:pPr>
              <a:endParaRPr lang="en-US" sz="2700" b="1">
                <a:solidFill>
                  <a:srgbClr val="1F2937"/>
                </a:solidFill>
                <a:latin typeface="Aptos Bold"/>
                <a:ea typeface="Aptos Bold"/>
                <a:cs typeface="Aptos Bold"/>
                <a:sym typeface="Aptos Bold"/>
              </a:endParaRPr>
            </a:p>
            <a:p>
              <a:pPr algn="l">
                <a:lnSpc>
                  <a:spcPts val="3240"/>
                </a:lnSpc>
              </a:pPr>
              <a:r>
                <a:rPr lang="en-US" sz="2700" b="1">
                  <a:solidFill>
                    <a:srgbClr val="1F2937"/>
                  </a:solidFill>
                  <a:latin typeface="Aptos Bold"/>
                  <a:ea typeface="Aptos Bold"/>
                  <a:cs typeface="Aptos Bold"/>
                  <a:sym typeface="Aptos Bold"/>
                </a:rPr>
                <a:t>Recommendation:</a:t>
              </a:r>
            </a:p>
            <a:p>
              <a:pPr algn="l">
                <a:lnSpc>
                  <a:spcPts val="3240"/>
                </a:lnSpc>
              </a:pPr>
              <a:r>
                <a:rPr lang="en-US" sz="2700">
                  <a:solidFill>
                    <a:srgbClr val="1F2937"/>
                  </a:solidFill>
                  <a:latin typeface="Aptos"/>
                  <a:ea typeface="Aptos"/>
                  <a:cs typeface="Aptos"/>
                  <a:sym typeface="Aptos"/>
                </a:rPr>
                <a:t>Management should review Total Revenue, Total Orders, Total Customers and Average Order Value regularly. The slicers should be used to nvestigate performance by year, country, gender and age group.</a:t>
              </a:r>
            </a:p>
          </p:txBody>
        </p:sp>
      </p:grpSp>
      <p:grpSp>
        <p:nvGrpSpPr>
          <p:cNvPr id="15" name="Group 15"/>
          <p:cNvGrpSpPr/>
          <p:nvPr/>
        </p:nvGrpSpPr>
        <p:grpSpPr>
          <a:xfrm>
            <a:off x="1600200" y="8604190"/>
            <a:ext cx="15087600" cy="617220"/>
            <a:chOff x="0" y="0"/>
            <a:chExt cx="20116800" cy="822960"/>
          </a:xfrm>
        </p:grpSpPr>
        <p:sp>
          <p:nvSpPr>
            <p:cNvPr id="16" name="Freeform 16"/>
            <p:cNvSpPr/>
            <p:nvPr/>
          </p:nvSpPr>
          <p:spPr>
            <a:xfrm>
              <a:off x="0" y="0"/>
              <a:ext cx="20116800" cy="822960"/>
            </a:xfrm>
            <a:custGeom>
              <a:avLst/>
              <a:gdLst/>
              <a:ahLst/>
              <a:cxnLst/>
              <a:rect l="l" t="t" r="r" b="b"/>
              <a:pathLst>
                <a:path w="20116800" h="822960">
                  <a:moveTo>
                    <a:pt x="0" y="0"/>
                  </a:moveTo>
                  <a:lnTo>
                    <a:pt x="20116800" y="0"/>
                  </a:lnTo>
                  <a:lnTo>
                    <a:pt x="20116800" y="822960"/>
                  </a:lnTo>
                  <a:lnTo>
                    <a:pt x="0" y="822960"/>
                  </a:lnTo>
                  <a:close/>
                </a:path>
              </a:pathLst>
            </a:custGeom>
            <a:blipFill>
              <a:blip r:embed="rId2">
                <a:alphaModFix amt="0"/>
              </a:blip>
              <a:stretch>
                <a:fillRect t="-426300" b="-426300"/>
              </a:stretch>
            </a:blipFill>
          </p:spPr>
        </p:sp>
        <p:sp>
          <p:nvSpPr>
            <p:cNvPr id="17" name="TextBox 17"/>
            <p:cNvSpPr txBox="1"/>
            <p:nvPr/>
          </p:nvSpPr>
          <p:spPr>
            <a:xfrm>
              <a:off x="0" y="0"/>
              <a:ext cx="20116800" cy="822960"/>
            </a:xfrm>
            <a:prstGeom prst="rect">
              <a:avLst/>
            </a:prstGeom>
          </p:spPr>
          <p:txBody>
            <a:bodyPr lIns="0" tIns="0" rIns="0" bIns="0" rtlCol="0" anchor="ctr"/>
            <a:lstStyle/>
            <a:p>
              <a:pPr algn="ctr">
                <a:lnSpc>
                  <a:spcPts val="3060"/>
                </a:lnSpc>
              </a:pPr>
              <a:r>
                <a:rPr lang="en-US" sz="2550" b="1">
                  <a:solidFill>
                    <a:srgbClr val="0B2447"/>
                  </a:solidFill>
                  <a:latin typeface="Aptos Bold"/>
                  <a:ea typeface="Aptos Bold"/>
                  <a:cs typeface="Aptos Bold"/>
                  <a:sym typeface="Aptos Bold"/>
                </a:rPr>
                <a:t>THE END</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Mohamed Heriyanto Capstone Project Presentation Slides</dc:title>
  <cp:lastModifiedBy>Mohamed Heriyanto Bin Jamal Mohamed</cp:lastModifiedBy>
  <cp:revision>3</cp:revision>
  <dcterms:created xsi:type="dcterms:W3CDTF">2006-08-16T00:00:00Z</dcterms:created>
  <dcterms:modified xsi:type="dcterms:W3CDTF">2026-08-29T08:01:27Z</dcterms:modified>
  <dc:identifier>DAHRZrOACIo</dc:identifier>
</cp:coreProperties>
</file>